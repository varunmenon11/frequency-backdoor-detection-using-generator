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6" r:id="rId2"/>
    <p:sldId id="397" r:id="rId3"/>
    <p:sldId id="398" r:id="rId4"/>
    <p:sldId id="399" r:id="rId5"/>
    <p:sldId id="400" r:id="rId6"/>
    <p:sldId id="419" r:id="rId7"/>
    <p:sldId id="420" r:id="rId8"/>
    <p:sldId id="401" r:id="rId9"/>
    <p:sldId id="421" r:id="rId10"/>
    <p:sldId id="422" r:id="rId11"/>
    <p:sldId id="423" r:id="rId12"/>
    <p:sldId id="424" r:id="rId13"/>
    <p:sldId id="402" r:id="rId14"/>
    <p:sldId id="405" r:id="rId15"/>
    <p:sldId id="406" r:id="rId16"/>
    <p:sldId id="407" r:id="rId17"/>
    <p:sldId id="429" r:id="rId18"/>
    <p:sldId id="430" r:id="rId19"/>
    <p:sldId id="409" r:id="rId20"/>
    <p:sldId id="427" r:id="rId21"/>
    <p:sldId id="425" r:id="rId22"/>
    <p:sldId id="426" r:id="rId23"/>
    <p:sldId id="428" r:id="rId24"/>
    <p:sldId id="410" r:id="rId25"/>
    <p:sldId id="431" r:id="rId26"/>
    <p:sldId id="412" r:id="rId27"/>
    <p:sldId id="433" r:id="rId28"/>
    <p:sldId id="413" r:id="rId29"/>
    <p:sldId id="414" r:id="rId30"/>
    <p:sldId id="41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noEditPoints="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EF1D3EE-8C7C-412D-81A5-D4E3E6887916}" type="datetime1">
              <a:rPr lang="en-IN" smtClean="0"/>
              <a:t>10-10-2026</a:t>
            </a:fld>
            <a:endParaRPr lang="en-IN"/>
          </a:p>
        </p:txBody>
      </p:sp>
      <p:sp>
        <p:nvSpPr>
          <p:cNvPr id="4" name="Footer Placeholder 3"/>
          <p:cNvSpPr>
            <a:spLocks noGrp="1" noEditPoints="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Team G012</a:t>
            </a:r>
          </a:p>
        </p:txBody>
      </p:sp>
      <p:sp>
        <p:nvSpPr>
          <p:cNvPr id="5" name="Slide Number Placeholder 4"/>
          <p:cNvSpPr>
            <a:spLocks noGrp="1" noEditPoints="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4B4FDDE-647E-44DF-8749-3CBD56F44480}"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noEditPoints="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noEditPoints="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4C3795-8EA9-462F-8FFB-B3000D00495A}" type="datetime1">
              <a:rPr lang="en-IN" smtClean="0"/>
              <a:t>10-10-2026</a:t>
            </a:fld>
            <a:endParaRPr lang="en-IN"/>
          </a:p>
        </p:txBody>
      </p:sp>
      <p:sp>
        <p:nvSpPr>
          <p:cNvPr id="4" name="Slide Image Placeholder 3"/>
          <p:cNvSpPr>
            <a:spLocks noGrp="1" noRot="1" noChangeAspect="1" noEditPoints="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noEditPoints="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noEditPoints="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Team G012</a:t>
            </a:r>
          </a:p>
        </p:txBody>
      </p:sp>
      <p:sp>
        <p:nvSpPr>
          <p:cNvPr id="7" name="Slide Number Placeholder 6"/>
          <p:cNvSpPr>
            <a:spLocks noGrp="1" noEditPoints="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9306B3-53A4-4385-8833-0D66B505765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685800" y="1143000"/>
            <a:ext cx="5486400" cy="3086100"/>
          </a:xfrm>
          <a:prstGeom prst="rect">
            <a:avLst/>
          </a:prstGeom>
        </p:spPr>
        <p:txBody>
          <a:bodyPr/>
          <a:lstStyle/>
          <a:p>
            <a:endParaRPr/>
          </a:p>
        </p:txBody>
      </p:sp>
      <p:sp>
        <p:nvSpPr>
          <p:cNvPr id="3" name="Text Placeholder 2"/>
          <p:cNvSpPr>
            <a:spLocks noGrp="1" noEditPoints="1"/>
          </p:cNvSpPr>
          <p:nvPr>
            <p:ph type="body" idx="3"/>
          </p:nvPr>
        </p:nvSpPr>
        <p:spPr>
          <a:prstGeom prst="rect">
            <a:avLst/>
          </a:prstGeom>
        </p:spPr>
        <p:txBody>
          <a:bodyPr/>
          <a:lstStyle/>
          <a:p>
            <a:endParaRPr lang="en-US"/>
          </a:p>
        </p:txBody>
      </p:sp>
      <p:sp>
        <p:nvSpPr>
          <p:cNvPr id="4" name="Slide Number Placeholder 3"/>
          <p:cNvSpPr>
            <a:spLocks noGrp="1" noEditPoints="1"/>
          </p:cNvSpPr>
          <p:nvPr>
            <p:ph type="sldNum" sz="quarter" idx="5"/>
          </p:nvPr>
        </p:nvSpPr>
        <p:spPr>
          <a:prstGeom prst="rect">
            <a:avLst/>
          </a:prstGeom>
        </p:spPr>
        <p:txBody>
          <a:bodyPr/>
          <a:lstStyle/>
          <a:p>
            <a:fld id="{A3A94423-0FC9-4893-BF8B-2BD64DF39E4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6EC36-708C-17DE-E523-D2B63B25BF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26644-10D6-C9D7-F3FD-0CF03F671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B62047-122A-4357-D5B9-F474E0FC27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146501-5FBC-E325-84FA-DDB1B8FE0FC4}"/>
              </a:ext>
            </a:extLst>
          </p:cNvPr>
          <p:cNvSpPr>
            <a:spLocks noGrp="1"/>
          </p:cNvSpPr>
          <p:nvPr>
            <p:ph type="sldNum" sz="quarter" idx="5"/>
          </p:nvPr>
        </p:nvSpPr>
        <p:spPr/>
        <p:txBody>
          <a:bodyPr/>
          <a:lstStyle/>
          <a:p>
            <a:fld id="{769306B3-53A4-4385-8833-0D66B5057653}" type="slidenum">
              <a:rPr lang="en-IN" smtClean="0"/>
              <a:t>19</a:t>
            </a:fld>
            <a:endParaRPr lang="en-IN"/>
          </a:p>
        </p:txBody>
      </p:sp>
    </p:spTree>
    <p:extLst>
      <p:ext uri="{BB962C8B-B14F-4D97-AF65-F5344CB8AC3E}">
        <p14:creationId xmlns:p14="http://schemas.microsoft.com/office/powerpoint/2010/main" val="2300662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8D0F6-6861-122C-08F1-CF16FC4CA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FFE1F-5186-29C0-4E0E-19901AB113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9E2606-E568-BCA8-E4E0-9E91570B3C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F7F05A-3BC7-7080-FF4F-0053B87D623E}"/>
              </a:ext>
            </a:extLst>
          </p:cNvPr>
          <p:cNvSpPr>
            <a:spLocks noGrp="1"/>
          </p:cNvSpPr>
          <p:nvPr>
            <p:ph type="sldNum" sz="quarter" idx="5"/>
          </p:nvPr>
        </p:nvSpPr>
        <p:spPr/>
        <p:txBody>
          <a:bodyPr/>
          <a:lstStyle/>
          <a:p>
            <a:fld id="{769306B3-53A4-4385-8833-0D66B5057653}" type="slidenum">
              <a:rPr lang="en-IN" smtClean="0"/>
              <a:t>20</a:t>
            </a:fld>
            <a:endParaRPr lang="en-IN"/>
          </a:p>
        </p:txBody>
      </p:sp>
    </p:spTree>
    <p:extLst>
      <p:ext uri="{BB962C8B-B14F-4D97-AF65-F5344CB8AC3E}">
        <p14:creationId xmlns:p14="http://schemas.microsoft.com/office/powerpoint/2010/main" val="927390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7D25D-C69D-9BEA-EFFF-FF1826A93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788BE-54DC-FED8-D55F-F7CEB963FA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599C9-CD0E-C8DE-1262-41AACA7EEB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8E93DB-2167-3B4E-D3AD-DB1CC0219874}"/>
              </a:ext>
            </a:extLst>
          </p:cNvPr>
          <p:cNvSpPr>
            <a:spLocks noGrp="1"/>
          </p:cNvSpPr>
          <p:nvPr>
            <p:ph type="sldNum" sz="quarter" idx="5"/>
          </p:nvPr>
        </p:nvSpPr>
        <p:spPr/>
        <p:txBody>
          <a:bodyPr/>
          <a:lstStyle/>
          <a:p>
            <a:fld id="{769306B3-53A4-4385-8833-0D66B5057653}" type="slidenum">
              <a:rPr lang="en-IN" smtClean="0"/>
              <a:t>21</a:t>
            </a:fld>
            <a:endParaRPr lang="en-IN"/>
          </a:p>
        </p:txBody>
      </p:sp>
    </p:spTree>
    <p:extLst>
      <p:ext uri="{BB962C8B-B14F-4D97-AF65-F5344CB8AC3E}">
        <p14:creationId xmlns:p14="http://schemas.microsoft.com/office/powerpoint/2010/main" val="4216601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EE2FC-3083-5261-2DF1-B93C9864F9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F9C9DD-E28C-62AB-94D3-E35134CFF2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C2C5AC-A924-4119-E3AE-4DF64F73A5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506AAC-0AE6-0416-BB8D-EB54D0ED8026}"/>
              </a:ext>
            </a:extLst>
          </p:cNvPr>
          <p:cNvSpPr>
            <a:spLocks noGrp="1"/>
          </p:cNvSpPr>
          <p:nvPr>
            <p:ph type="sldNum" sz="quarter" idx="5"/>
          </p:nvPr>
        </p:nvSpPr>
        <p:spPr/>
        <p:txBody>
          <a:bodyPr/>
          <a:lstStyle/>
          <a:p>
            <a:fld id="{769306B3-53A4-4385-8833-0D66B5057653}" type="slidenum">
              <a:rPr lang="en-IN" smtClean="0"/>
              <a:t>22</a:t>
            </a:fld>
            <a:endParaRPr lang="en-IN"/>
          </a:p>
        </p:txBody>
      </p:sp>
    </p:spTree>
    <p:extLst>
      <p:ext uri="{BB962C8B-B14F-4D97-AF65-F5344CB8AC3E}">
        <p14:creationId xmlns:p14="http://schemas.microsoft.com/office/powerpoint/2010/main" val="241369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D05F8-0A3C-963D-E4BF-56F491E2E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5CA740-1D35-871F-1BF9-44B0AA785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609CC3-91D2-0A90-BB37-F809F53CE1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36E0AC-3DD3-F82D-ECDA-A7563839AEA1}"/>
              </a:ext>
            </a:extLst>
          </p:cNvPr>
          <p:cNvSpPr>
            <a:spLocks noGrp="1"/>
          </p:cNvSpPr>
          <p:nvPr>
            <p:ph type="sldNum" sz="quarter" idx="5"/>
          </p:nvPr>
        </p:nvSpPr>
        <p:spPr/>
        <p:txBody>
          <a:bodyPr/>
          <a:lstStyle/>
          <a:p>
            <a:fld id="{769306B3-53A4-4385-8833-0D66B5057653}" type="slidenum">
              <a:rPr lang="en-IN" smtClean="0"/>
              <a:t>23</a:t>
            </a:fld>
            <a:endParaRPr lang="en-IN"/>
          </a:p>
        </p:txBody>
      </p:sp>
    </p:spTree>
    <p:extLst>
      <p:ext uri="{BB962C8B-B14F-4D97-AF65-F5344CB8AC3E}">
        <p14:creationId xmlns:p14="http://schemas.microsoft.com/office/powerpoint/2010/main" val="3192852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F5AF7-6A1F-76EC-C932-5BC5C232E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334FDE-DDE5-52A5-5184-FA42878D9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A1EA50-43BF-48E5-2C19-DF52AB474E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774F37-D898-85BD-5041-4C219039FEBA}"/>
              </a:ext>
            </a:extLst>
          </p:cNvPr>
          <p:cNvSpPr>
            <a:spLocks noGrp="1"/>
          </p:cNvSpPr>
          <p:nvPr>
            <p:ph type="sldNum" sz="quarter" idx="5"/>
          </p:nvPr>
        </p:nvSpPr>
        <p:spPr/>
        <p:txBody>
          <a:bodyPr/>
          <a:lstStyle/>
          <a:p>
            <a:fld id="{769306B3-53A4-4385-8833-0D66B5057653}" type="slidenum">
              <a:rPr lang="en-IN" smtClean="0"/>
              <a:t>24</a:t>
            </a:fld>
            <a:endParaRPr lang="en-IN"/>
          </a:p>
        </p:txBody>
      </p:sp>
    </p:spTree>
    <p:extLst>
      <p:ext uri="{BB962C8B-B14F-4D97-AF65-F5344CB8AC3E}">
        <p14:creationId xmlns:p14="http://schemas.microsoft.com/office/powerpoint/2010/main" val="9298696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B56BC-3100-CCCB-721B-109A3EB51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75D47-DB8F-1F72-80AA-1A1E297A2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6882D-2430-2922-A462-4E71D044AF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7E8242-DD11-7C60-11A3-7DDF8D5388EC}"/>
              </a:ext>
            </a:extLst>
          </p:cNvPr>
          <p:cNvSpPr>
            <a:spLocks noGrp="1"/>
          </p:cNvSpPr>
          <p:nvPr>
            <p:ph type="sldNum" sz="quarter" idx="5"/>
          </p:nvPr>
        </p:nvSpPr>
        <p:spPr/>
        <p:txBody>
          <a:bodyPr/>
          <a:lstStyle/>
          <a:p>
            <a:fld id="{769306B3-53A4-4385-8833-0D66B5057653}" type="slidenum">
              <a:rPr lang="en-IN" smtClean="0"/>
              <a:t>26</a:t>
            </a:fld>
            <a:endParaRPr lang="en-IN"/>
          </a:p>
        </p:txBody>
      </p:sp>
    </p:spTree>
    <p:extLst>
      <p:ext uri="{BB962C8B-B14F-4D97-AF65-F5344CB8AC3E}">
        <p14:creationId xmlns:p14="http://schemas.microsoft.com/office/powerpoint/2010/main" val="667424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848C7-5961-C06B-1C25-C6DAB8677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826E2D-8406-14C6-96D4-6F16DEB30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929D3B-FDA4-FB6C-6960-120B304EC5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CB0E60-05C5-1EA6-7BBE-4139CD379A7D}"/>
              </a:ext>
            </a:extLst>
          </p:cNvPr>
          <p:cNvSpPr>
            <a:spLocks noGrp="1"/>
          </p:cNvSpPr>
          <p:nvPr>
            <p:ph type="sldNum" sz="quarter" idx="5"/>
          </p:nvPr>
        </p:nvSpPr>
        <p:spPr/>
        <p:txBody>
          <a:bodyPr/>
          <a:lstStyle/>
          <a:p>
            <a:fld id="{769306B3-53A4-4385-8833-0D66B5057653}" type="slidenum">
              <a:rPr lang="en-IN" smtClean="0"/>
              <a:t>27</a:t>
            </a:fld>
            <a:endParaRPr lang="en-IN"/>
          </a:p>
        </p:txBody>
      </p:sp>
    </p:spTree>
    <p:extLst>
      <p:ext uri="{BB962C8B-B14F-4D97-AF65-F5344CB8AC3E}">
        <p14:creationId xmlns:p14="http://schemas.microsoft.com/office/powerpoint/2010/main" val="2024440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DF1A2-6A30-3E5F-EB51-5A9C962247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F2436-ADEA-8F02-3282-BC655DA9DE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36E8FC-722B-6D11-E272-7565AE23F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B1216A-A6E2-81AD-720C-F90982AA9419}"/>
              </a:ext>
            </a:extLst>
          </p:cNvPr>
          <p:cNvSpPr>
            <a:spLocks noGrp="1"/>
          </p:cNvSpPr>
          <p:nvPr>
            <p:ph type="sldNum" sz="quarter" idx="5"/>
          </p:nvPr>
        </p:nvSpPr>
        <p:spPr/>
        <p:txBody>
          <a:bodyPr/>
          <a:lstStyle/>
          <a:p>
            <a:fld id="{769306B3-53A4-4385-8833-0D66B5057653}" type="slidenum">
              <a:rPr lang="en-IN" smtClean="0"/>
              <a:t>28</a:t>
            </a:fld>
            <a:endParaRPr lang="en-IN"/>
          </a:p>
        </p:txBody>
      </p:sp>
    </p:spTree>
    <p:extLst>
      <p:ext uri="{BB962C8B-B14F-4D97-AF65-F5344CB8AC3E}">
        <p14:creationId xmlns:p14="http://schemas.microsoft.com/office/powerpoint/2010/main" val="21467559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EC763-C72F-5F7B-719F-6E377C6AD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C29A7-815E-02B3-4B58-8E3163ED8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B0A2B-D421-2BFD-6135-438E740ED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BC681D-1E8B-B7BA-DE48-D980BBC85F74}"/>
              </a:ext>
            </a:extLst>
          </p:cNvPr>
          <p:cNvSpPr>
            <a:spLocks noGrp="1"/>
          </p:cNvSpPr>
          <p:nvPr>
            <p:ph type="sldNum" sz="quarter" idx="5"/>
          </p:nvPr>
        </p:nvSpPr>
        <p:spPr/>
        <p:txBody>
          <a:bodyPr/>
          <a:lstStyle/>
          <a:p>
            <a:fld id="{769306B3-53A4-4385-8833-0D66B5057653}" type="slidenum">
              <a:rPr lang="en-IN" smtClean="0"/>
              <a:t>29</a:t>
            </a:fld>
            <a:endParaRPr lang="en-IN"/>
          </a:p>
        </p:txBody>
      </p:sp>
    </p:spTree>
    <p:extLst>
      <p:ext uri="{BB962C8B-B14F-4D97-AF65-F5344CB8AC3E}">
        <p14:creationId xmlns:p14="http://schemas.microsoft.com/office/powerpoint/2010/main" val="2182722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673DB-4A92-A326-189E-7EC491890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F44871-0CF9-9BA4-8E03-0549E810F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C57665-C662-E834-C137-C0F2017EE5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8A6269-2646-5BE1-2858-21D4841BAF01}"/>
              </a:ext>
            </a:extLst>
          </p:cNvPr>
          <p:cNvSpPr>
            <a:spLocks noGrp="1"/>
          </p:cNvSpPr>
          <p:nvPr>
            <p:ph type="sldNum" sz="quarter" idx="5"/>
          </p:nvPr>
        </p:nvSpPr>
        <p:spPr/>
        <p:txBody>
          <a:bodyPr/>
          <a:lstStyle/>
          <a:p>
            <a:fld id="{769306B3-53A4-4385-8833-0D66B5057653}" type="slidenum">
              <a:rPr lang="en-IN" smtClean="0"/>
              <a:t>30</a:t>
            </a:fld>
            <a:endParaRPr lang="en-IN"/>
          </a:p>
        </p:txBody>
      </p:sp>
    </p:spTree>
    <p:extLst>
      <p:ext uri="{BB962C8B-B14F-4D97-AF65-F5344CB8AC3E}">
        <p14:creationId xmlns:p14="http://schemas.microsoft.com/office/powerpoint/2010/main" val="2011530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1524000" y="1122363"/>
            <a:ext cx="9144000" cy="2387600"/>
          </a:xfrm>
        </p:spPr>
        <p:txBody>
          <a:bodyPr anchor="b"/>
          <a:lstStyle>
            <a:lvl1pPr algn="ctr">
              <a:defRPr sz="6000"/>
            </a:lvl1pPr>
          </a:lstStyle>
          <a:p>
            <a:pPr marL="152400" marR="56515" indent="-6350" algn="ctr">
              <a:lnSpc>
                <a:spcPct val="107000"/>
              </a:lnSpc>
              <a:spcAft>
                <a:spcPts val="1475"/>
              </a:spcAft>
            </a:pPr>
            <a:endParaRPr lang="en-IN" sz="1800" kern="100">
              <a:solidFill>
                <a:srgbClr val="000000"/>
              </a:solidFill>
              <a:effectLst/>
              <a:latin typeface="Times New Roman" panose="02020603050405020304" pitchFamily="18" charset="0"/>
              <a:ea typeface="Times New Roman" panose="02020603050405020304" pitchFamily="18" charset="0"/>
            </a:endParaRPr>
          </a:p>
        </p:txBody>
      </p:sp>
      <p:sp>
        <p:nvSpPr>
          <p:cNvPr id="3" name="Subtitle 2"/>
          <p:cNvSpPr>
            <a:spLocks noGrp="1" noEditPoints="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IN"/>
          </a:p>
        </p:txBody>
      </p:sp>
      <p:sp>
        <p:nvSpPr>
          <p:cNvPr id="4" name="Date Placeholder 3"/>
          <p:cNvSpPr>
            <a:spLocks noGrp="1" noEditPoints="1"/>
          </p:cNvSpPr>
          <p:nvPr>
            <p:ph type="dt" sz="half" idx="10"/>
          </p:nvPr>
        </p:nvSpPr>
        <p:spPr/>
        <p:txBody>
          <a:bodyPr/>
          <a:lstStyle/>
          <a:p>
            <a:fld id="{7E67CB6C-43E3-422B-BCAF-D739486A2DB1}" type="datetime1">
              <a:rPr lang="en-IN" smtClean="0"/>
              <a:t>10-10-2026</a:t>
            </a:fld>
            <a:endParaRPr lang="en-IN"/>
          </a:p>
        </p:txBody>
      </p:sp>
      <p:sp>
        <p:nvSpPr>
          <p:cNvPr id="5" name="Footer Placeholder 4"/>
          <p:cNvSpPr>
            <a:spLocks noGrp="1" noEditPoints="1"/>
          </p:cNvSpPr>
          <p:nvPr>
            <p:ph type="ftr" sz="quarter" idx="11"/>
          </p:nvPr>
        </p:nvSpPr>
        <p:spPr/>
        <p:txBody>
          <a:bodyPr/>
          <a:lstStyle/>
          <a:p>
            <a:r>
              <a:rPr lang="en-IN"/>
              <a:t>Amrita School of Computing</a:t>
            </a:r>
          </a:p>
        </p:txBody>
      </p:sp>
      <p:sp>
        <p:nvSpPr>
          <p:cNvPr id="6" name="Slide Number Placeholder 5"/>
          <p:cNvSpPr>
            <a:spLocks noGrp="1" noEditPoints="1"/>
          </p:cNvSpPr>
          <p:nvPr>
            <p:ph type="sldNum" sz="quarter" idx="12"/>
          </p:nvPr>
        </p:nvSpPr>
        <p:spPr/>
        <p:txBody>
          <a:bodyPr/>
          <a:lstStyle/>
          <a:p>
            <a:fld id="{12EC02DA-033E-4E45-979C-FC77C52540B5}" type="slidenum">
              <a:rPr lang="en-IN" smtClean="0"/>
              <a:t>‹#›</a:t>
            </a:fld>
            <a:endParaRPr lang="en-IN"/>
          </a:p>
        </p:txBody>
      </p:sp>
      <p:sp>
        <p:nvSpPr>
          <p:cNvPr id="8" name="Rectangle: Rounded Corners 7">
            <a:extLst>
              <a:ext uri="{FF2B5EF4-FFF2-40B4-BE49-F238E27FC236}">
                <a16:creationId xmlns:a16="http://schemas.microsoft.com/office/drawing/2014/main" id="{7ED75320-E363-07F6-1B81-4820F6EBC6FF}"/>
              </a:ext>
            </a:extLst>
          </p:cNvPr>
          <p:cNvSpPr/>
          <p:nvPr userDrawn="1"/>
        </p:nvSpPr>
        <p:spPr>
          <a:xfrm>
            <a:off x="555812" y="726142"/>
            <a:ext cx="11214847" cy="5710518"/>
          </a:xfrm>
          <a:prstGeom prst="roundRect">
            <a:avLst/>
          </a:prstGeom>
          <a:noFill/>
          <a:ln w="38100">
            <a:solidFill>
              <a:schemeClr val="tx2">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pic>
        <p:nvPicPr>
          <p:cNvPr id="10" name="Picture 2" descr="Amrita Vishwa Vidyapeetham, Coimbatore: Courses, Fees ...">
            <a:extLst>
              <a:ext uri="{FF2B5EF4-FFF2-40B4-BE49-F238E27FC236}">
                <a16:creationId xmlns:a16="http://schemas.microsoft.com/office/drawing/2014/main" id="{B6D01B2C-0129-31C5-FC22-5FCE53DE2DFB}"/>
              </a:ext>
            </a:extLst>
          </p:cNvPr>
          <p:cNvPicPr>
            <a:picLocks noChangeAspect="1" noChangeArrowheads="1"/>
          </p:cNvPicPr>
          <p:nvPr userDrawn="1"/>
        </p:nvPicPr>
        <p:blipFill>
          <a:blip r:embed="rId2"/>
          <a:srcRect/>
          <a:stretch>
            <a:fillRect/>
          </a:stretch>
        </p:blipFill>
        <p:spPr bwMode="auto">
          <a:xfrm>
            <a:off x="120875" y="90815"/>
            <a:ext cx="717325" cy="701023"/>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900544" y="472211"/>
            <a:ext cx="10619509" cy="770151"/>
          </a:xfrm>
        </p:spPr>
        <p:txBody>
          <a:bodyPr/>
          <a:lstStyle>
            <a:lvl1pPr>
              <a:defRPr>
                <a:latin typeface="+mn-lt"/>
              </a:defRPr>
            </a:lvl1pPr>
          </a:lstStyle>
          <a:p>
            <a:r>
              <a:rPr lang="en-US" dirty="0"/>
              <a:t>Click to edit Master title style</a:t>
            </a:r>
            <a:endParaRPr lang="en-IN" dirty="0"/>
          </a:p>
        </p:txBody>
      </p:sp>
      <p:sp>
        <p:nvSpPr>
          <p:cNvPr id="3" name="Content Placeholder 2"/>
          <p:cNvSpPr>
            <a:spLocks noGrp="1" noEditPoints="1"/>
          </p:cNvSpPr>
          <p:nvPr>
            <p:ph idx="1"/>
          </p:nvPr>
        </p:nvSpPr>
        <p:spPr>
          <a:xfrm>
            <a:off x="900545" y="1349447"/>
            <a:ext cx="10619509" cy="4929257"/>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noEditPoints="1"/>
          </p:cNvSpPr>
          <p:nvPr>
            <p:ph type="dt" sz="half" idx="10"/>
          </p:nvPr>
        </p:nvSpPr>
        <p:spPr/>
        <p:txBody>
          <a:bodyPr/>
          <a:lstStyle>
            <a:lvl1pPr>
              <a:defRPr>
                <a:solidFill>
                  <a:srgbClr val="C00000"/>
                </a:solidFill>
              </a:defRPr>
            </a:lvl1pPr>
          </a:lstStyle>
          <a:p>
            <a:fld id="{DC9F7C42-E17F-49EA-B3CD-B4C3CDBA196D}" type="datetime1">
              <a:rPr lang="en-IN" smtClean="0"/>
              <a:pPr/>
              <a:t>10-10-2026</a:t>
            </a:fld>
            <a:endParaRPr lang="en-IN" dirty="0">
              <a:solidFill>
                <a:srgbClr val="C00000"/>
              </a:solidFill>
            </a:endParaRPr>
          </a:p>
        </p:txBody>
      </p:sp>
      <p:sp>
        <p:nvSpPr>
          <p:cNvPr id="5" name="Footer Placeholder 4"/>
          <p:cNvSpPr>
            <a:spLocks noGrp="1" noEditPoints="1"/>
          </p:cNvSpPr>
          <p:nvPr>
            <p:ph type="ftr" sz="quarter" idx="11"/>
          </p:nvPr>
        </p:nvSpPr>
        <p:spPr>
          <a:xfrm>
            <a:off x="4038600" y="6397915"/>
            <a:ext cx="4114800" cy="365125"/>
          </a:xfrm>
        </p:spPr>
        <p:txBody>
          <a:bodyPr/>
          <a:lstStyle>
            <a:lvl1pPr>
              <a:defRPr sz="1600">
                <a:solidFill>
                  <a:srgbClr val="C00000"/>
                </a:solidFill>
              </a:defRPr>
            </a:lvl1pPr>
          </a:lstStyle>
          <a:p>
            <a:r>
              <a:rPr lang="en-IN"/>
              <a:t>Amrita School of Computing</a:t>
            </a:r>
            <a:endParaRPr lang="en-IN" dirty="0"/>
          </a:p>
        </p:txBody>
      </p:sp>
      <p:sp>
        <p:nvSpPr>
          <p:cNvPr id="6" name="Slide Number Placeholder 5"/>
          <p:cNvSpPr>
            <a:spLocks noGrp="1" noEditPoints="1"/>
          </p:cNvSpPr>
          <p:nvPr>
            <p:ph type="sldNum" sz="quarter" idx="12"/>
          </p:nvPr>
        </p:nvSpPr>
        <p:spPr/>
        <p:txBody>
          <a:bodyPr/>
          <a:lstStyle/>
          <a:p>
            <a:fld id="{12EC02DA-033E-4E45-979C-FC77C52540B5}" type="slidenum">
              <a:rPr lang="en-IN" smtClean="0"/>
              <a:t>‹#›</a:t>
            </a:fld>
            <a:endParaRPr lang="en-IN"/>
          </a:p>
        </p:txBody>
      </p:sp>
      <p:sp>
        <p:nvSpPr>
          <p:cNvPr id="8" name="Rectangle: Rounded Corners 7">
            <a:extLst>
              <a:ext uri="{FF2B5EF4-FFF2-40B4-BE49-F238E27FC236}">
                <a16:creationId xmlns:a16="http://schemas.microsoft.com/office/drawing/2014/main" id="{36135EB1-7067-2CB6-47D6-8AAF76F95DE0}"/>
              </a:ext>
            </a:extLst>
          </p:cNvPr>
          <p:cNvSpPr/>
          <p:nvPr userDrawn="1"/>
        </p:nvSpPr>
        <p:spPr>
          <a:xfrm>
            <a:off x="555812" y="365125"/>
            <a:ext cx="11214847" cy="6071535"/>
          </a:xfrm>
          <a:prstGeom prst="roundRect">
            <a:avLst/>
          </a:prstGeom>
          <a:noFill/>
          <a:ln w="38100">
            <a:solidFill>
              <a:schemeClr val="tx2">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pic>
        <p:nvPicPr>
          <p:cNvPr id="10" name="Picture 2" descr="Amrita Vishwa Vidyapeetham, Coimbatore: Courses, Fees ...">
            <a:extLst>
              <a:ext uri="{FF2B5EF4-FFF2-40B4-BE49-F238E27FC236}">
                <a16:creationId xmlns:a16="http://schemas.microsoft.com/office/drawing/2014/main" id="{7DEBD2AF-BDD0-624E-DB8F-5E33ABE42E0F}"/>
              </a:ext>
            </a:extLst>
          </p:cNvPr>
          <p:cNvPicPr>
            <a:picLocks noChangeAspect="1" noChangeArrowheads="1"/>
          </p:cNvPicPr>
          <p:nvPr userDrawn="1"/>
        </p:nvPicPr>
        <p:blipFill>
          <a:blip r:embed="rId2"/>
          <a:srcRect/>
          <a:stretch>
            <a:fillRect/>
          </a:stretch>
        </p:blipFill>
        <p:spPr bwMode="auto">
          <a:xfrm>
            <a:off x="120875" y="2317"/>
            <a:ext cx="717325" cy="701023"/>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noEditPoints="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noEditPoints="1"/>
          </p:cNvSpPr>
          <p:nvPr>
            <p:ph type="dt" sz="half" idx="10"/>
          </p:nvPr>
        </p:nvSpPr>
        <p:spPr/>
        <p:txBody>
          <a:bodyPr/>
          <a:lstStyle/>
          <a:p>
            <a:fld id="{BD8D6533-0A49-40D3-97C1-ED0AEBD15CE8}" type="datetime1">
              <a:rPr lang="en-IN" smtClean="0"/>
              <a:t>10-10-2026</a:t>
            </a:fld>
            <a:endParaRPr lang="en-IN"/>
          </a:p>
        </p:txBody>
      </p:sp>
      <p:sp>
        <p:nvSpPr>
          <p:cNvPr id="5" name="Footer Placeholder 4"/>
          <p:cNvSpPr>
            <a:spLocks noGrp="1" noEditPoints="1"/>
          </p:cNvSpPr>
          <p:nvPr>
            <p:ph type="ftr" sz="quarter" idx="11"/>
          </p:nvPr>
        </p:nvSpPr>
        <p:spPr/>
        <p:txBody>
          <a:bodyPr/>
          <a:lstStyle/>
          <a:p>
            <a:r>
              <a:rPr lang="en-IN"/>
              <a:t>Amrita School of Computing</a:t>
            </a:r>
          </a:p>
        </p:txBody>
      </p:sp>
      <p:sp>
        <p:nvSpPr>
          <p:cNvPr id="6" name="Slide Number Placeholder 5"/>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IN"/>
          </a:p>
        </p:txBody>
      </p:sp>
      <p:sp>
        <p:nvSpPr>
          <p:cNvPr id="3" name="Content Placeholder 2"/>
          <p:cNvSpPr>
            <a:spLocks noGrp="1" noEditPoints="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noEditPoints="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noEditPoints="1"/>
          </p:cNvSpPr>
          <p:nvPr>
            <p:ph type="dt" sz="half" idx="10"/>
          </p:nvPr>
        </p:nvSpPr>
        <p:spPr/>
        <p:txBody>
          <a:bodyPr/>
          <a:lstStyle/>
          <a:p>
            <a:fld id="{52D45F26-CD3D-4CB7-A08C-F64529BECC6D}" type="datetime1">
              <a:rPr lang="en-IN" smtClean="0"/>
              <a:t>10-10-2026</a:t>
            </a:fld>
            <a:endParaRPr lang="en-IN"/>
          </a:p>
        </p:txBody>
      </p:sp>
      <p:sp>
        <p:nvSpPr>
          <p:cNvPr id="6" name="Footer Placeholder 5"/>
          <p:cNvSpPr>
            <a:spLocks noGrp="1" noEditPoints="1"/>
          </p:cNvSpPr>
          <p:nvPr>
            <p:ph type="ftr" sz="quarter" idx="11"/>
          </p:nvPr>
        </p:nvSpPr>
        <p:spPr/>
        <p:txBody>
          <a:bodyPr/>
          <a:lstStyle/>
          <a:p>
            <a:r>
              <a:rPr lang="en-IN"/>
              <a:t>Amrita School of Computing</a:t>
            </a:r>
          </a:p>
        </p:txBody>
      </p:sp>
      <p:sp>
        <p:nvSpPr>
          <p:cNvPr id="7" name="Slide Number Placeholder 6"/>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noEditPoints="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noEditPoints="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noEditPoints="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noEditPoints="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noEditPoints="1"/>
          </p:cNvSpPr>
          <p:nvPr>
            <p:ph type="dt" sz="half" idx="10"/>
          </p:nvPr>
        </p:nvSpPr>
        <p:spPr/>
        <p:txBody>
          <a:bodyPr/>
          <a:lstStyle/>
          <a:p>
            <a:fld id="{BF04CA1D-E45F-4ABA-93FD-F13C351FEA3B}" type="datetime1">
              <a:rPr lang="en-IN" smtClean="0"/>
              <a:t>10-10-2026</a:t>
            </a:fld>
            <a:endParaRPr lang="en-IN"/>
          </a:p>
        </p:txBody>
      </p:sp>
      <p:sp>
        <p:nvSpPr>
          <p:cNvPr id="8" name="Footer Placeholder 7"/>
          <p:cNvSpPr>
            <a:spLocks noGrp="1" noEditPoints="1"/>
          </p:cNvSpPr>
          <p:nvPr>
            <p:ph type="ftr" sz="quarter" idx="11"/>
          </p:nvPr>
        </p:nvSpPr>
        <p:spPr/>
        <p:txBody>
          <a:bodyPr/>
          <a:lstStyle/>
          <a:p>
            <a:r>
              <a:rPr lang="en-IN"/>
              <a:t>Amrita School of Computing</a:t>
            </a:r>
          </a:p>
        </p:txBody>
      </p:sp>
      <p:sp>
        <p:nvSpPr>
          <p:cNvPr id="9" name="Slide Number Placeholder 8"/>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IN"/>
          </a:p>
        </p:txBody>
      </p:sp>
      <p:sp>
        <p:nvSpPr>
          <p:cNvPr id="3" name="Date Placeholder 2"/>
          <p:cNvSpPr>
            <a:spLocks noGrp="1" noEditPoints="1"/>
          </p:cNvSpPr>
          <p:nvPr>
            <p:ph type="dt" sz="half" idx="10"/>
          </p:nvPr>
        </p:nvSpPr>
        <p:spPr/>
        <p:txBody>
          <a:bodyPr/>
          <a:lstStyle/>
          <a:p>
            <a:fld id="{053A1BFF-65AB-4F45-8E0C-54370E4A7052}" type="datetime1">
              <a:rPr lang="en-IN" smtClean="0"/>
              <a:t>10-10-2026</a:t>
            </a:fld>
            <a:endParaRPr lang="en-IN"/>
          </a:p>
        </p:txBody>
      </p:sp>
      <p:sp>
        <p:nvSpPr>
          <p:cNvPr id="4" name="Footer Placeholder 3"/>
          <p:cNvSpPr>
            <a:spLocks noGrp="1" noEditPoints="1"/>
          </p:cNvSpPr>
          <p:nvPr>
            <p:ph type="ftr" sz="quarter" idx="11"/>
          </p:nvPr>
        </p:nvSpPr>
        <p:spPr/>
        <p:txBody>
          <a:bodyPr/>
          <a:lstStyle/>
          <a:p>
            <a:r>
              <a:rPr lang="en-IN"/>
              <a:t>Amrita School of Computing</a:t>
            </a:r>
          </a:p>
        </p:txBody>
      </p:sp>
      <p:sp>
        <p:nvSpPr>
          <p:cNvPr id="5" name="Slide Number Placeholder 4"/>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EditPoints="1"/>
          </p:cNvSpPr>
          <p:nvPr>
            <p:ph type="dt" sz="half" idx="10"/>
          </p:nvPr>
        </p:nvSpPr>
        <p:spPr/>
        <p:txBody>
          <a:bodyPr/>
          <a:lstStyle/>
          <a:p>
            <a:fld id="{D35547D9-2B83-49F7-A627-9071E2479DD9}" type="datetime1">
              <a:rPr lang="en-IN" smtClean="0"/>
              <a:t>10-10-2026</a:t>
            </a:fld>
            <a:endParaRPr lang="en-IN"/>
          </a:p>
        </p:txBody>
      </p:sp>
      <p:sp>
        <p:nvSpPr>
          <p:cNvPr id="3" name="Footer Placeholder 2"/>
          <p:cNvSpPr>
            <a:spLocks noGrp="1" noEditPoints="1"/>
          </p:cNvSpPr>
          <p:nvPr>
            <p:ph type="ftr" sz="quarter" idx="11"/>
          </p:nvPr>
        </p:nvSpPr>
        <p:spPr/>
        <p:txBody>
          <a:bodyPr/>
          <a:lstStyle/>
          <a:p>
            <a:r>
              <a:rPr lang="en-IN"/>
              <a:t>Amrita School of Computing</a:t>
            </a:r>
          </a:p>
        </p:txBody>
      </p:sp>
      <p:sp>
        <p:nvSpPr>
          <p:cNvPr id="4" name="Slide Number Placeholder 3"/>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noEditPoints="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45C19302-C6C3-45A3-ACFC-1EEFD9FDC8BA}" type="datetime1">
              <a:rPr lang="en-IN" smtClean="0"/>
              <a:t>10-10-2026</a:t>
            </a:fld>
            <a:endParaRPr lang="en-IN"/>
          </a:p>
        </p:txBody>
      </p:sp>
      <p:sp>
        <p:nvSpPr>
          <p:cNvPr id="6" name="Footer Placeholder 5"/>
          <p:cNvSpPr>
            <a:spLocks noGrp="1" noEditPoints="1"/>
          </p:cNvSpPr>
          <p:nvPr>
            <p:ph type="ftr" sz="quarter" idx="11"/>
          </p:nvPr>
        </p:nvSpPr>
        <p:spPr/>
        <p:txBody>
          <a:bodyPr/>
          <a:lstStyle/>
          <a:p>
            <a:r>
              <a:rPr lang="en-IN"/>
              <a:t>Amrita School of Computing</a:t>
            </a:r>
          </a:p>
        </p:txBody>
      </p:sp>
      <p:sp>
        <p:nvSpPr>
          <p:cNvPr id="7" name="Slide Number Placeholder 6"/>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EditPoints="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noEditPoints="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a:p>
        </p:txBody>
      </p:sp>
      <p:sp>
        <p:nvSpPr>
          <p:cNvPr id="4" name="Text Placeholder 3"/>
          <p:cNvSpPr>
            <a:spLocks noGrp="1" noEditPoints="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noEditPoints="1"/>
          </p:cNvSpPr>
          <p:nvPr>
            <p:ph type="dt" sz="half" idx="10"/>
          </p:nvPr>
        </p:nvSpPr>
        <p:spPr/>
        <p:txBody>
          <a:bodyPr/>
          <a:lstStyle/>
          <a:p>
            <a:fld id="{F1D70A46-EA38-482D-AA70-02093390002D}" type="datetime1">
              <a:rPr lang="en-IN" smtClean="0"/>
              <a:t>10-10-2026</a:t>
            </a:fld>
            <a:endParaRPr lang="en-IN"/>
          </a:p>
        </p:txBody>
      </p:sp>
      <p:sp>
        <p:nvSpPr>
          <p:cNvPr id="6" name="Footer Placeholder 5"/>
          <p:cNvSpPr>
            <a:spLocks noGrp="1" noEditPoints="1"/>
          </p:cNvSpPr>
          <p:nvPr>
            <p:ph type="ftr" sz="quarter" idx="11"/>
          </p:nvPr>
        </p:nvSpPr>
        <p:spPr/>
        <p:txBody>
          <a:bodyPr/>
          <a:lstStyle/>
          <a:p>
            <a:r>
              <a:rPr lang="en-IN"/>
              <a:t>Amrita School of Computing</a:t>
            </a:r>
          </a:p>
        </p:txBody>
      </p:sp>
      <p:sp>
        <p:nvSpPr>
          <p:cNvPr id="7" name="Slide Number Placeholder 6"/>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EditPoints="1"/>
          </p:cNvSpPr>
          <p:nvPr>
            <p:ph type="title"/>
          </p:nvPr>
        </p:nvSpPr>
        <p:spPr/>
        <p:txBody>
          <a:bodyPr/>
          <a:lstStyle/>
          <a:p>
            <a:r>
              <a:rPr lang="en-US"/>
              <a:t>Click to edit Master title style</a:t>
            </a:r>
            <a:endParaRPr lang="en-IN"/>
          </a:p>
        </p:txBody>
      </p:sp>
      <p:sp>
        <p:nvSpPr>
          <p:cNvPr id="3" name="Vertical Text Placeholder 2"/>
          <p:cNvSpPr>
            <a:spLocks noGrp="1" noEditPoints="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EditPoints="1"/>
          </p:cNvSpPr>
          <p:nvPr>
            <p:ph type="dt" sz="half" idx="10"/>
          </p:nvPr>
        </p:nvSpPr>
        <p:spPr/>
        <p:txBody>
          <a:bodyPr/>
          <a:lstStyle/>
          <a:p>
            <a:fld id="{8C4E829C-9FBA-4B7D-8073-2DB5808857C5}" type="datetime1">
              <a:rPr lang="en-IN" smtClean="0"/>
              <a:t>10-10-2026</a:t>
            </a:fld>
            <a:endParaRPr lang="en-IN"/>
          </a:p>
        </p:txBody>
      </p:sp>
      <p:sp>
        <p:nvSpPr>
          <p:cNvPr id="5" name="Footer Placeholder 4"/>
          <p:cNvSpPr>
            <a:spLocks noGrp="1" noEditPoints="1"/>
          </p:cNvSpPr>
          <p:nvPr>
            <p:ph type="ftr" sz="quarter" idx="11"/>
          </p:nvPr>
        </p:nvSpPr>
        <p:spPr/>
        <p:txBody>
          <a:bodyPr/>
          <a:lstStyle/>
          <a:p>
            <a:r>
              <a:rPr lang="en-IN"/>
              <a:t>Amrita School of Computing</a:t>
            </a:r>
          </a:p>
        </p:txBody>
      </p:sp>
      <p:sp>
        <p:nvSpPr>
          <p:cNvPr id="6" name="Slide Number Placeholder 5"/>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EditPoints="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noEditPoints="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EditPoints="1"/>
          </p:cNvSpPr>
          <p:nvPr>
            <p:ph type="dt" sz="half" idx="10"/>
          </p:nvPr>
        </p:nvSpPr>
        <p:spPr/>
        <p:txBody>
          <a:bodyPr/>
          <a:lstStyle/>
          <a:p>
            <a:fld id="{3A9D5A66-3627-4B8C-86F4-A8204BEC60EE}" type="datetime1">
              <a:rPr lang="en-IN" smtClean="0"/>
              <a:t>10-10-2026</a:t>
            </a:fld>
            <a:endParaRPr lang="en-IN"/>
          </a:p>
        </p:txBody>
      </p:sp>
      <p:sp>
        <p:nvSpPr>
          <p:cNvPr id="5" name="Footer Placeholder 4"/>
          <p:cNvSpPr>
            <a:spLocks noGrp="1" noEditPoints="1"/>
          </p:cNvSpPr>
          <p:nvPr>
            <p:ph type="ftr" sz="quarter" idx="11"/>
          </p:nvPr>
        </p:nvSpPr>
        <p:spPr/>
        <p:txBody>
          <a:bodyPr/>
          <a:lstStyle/>
          <a:p>
            <a:r>
              <a:rPr lang="en-IN"/>
              <a:t>Amrita School of Computing</a:t>
            </a:r>
          </a:p>
        </p:txBody>
      </p:sp>
      <p:sp>
        <p:nvSpPr>
          <p:cNvPr id="6" name="Slide Number Placeholder 5"/>
          <p:cNvSpPr>
            <a:spLocks noGrp="1" noEditPoints="1"/>
          </p:cNvSpPr>
          <p:nvPr>
            <p:ph type="sldNum" sz="quarter" idx="12"/>
          </p:nvPr>
        </p:nvSpPr>
        <p:spPr/>
        <p:txBody>
          <a:bodyPr/>
          <a:lstStyle/>
          <a:p>
            <a:fld id="{12EC02DA-033E-4E45-979C-FC77C52540B5}"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noEditPoints="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noEditPoints="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noEditPoints="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A45BA6-7B72-4FA1-8B79-6A535DA9EEB8}" type="datetime1">
              <a:rPr lang="en-IN" smtClean="0"/>
              <a:t>10-10-2026</a:t>
            </a:fld>
            <a:endParaRPr lang="en-IN"/>
          </a:p>
        </p:txBody>
      </p:sp>
      <p:sp>
        <p:nvSpPr>
          <p:cNvPr id="5" name="Footer Placeholder 4"/>
          <p:cNvSpPr>
            <a:spLocks noGrp="1" noEditPoints="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Amrita School of Computing</a:t>
            </a:r>
          </a:p>
        </p:txBody>
      </p:sp>
      <p:sp>
        <p:nvSpPr>
          <p:cNvPr id="6" name="Slide Number Placeholder 5"/>
          <p:cNvSpPr>
            <a:spLocks noGrp="1" noEditPoints="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EC02DA-033E-4E45-979C-FC77C52540B5}"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3.png"/><Relationship Id="rId4"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ctrTitle"/>
          </p:nvPr>
        </p:nvSpPr>
        <p:spPr>
          <a:xfrm>
            <a:off x="959999" y="1008632"/>
            <a:ext cx="10272000" cy="675046"/>
          </a:xfrm>
        </p:spPr>
        <p:txBody>
          <a:bodyPr>
            <a:noAutofit/>
          </a:bodyPr>
          <a:lstStyle/>
          <a:p>
            <a:r>
              <a:rPr lang="en-US" sz="2400" dirty="0"/>
              <a:t>Selective Mitigation of Frequency-Domain Backdoor Triggers in Image Classification</a:t>
            </a:r>
            <a:endParaRPr lang="en-US" sz="2400" dirty="0">
              <a:latin typeface="Times New Roman"/>
              <a:ea typeface="+mn-ea"/>
              <a:cs typeface="Times New Roman"/>
            </a:endParaRPr>
          </a:p>
        </p:txBody>
      </p:sp>
      <p:sp>
        <p:nvSpPr>
          <p:cNvPr id="3" name="Subtitle 2"/>
          <p:cNvSpPr>
            <a:spLocks noGrp="1" noEditPoints="1"/>
          </p:cNvSpPr>
          <p:nvPr>
            <p:ph type="subTitle" idx="1"/>
          </p:nvPr>
        </p:nvSpPr>
        <p:spPr>
          <a:xfrm>
            <a:off x="1523999" y="1885859"/>
            <a:ext cx="9144000" cy="3391083"/>
          </a:xfrm>
        </p:spPr>
        <p:txBody>
          <a:bodyPr vert="horz" lIns="91440" tIns="45720" rIns="91440" bIns="45720" rtlCol="0" anchor="t">
            <a:normAutofit/>
          </a:bodyPr>
          <a:lstStyle/>
          <a:p>
            <a:endParaRPr lang="en-IN" dirty="0">
              <a:latin typeface="Times New Roman"/>
              <a:cs typeface="Times New Roman"/>
            </a:endParaRPr>
          </a:p>
          <a:p>
            <a:r>
              <a:rPr lang="en-IN" dirty="0">
                <a:latin typeface="Times New Roman"/>
                <a:cs typeface="Times New Roman"/>
              </a:rPr>
              <a:t>Project Phase 2</a:t>
            </a:r>
          </a:p>
          <a:p>
            <a:endParaRPr lang="en-IN" dirty="0">
              <a:latin typeface="Times New Roman"/>
              <a:cs typeface="Times New Roman"/>
            </a:endParaRPr>
          </a:p>
          <a:p>
            <a:r>
              <a:rPr lang="en-IN" dirty="0">
                <a:latin typeface="Times New Roman"/>
                <a:cs typeface="Times New Roman"/>
              </a:rPr>
              <a:t>Supervisor: Dr. Senthilkumar M</a:t>
            </a:r>
          </a:p>
          <a:p>
            <a:endParaRPr lang="en-IN"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555812" y="726142"/>
            <a:ext cx="11214847" cy="5710518"/>
          </a:xfrm>
          <a:prstGeom prst="roundRect">
            <a:avLst/>
          </a:prstGeom>
          <a:noFill/>
          <a:ln w="38100">
            <a:solidFill>
              <a:schemeClr val="tx2">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a:p>
        </p:txBody>
      </p:sp>
      <p:sp>
        <p:nvSpPr>
          <p:cNvPr id="6" name="Date Placeholder 5"/>
          <p:cNvSpPr>
            <a:spLocks noGrp="1" noEditPoints="1"/>
          </p:cNvSpPr>
          <p:nvPr>
            <p:ph type="dt" sz="half" idx="10"/>
          </p:nvPr>
        </p:nvSpPr>
        <p:spPr>
          <a:xfrm>
            <a:off x="468406" y="6467756"/>
            <a:ext cx="2743200" cy="365125"/>
          </a:xfrm>
        </p:spPr>
        <p:txBody>
          <a:bodyPr/>
          <a:lstStyle/>
          <a:p>
            <a:fld id="{FE6C8D79-9227-457B-83BD-6D5D7B5F8D15}" type="datetime1">
              <a:rPr lang="en-IN" sz="2000" smtClean="0">
                <a:solidFill>
                  <a:schemeClr val="tx1"/>
                </a:solidFill>
                <a:latin typeface="Times New Roman" panose="02020603050405020304" pitchFamily="18" charset="0"/>
                <a:cs typeface="Times New Roman" panose="02020603050405020304" pitchFamily="18" charset="0"/>
              </a:rPr>
              <a:t>10-10-2026</a:t>
            </a:fld>
            <a:endParaRPr lang="en-IN" sz="2000">
              <a:solidFill>
                <a:schemeClr val="tx1"/>
              </a:solidFill>
              <a:latin typeface="Times New Roman" panose="02020603050405020304" pitchFamily="18" charset="0"/>
              <a:cs typeface="Times New Roman" panose="02020603050405020304" pitchFamily="18" charset="0"/>
            </a:endParaRPr>
          </a:p>
        </p:txBody>
      </p:sp>
      <p:pic>
        <p:nvPicPr>
          <p:cNvPr id="1026" name="Picture 2" descr="Amrita Vishwa Vidyapeetham, Coimbatore: Courses, Fees ..."/>
          <p:cNvPicPr>
            <a:picLocks noChangeAspect="1" noChangeArrowheads="1"/>
          </p:cNvPicPr>
          <p:nvPr/>
        </p:nvPicPr>
        <p:blipFill>
          <a:blip r:embed="rId3"/>
          <a:srcRect/>
          <a:stretch>
            <a:fillRect/>
          </a:stretch>
        </p:blipFill>
        <p:spPr bwMode="auto">
          <a:xfrm>
            <a:off x="31937" y="25119"/>
            <a:ext cx="965000" cy="943069"/>
          </a:xfrm>
          <a:prstGeom prst="rect">
            <a:avLst/>
          </a:prstGeom>
          <a:noFill/>
        </p:spPr>
      </p:pic>
      <p:graphicFrame>
        <p:nvGraphicFramePr>
          <p:cNvPr id="15" name="Table 15"/>
          <p:cNvGraphicFramePr>
            <a:graphicFrameLocks noGrp="1"/>
          </p:cNvGraphicFramePr>
          <p:nvPr>
            <p:extLst>
              <p:ext uri="{D42A27DB-BD31-4B8C-83A1-F6EECF244321}">
                <p14:modId xmlns:p14="http://schemas.microsoft.com/office/powerpoint/2010/main" val="2686615447"/>
              </p:ext>
            </p:extLst>
          </p:nvPr>
        </p:nvGraphicFramePr>
        <p:xfrm>
          <a:off x="1028151" y="4347144"/>
          <a:ext cx="10135696" cy="767080"/>
        </p:xfrm>
        <a:graphic>
          <a:graphicData uri="http://schemas.openxmlformats.org/drawingml/2006/table">
            <a:tbl>
              <a:tblPr firstRow="1" bandRow="1">
                <a:tableStyleId>{5940675A-B579-460E-94D1-54222C63F5DA}</a:tableStyleId>
              </a:tblPr>
              <a:tblGrid>
                <a:gridCol w="3018585">
                  <a:extLst>
                    <a:ext uri="{9D8B030D-6E8A-4147-A177-3AD203B41FA5}">
                      <a16:colId xmlns:a16="http://schemas.microsoft.com/office/drawing/2014/main" val="20001"/>
                    </a:ext>
                  </a:extLst>
                </a:gridCol>
                <a:gridCol w="3288349">
                  <a:extLst>
                    <a:ext uri="{9D8B030D-6E8A-4147-A177-3AD203B41FA5}">
                      <a16:colId xmlns:a16="http://schemas.microsoft.com/office/drawing/2014/main" val="20002"/>
                    </a:ext>
                  </a:extLst>
                </a:gridCol>
                <a:gridCol w="3828762">
                  <a:extLst>
                    <a:ext uri="{9D8B030D-6E8A-4147-A177-3AD203B41FA5}">
                      <a16:colId xmlns:a16="http://schemas.microsoft.com/office/drawing/2014/main" val="1085012963"/>
                    </a:ext>
                  </a:extLst>
                </a:gridCol>
              </a:tblGrid>
              <a:tr h="370840">
                <a:tc>
                  <a:txBody>
                    <a:bodyPr/>
                    <a:lstStyle/>
                    <a:p>
                      <a:pPr algn="ctr"/>
                      <a:r>
                        <a:rPr lang="en-IN" sz="2000" b="1" dirty="0">
                          <a:solidFill>
                            <a:schemeClr val="tx1"/>
                          </a:solidFill>
                        </a:rPr>
                        <a:t>Name</a:t>
                      </a:r>
                      <a:endParaRPr lang="en-IN" sz="2000" b="1" i="0" dirty="0">
                        <a:solidFill>
                          <a:schemeClr val="tx1"/>
                        </a:solidFill>
                      </a:endParaRPr>
                    </a:p>
                  </a:txBody>
                  <a:tcPr/>
                </a:tc>
                <a:tc>
                  <a:txBody>
                    <a:bodyPr/>
                    <a:lstStyle/>
                    <a:p>
                      <a:pPr algn="ctr"/>
                      <a:r>
                        <a:rPr lang="en-IN" sz="2000" b="1" dirty="0">
                          <a:solidFill>
                            <a:schemeClr val="tx1"/>
                          </a:solidFill>
                        </a:rPr>
                        <a:t>Roll Number</a:t>
                      </a:r>
                      <a:endParaRPr lang="en-IN" sz="2000" b="1" i="0" dirty="0">
                        <a:solidFill>
                          <a:schemeClr val="tx1"/>
                        </a:solidFill>
                      </a:endParaRPr>
                    </a:p>
                  </a:txBody>
                  <a:tcPr/>
                </a:tc>
                <a:tc>
                  <a:txBody>
                    <a:bodyPr/>
                    <a:lstStyle/>
                    <a:p>
                      <a:pPr algn="ctr"/>
                      <a:r>
                        <a:rPr lang="en-US" sz="2000" b="1" i="0" dirty="0">
                          <a:solidFill>
                            <a:schemeClr val="tx1"/>
                          </a:solidFill>
                        </a:rPr>
                        <a:t>Internship details </a:t>
                      </a:r>
                      <a:endParaRPr lang="en-IN" sz="2000" b="1" i="0" dirty="0">
                        <a:solidFill>
                          <a:schemeClr val="tx1"/>
                        </a:solidFill>
                      </a:endParaRPr>
                    </a:p>
                  </a:txBody>
                  <a:tcPr/>
                </a:tc>
                <a:extLst>
                  <a:ext uri="{0D108BD9-81ED-4DB2-BD59-A6C34878D82A}">
                    <a16:rowId xmlns:a16="http://schemas.microsoft.com/office/drawing/2014/main" val="10000"/>
                  </a:ext>
                </a:extLst>
              </a:tr>
              <a:tr h="370840">
                <a:tc>
                  <a:txBody>
                    <a:bodyPr/>
                    <a:lstStyle/>
                    <a:p>
                      <a:pPr algn="ctr"/>
                      <a:r>
                        <a:rPr lang="en-IN" dirty="0">
                          <a:solidFill>
                            <a:schemeClr val="tx1"/>
                          </a:solidFill>
                        </a:rPr>
                        <a:t>Varun Mahesh Menon</a:t>
                      </a:r>
                    </a:p>
                  </a:txBody>
                  <a:tcPr/>
                </a:tc>
                <a:tc>
                  <a:txBody>
                    <a:bodyPr/>
                    <a:lstStyle/>
                    <a:p>
                      <a:pPr algn="ctr"/>
                      <a:r>
                        <a:rPr lang="en-IN" dirty="0">
                          <a:solidFill>
                            <a:schemeClr val="tx1"/>
                          </a:solidFill>
                        </a:rPr>
                        <a:t>CB.SC.P2AIE25031</a:t>
                      </a:r>
                    </a:p>
                  </a:txBody>
                  <a:tcPr/>
                </a:tc>
                <a:tc>
                  <a:txBody>
                    <a:bodyPr/>
                    <a:lstStyle/>
                    <a:p>
                      <a:pPr algn="ctr"/>
                      <a:r>
                        <a:rPr lang="en-IN" dirty="0">
                          <a:solidFill>
                            <a:schemeClr val="tx1"/>
                          </a:solidFill>
                        </a:rPr>
                        <a:t>Wabtec (11 Months) - Bangalore</a:t>
                      </a:r>
                    </a:p>
                  </a:txBody>
                  <a:tcPr/>
                </a:tc>
                <a:extLst>
                  <a:ext uri="{0D108BD9-81ED-4DB2-BD59-A6C34878D82A}">
                    <a16:rowId xmlns:a16="http://schemas.microsoft.com/office/drawing/2014/main" val="10001"/>
                  </a:ext>
                </a:extLst>
              </a:tr>
            </a:tbl>
          </a:graphicData>
        </a:graphic>
      </p:graphicFrame>
      <p:sp>
        <p:nvSpPr>
          <p:cNvPr id="5" name="Footer Placeholder 4">
            <a:extLst>
              <a:ext uri="{FF2B5EF4-FFF2-40B4-BE49-F238E27FC236}">
                <a16:creationId xmlns:a16="http://schemas.microsoft.com/office/drawing/2014/main" id="{55429DCD-5078-96E0-9E26-E3AECDD1A9B7}"/>
              </a:ext>
            </a:extLst>
          </p:cNvPr>
          <p:cNvSpPr>
            <a:spLocks noGrp="1"/>
          </p:cNvSpPr>
          <p:nvPr>
            <p:ph type="ftr" sz="quarter" idx="11"/>
          </p:nvPr>
        </p:nvSpPr>
        <p:spPr/>
        <p:txBody>
          <a:bodyPr/>
          <a:lstStyle/>
          <a:p>
            <a:r>
              <a:rPr lang="en-IN"/>
              <a:t>Amrita School of Computing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E8A5F-9912-D9DC-F306-7381EDCBAA40}"/>
              </a:ext>
            </a:extLst>
          </p:cNvPr>
          <p:cNvSpPr>
            <a:spLocks noGrp="1"/>
          </p:cNvSpPr>
          <p:nvPr>
            <p:ph type="title"/>
          </p:nvPr>
        </p:nvSpPr>
        <p:spPr/>
        <p:txBody>
          <a:bodyPr/>
          <a:lstStyle/>
          <a:p>
            <a:pPr algn="ctr"/>
            <a:r>
              <a:rPr lang="en-US" dirty="0"/>
              <a:t>Guide Approval Mail</a:t>
            </a:r>
            <a:endParaRPr lang="en-IN" dirty="0"/>
          </a:p>
        </p:txBody>
      </p:sp>
      <p:sp>
        <p:nvSpPr>
          <p:cNvPr id="4" name="Date Placeholder 3">
            <a:extLst>
              <a:ext uri="{FF2B5EF4-FFF2-40B4-BE49-F238E27FC236}">
                <a16:creationId xmlns:a16="http://schemas.microsoft.com/office/drawing/2014/main" id="{C49813F0-6150-F56D-6EE9-70CE4E463952}"/>
              </a:ext>
            </a:extLst>
          </p:cNvPr>
          <p:cNvSpPr>
            <a:spLocks noGrp="1"/>
          </p:cNvSpPr>
          <p:nvPr>
            <p:ph type="dt" sz="half" idx="10"/>
          </p:nvPr>
        </p:nvSpPr>
        <p:spPr/>
        <p:txBody>
          <a:bodyPr/>
          <a:lstStyle/>
          <a:p>
            <a:fld id="{DC9F7C42-E17F-49EA-B3CD-B4C3CDBA196D}" type="datetime1">
              <a:rPr lang="en-IN" smtClean="0"/>
              <a:t>10-10-2026</a:t>
            </a:fld>
            <a:endParaRPr lang="en-IN"/>
          </a:p>
        </p:txBody>
      </p:sp>
      <p:sp>
        <p:nvSpPr>
          <p:cNvPr id="5" name="Footer Placeholder 4">
            <a:extLst>
              <a:ext uri="{FF2B5EF4-FFF2-40B4-BE49-F238E27FC236}">
                <a16:creationId xmlns:a16="http://schemas.microsoft.com/office/drawing/2014/main" id="{852543BA-D8DD-7640-A0DA-0CBE78F7F51A}"/>
              </a:ext>
            </a:extLst>
          </p:cNvPr>
          <p:cNvSpPr>
            <a:spLocks noGrp="1"/>
          </p:cNvSpPr>
          <p:nvPr>
            <p:ph type="ftr" sz="quarter" idx="11"/>
          </p:nvPr>
        </p:nvSpPr>
        <p:spPr/>
        <p:txBody>
          <a:bodyPr/>
          <a:lstStyle/>
          <a:p>
            <a:r>
              <a:rPr lang="en-IN"/>
              <a:t>Amrita School of Computing</a:t>
            </a:r>
          </a:p>
        </p:txBody>
      </p:sp>
      <p:sp>
        <p:nvSpPr>
          <p:cNvPr id="9" name="Content Placeholder 8">
            <a:extLst>
              <a:ext uri="{FF2B5EF4-FFF2-40B4-BE49-F238E27FC236}">
                <a16:creationId xmlns:a16="http://schemas.microsoft.com/office/drawing/2014/main" id="{8501C4B5-43A7-AF7C-6518-088FC9AA4E65}"/>
              </a:ext>
            </a:extLst>
          </p:cNvPr>
          <p:cNvSpPr>
            <a:spLocks noGrp="1"/>
          </p:cNvSpPr>
          <p:nvPr>
            <p:ph idx="1"/>
          </p:nvPr>
        </p:nvSpPr>
        <p:spPr/>
        <p:txBody>
          <a:bodyPr/>
          <a:lstStyle/>
          <a:p>
            <a:endParaRPr lang="en-US"/>
          </a:p>
        </p:txBody>
      </p:sp>
      <p:pic>
        <p:nvPicPr>
          <p:cNvPr id="11" name="Picture 10">
            <a:extLst>
              <a:ext uri="{FF2B5EF4-FFF2-40B4-BE49-F238E27FC236}">
                <a16:creationId xmlns:a16="http://schemas.microsoft.com/office/drawing/2014/main" id="{0791128C-B6C4-9423-FB63-2CBEE04BFD73}"/>
              </a:ext>
            </a:extLst>
          </p:cNvPr>
          <p:cNvPicPr>
            <a:picLocks noChangeAspect="1"/>
          </p:cNvPicPr>
          <p:nvPr/>
        </p:nvPicPr>
        <p:blipFill>
          <a:blip r:embed="rId2"/>
          <a:stretch>
            <a:fillRect/>
          </a:stretch>
        </p:blipFill>
        <p:spPr>
          <a:xfrm>
            <a:off x="313518" y="1399891"/>
            <a:ext cx="11564964" cy="4714037"/>
          </a:xfrm>
          <a:prstGeom prst="rect">
            <a:avLst/>
          </a:prstGeom>
        </p:spPr>
      </p:pic>
    </p:spTree>
    <p:extLst>
      <p:ext uri="{BB962C8B-B14F-4D97-AF65-F5344CB8AC3E}">
        <p14:creationId xmlns:p14="http://schemas.microsoft.com/office/powerpoint/2010/main" val="42500104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4AF90-0A41-BBD4-46F9-E13A14BA2DB8}"/>
              </a:ext>
            </a:extLst>
          </p:cNvPr>
          <p:cNvSpPr>
            <a:spLocks noGrp="1"/>
          </p:cNvSpPr>
          <p:nvPr>
            <p:ph type="title"/>
          </p:nvPr>
        </p:nvSpPr>
        <p:spPr/>
        <p:txBody>
          <a:bodyPr>
            <a:normAutofit/>
          </a:bodyPr>
          <a:lstStyle/>
          <a:p>
            <a:r>
              <a:rPr lang="en-US" b="1" dirty="0"/>
              <a:t>1. Introduction and Motivation</a:t>
            </a:r>
            <a:endParaRPr lang="en-IN" dirty="0"/>
          </a:p>
        </p:txBody>
      </p:sp>
      <p:sp>
        <p:nvSpPr>
          <p:cNvPr id="3" name="Content Placeholder 2">
            <a:extLst>
              <a:ext uri="{FF2B5EF4-FFF2-40B4-BE49-F238E27FC236}">
                <a16:creationId xmlns:a16="http://schemas.microsoft.com/office/drawing/2014/main" id="{22EDCEDF-88B0-DCF2-C70D-546EA2177879}"/>
              </a:ext>
            </a:extLst>
          </p:cNvPr>
          <p:cNvSpPr>
            <a:spLocks noGrp="1"/>
          </p:cNvSpPr>
          <p:nvPr>
            <p:ph idx="1"/>
          </p:nvPr>
        </p:nvSpPr>
        <p:spPr>
          <a:xfrm>
            <a:off x="900543" y="1334727"/>
            <a:ext cx="10619509" cy="4929257"/>
          </a:xfrm>
        </p:spPr>
        <p:txBody>
          <a:bodyPr>
            <a:normAutofit lnSpcReduction="10000"/>
          </a:bodyPr>
          <a:lstStyle/>
          <a:p>
            <a:pPr marL="0" indent="0">
              <a:buNone/>
            </a:pPr>
            <a:r>
              <a:rPr lang="en-US" b="1" dirty="0"/>
              <a:t>Why Backdoor Security Matters in Image Classification</a:t>
            </a:r>
          </a:p>
          <a:p>
            <a:pPr lvl="0" algn="just"/>
            <a:r>
              <a:rPr lang="en-US" sz="2000" dirty="0"/>
              <a:t>Deep-learning classifiers are increasingly used in safety-sensitive applications.</a:t>
            </a:r>
          </a:p>
          <a:p>
            <a:pPr lvl="0" algn="just"/>
            <a:r>
              <a:rPr lang="en-US" sz="2000" dirty="0"/>
              <a:t>A backdoor can keep normal accuracy on clean images while causing targeted errors when a trigger is present.</a:t>
            </a:r>
          </a:p>
          <a:p>
            <a:pPr lvl="0" algn="just"/>
            <a:r>
              <a:rPr lang="en-US" sz="2000" dirty="0"/>
              <a:t>A defense should remove trigger dependence without destroying useful image information.</a:t>
            </a:r>
          </a:p>
          <a:p>
            <a:pPr lvl="0" algn="just"/>
            <a:endParaRPr lang="en-US" sz="2000" dirty="0"/>
          </a:p>
          <a:p>
            <a:pPr lvl="0" algn="just"/>
            <a:endParaRPr lang="en-US" sz="2000" dirty="0"/>
          </a:p>
          <a:p>
            <a:pPr lvl="0" algn="just"/>
            <a:endParaRPr lang="en-US" sz="2000" dirty="0"/>
          </a:p>
          <a:p>
            <a:pPr algn="just"/>
            <a:r>
              <a:rPr lang="en-US" sz="2000" dirty="0"/>
              <a:t>Frequency-domain triggers can be visually subtle and difficult to identify directly in pixel space.</a:t>
            </a:r>
          </a:p>
          <a:p>
            <a:pPr algn="just"/>
            <a:r>
              <a:rPr lang="en-US" sz="2000" dirty="0"/>
              <a:t>Current frequency-domain defenses suppress all frequency regions — including both trigger frequencies and useful signal frequencies. This is a blunt instrument that degrades legitimate model performance.</a:t>
            </a:r>
          </a:p>
          <a:p>
            <a:pPr lvl="0" algn="just"/>
            <a:r>
              <a:rPr lang="en-US" sz="2000" b="1" dirty="0"/>
              <a:t>“how can we weaken a learned trigger dependency without removing the natural frequency information that the classifier needs?”</a:t>
            </a:r>
          </a:p>
          <a:p>
            <a:pPr marL="0" indent="0">
              <a:buNone/>
            </a:pPr>
            <a:endParaRPr lang="en-IN" dirty="0"/>
          </a:p>
        </p:txBody>
      </p:sp>
      <p:sp>
        <p:nvSpPr>
          <p:cNvPr id="4" name="Date Placeholder 3">
            <a:extLst>
              <a:ext uri="{FF2B5EF4-FFF2-40B4-BE49-F238E27FC236}">
                <a16:creationId xmlns:a16="http://schemas.microsoft.com/office/drawing/2014/main" id="{03BF4BB4-B2A4-CD27-3928-3343D9714FEB}"/>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5809B933-4758-16A1-8BA1-BE214E18946F}"/>
              </a:ext>
            </a:extLst>
          </p:cNvPr>
          <p:cNvSpPr>
            <a:spLocks noGrp="1"/>
          </p:cNvSpPr>
          <p:nvPr>
            <p:ph type="ftr" sz="quarter" idx="11"/>
          </p:nvPr>
        </p:nvSpPr>
        <p:spPr/>
        <p:txBody>
          <a:bodyPr/>
          <a:lstStyle/>
          <a:p>
            <a:r>
              <a:rPr lang="en-IN"/>
              <a:t>Amrita School of Computing</a:t>
            </a:r>
            <a:endParaRPr lang="en-IN" dirty="0"/>
          </a:p>
        </p:txBody>
      </p:sp>
      <p:sp>
        <p:nvSpPr>
          <p:cNvPr id="6" name="Rectangle 5">
            <a:extLst>
              <a:ext uri="{FF2B5EF4-FFF2-40B4-BE49-F238E27FC236}">
                <a16:creationId xmlns:a16="http://schemas.microsoft.com/office/drawing/2014/main" id="{13F5914A-39AB-AE28-D0E9-6415E53D96C2}"/>
              </a:ext>
            </a:extLst>
          </p:cNvPr>
          <p:cNvSpPr/>
          <p:nvPr/>
        </p:nvSpPr>
        <p:spPr>
          <a:xfrm>
            <a:off x="2855258" y="3231045"/>
            <a:ext cx="6481483" cy="936812"/>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dirty="0">
                <a:solidFill>
                  <a:schemeClr val="tx1"/>
                </a:solidFill>
              </a:rPr>
              <a:t>clean image -&gt; classifier -&gt; correct class</a:t>
            </a:r>
          </a:p>
          <a:p>
            <a:pPr algn="ctr"/>
            <a:r>
              <a:rPr lang="en-US" sz="2400" dirty="0">
                <a:solidFill>
                  <a:schemeClr val="tx1"/>
                </a:solidFill>
              </a:rPr>
              <a:t>triggered image -&gt; classifier -&gt; attacker target class</a:t>
            </a:r>
          </a:p>
          <a:p>
            <a:pPr algn="ctr"/>
            <a:endParaRPr lang="en-US" dirty="0"/>
          </a:p>
        </p:txBody>
      </p:sp>
    </p:spTree>
    <p:extLst>
      <p:ext uri="{BB962C8B-B14F-4D97-AF65-F5344CB8AC3E}">
        <p14:creationId xmlns:p14="http://schemas.microsoft.com/office/powerpoint/2010/main" val="394749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5107-0765-ACFD-EE51-4BF710D32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D87AD-626D-991C-6A92-4208FEFA3DD1}"/>
              </a:ext>
            </a:extLst>
          </p:cNvPr>
          <p:cNvSpPr>
            <a:spLocks noGrp="1"/>
          </p:cNvSpPr>
          <p:nvPr>
            <p:ph type="title"/>
          </p:nvPr>
        </p:nvSpPr>
        <p:spPr/>
        <p:txBody>
          <a:bodyPr>
            <a:normAutofit/>
          </a:bodyPr>
          <a:lstStyle/>
          <a:p>
            <a:r>
              <a:rPr lang="en-US" b="1" dirty="0"/>
              <a:t>2. Problem Statement</a:t>
            </a:r>
          </a:p>
        </p:txBody>
      </p:sp>
      <p:sp>
        <p:nvSpPr>
          <p:cNvPr id="3" name="Content Placeholder 2">
            <a:extLst>
              <a:ext uri="{FF2B5EF4-FFF2-40B4-BE49-F238E27FC236}">
                <a16:creationId xmlns:a16="http://schemas.microsoft.com/office/drawing/2014/main" id="{6D5F2BCD-4B35-9C7E-4B46-AAC83EDD4874}"/>
              </a:ext>
            </a:extLst>
          </p:cNvPr>
          <p:cNvSpPr>
            <a:spLocks noGrp="1"/>
          </p:cNvSpPr>
          <p:nvPr>
            <p:ph idx="1"/>
          </p:nvPr>
        </p:nvSpPr>
        <p:spPr>
          <a:xfrm>
            <a:off x="900543" y="1334727"/>
            <a:ext cx="10619509" cy="4929257"/>
          </a:xfrm>
        </p:spPr>
        <p:txBody>
          <a:bodyPr>
            <a:normAutofit/>
          </a:bodyPr>
          <a:lstStyle/>
          <a:p>
            <a:pPr marL="0" indent="0" algn="just">
              <a:buNone/>
            </a:pPr>
            <a:r>
              <a:rPr lang="en-US" sz="3200" b="1" dirty="0"/>
              <a:t>Problem statement:</a:t>
            </a:r>
          </a:p>
          <a:p>
            <a:pPr algn="just"/>
            <a:r>
              <a:rPr lang="en-US" sz="2000" dirty="0"/>
              <a:t>To develop a selective and adaptive frequency-domain defense that suppresses trigger-related spectral information while maintaining clean-image classification performance.</a:t>
            </a:r>
          </a:p>
          <a:p>
            <a:pPr marL="0" indent="0" algn="just">
              <a:buNone/>
            </a:pPr>
            <a:endParaRPr lang="en-IN" sz="3600" dirty="0"/>
          </a:p>
          <a:p>
            <a:pPr marL="0" indent="0" algn="just">
              <a:buNone/>
            </a:pPr>
            <a:r>
              <a:rPr lang="en-US" sz="3200" b="1" dirty="0"/>
              <a:t>Objectives</a:t>
            </a:r>
          </a:p>
          <a:p>
            <a:pPr lvl="0" algn="just"/>
            <a:r>
              <a:rPr lang="en-US" sz="2000" dirty="0"/>
              <a:t>Identify suspicious amplitude changes caused by a trigger.</a:t>
            </a:r>
          </a:p>
          <a:p>
            <a:pPr lvl="0" algn="just"/>
            <a:r>
              <a:rPr lang="en-US" sz="2000" dirty="0"/>
              <a:t>Learn an adaptive correction map rather than applying one global filter.</a:t>
            </a:r>
          </a:p>
          <a:p>
            <a:pPr lvl="0" algn="just"/>
            <a:r>
              <a:rPr lang="en-US" sz="2000" dirty="0"/>
              <a:t>Repair the suspicious classifier so it no longer depends on the trigger.</a:t>
            </a:r>
          </a:p>
          <a:p>
            <a:pPr lvl="0" algn="just"/>
            <a:r>
              <a:rPr lang="en-US" sz="2000" dirty="0"/>
              <a:t>Evaluate the approach across resolutions, trigger strengths, trigger functions and unknown images.</a:t>
            </a:r>
          </a:p>
          <a:p>
            <a:pPr marL="0" indent="0">
              <a:buNone/>
            </a:pPr>
            <a:endParaRPr lang="en-IN" dirty="0"/>
          </a:p>
        </p:txBody>
      </p:sp>
      <p:sp>
        <p:nvSpPr>
          <p:cNvPr id="4" name="Date Placeholder 3">
            <a:extLst>
              <a:ext uri="{FF2B5EF4-FFF2-40B4-BE49-F238E27FC236}">
                <a16:creationId xmlns:a16="http://schemas.microsoft.com/office/drawing/2014/main" id="{F932F320-0A2D-FAB3-2BE6-9F787A4DE16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49E9782-0FD0-7736-16FA-2D7A092526C7}"/>
              </a:ext>
            </a:extLst>
          </p:cNvPr>
          <p:cNvSpPr>
            <a:spLocks noGrp="1"/>
          </p:cNvSpPr>
          <p:nvPr>
            <p:ph type="ftr" sz="quarter" idx="11"/>
          </p:nvPr>
        </p:nvSpPr>
        <p:spPr/>
        <p:txBody>
          <a:bodyPr/>
          <a:lstStyle/>
          <a:p>
            <a:r>
              <a:rPr lang="en-IN"/>
              <a:t>Amrita School of Computing</a:t>
            </a:r>
            <a:endParaRPr lang="en-IN" dirty="0"/>
          </a:p>
        </p:txBody>
      </p:sp>
    </p:spTree>
    <p:extLst>
      <p:ext uri="{BB962C8B-B14F-4D97-AF65-F5344CB8AC3E}">
        <p14:creationId xmlns:p14="http://schemas.microsoft.com/office/powerpoint/2010/main" val="2569323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2A5C4-0363-0290-D374-1997D2E414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FFAD3-6DAA-F50C-F632-9098F3091DFC}"/>
              </a:ext>
            </a:extLst>
          </p:cNvPr>
          <p:cNvSpPr>
            <a:spLocks noGrp="1"/>
          </p:cNvSpPr>
          <p:nvPr>
            <p:ph type="title"/>
          </p:nvPr>
        </p:nvSpPr>
        <p:spPr/>
        <p:txBody>
          <a:bodyPr>
            <a:normAutofit/>
          </a:bodyPr>
          <a:lstStyle/>
          <a:p>
            <a:r>
              <a:rPr lang="en-US" b="1">
                <a:latin typeface="Arial" panose="020B0604020202020204" pitchFamily="34" charset="0"/>
              </a:rPr>
              <a:t>3. Literature Survey and Research Gap</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FFE9BD6F-B137-AAF9-D43A-2436BC279067}"/>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CE33CD74-6188-01D5-544D-D2B652D2D61C}"/>
              </a:ext>
            </a:extLst>
          </p:cNvPr>
          <p:cNvSpPr>
            <a:spLocks noGrp="1"/>
          </p:cNvSpPr>
          <p:nvPr>
            <p:ph type="ftr" sz="quarter" idx="11"/>
          </p:nvPr>
        </p:nvSpPr>
        <p:spPr/>
        <p:txBody>
          <a:bodyPr/>
          <a:lstStyle/>
          <a:p>
            <a:r>
              <a:rPr lang="en-IN"/>
              <a:t>Amrita School of Computing</a:t>
            </a:r>
            <a:endParaRPr lang="en-IN" dirty="0"/>
          </a:p>
        </p:txBody>
      </p:sp>
      <p:graphicFrame>
        <p:nvGraphicFramePr>
          <p:cNvPr id="8" name="Content Placeholder 7">
            <a:extLst>
              <a:ext uri="{FF2B5EF4-FFF2-40B4-BE49-F238E27FC236}">
                <a16:creationId xmlns:a16="http://schemas.microsoft.com/office/drawing/2014/main" id="{EF7899EC-2812-067B-65B5-220C909AAB7B}"/>
              </a:ext>
            </a:extLst>
          </p:cNvPr>
          <p:cNvGraphicFramePr>
            <a:graphicFrameLocks noGrp="1"/>
          </p:cNvGraphicFramePr>
          <p:nvPr>
            <p:ph idx="1"/>
            <p:extLst>
              <p:ext uri="{D42A27DB-BD31-4B8C-83A1-F6EECF244321}">
                <p14:modId xmlns:p14="http://schemas.microsoft.com/office/powerpoint/2010/main" val="1807991057"/>
              </p:ext>
            </p:extLst>
          </p:nvPr>
        </p:nvGraphicFramePr>
        <p:xfrm>
          <a:off x="279399" y="1308100"/>
          <a:ext cx="11633200" cy="4089400"/>
        </p:xfrm>
        <a:graphic>
          <a:graphicData uri="http://schemas.openxmlformats.org/drawingml/2006/table">
            <a:tbl>
              <a:tblPr firstRow="1" bandRow="1">
                <a:tableStyleId>{5C22544A-7EE6-4342-B048-85BDC9FD1C3A}</a:tableStyleId>
              </a:tblPr>
              <a:tblGrid>
                <a:gridCol w="1841500">
                  <a:extLst>
                    <a:ext uri="{9D8B030D-6E8A-4147-A177-3AD203B41FA5}">
                      <a16:colId xmlns:a16="http://schemas.microsoft.com/office/drawing/2014/main" val="3445586996"/>
                    </a:ext>
                  </a:extLst>
                </a:gridCol>
                <a:gridCol w="2857500">
                  <a:extLst>
                    <a:ext uri="{9D8B030D-6E8A-4147-A177-3AD203B41FA5}">
                      <a16:colId xmlns:a16="http://schemas.microsoft.com/office/drawing/2014/main" val="202975861"/>
                    </a:ext>
                  </a:extLst>
                </a:gridCol>
                <a:gridCol w="3111500">
                  <a:extLst>
                    <a:ext uri="{9D8B030D-6E8A-4147-A177-3AD203B41FA5}">
                      <a16:colId xmlns:a16="http://schemas.microsoft.com/office/drawing/2014/main" val="1067430616"/>
                    </a:ext>
                  </a:extLst>
                </a:gridCol>
                <a:gridCol w="3822700">
                  <a:extLst>
                    <a:ext uri="{9D8B030D-6E8A-4147-A177-3AD203B41FA5}">
                      <a16:colId xmlns:a16="http://schemas.microsoft.com/office/drawing/2014/main" val="1391102327"/>
                    </a:ext>
                  </a:extLst>
                </a:gridCol>
              </a:tblGrid>
              <a:tr h="546100">
                <a:tc>
                  <a:txBody>
                    <a:bodyPr/>
                    <a:lstStyle/>
                    <a:p>
                      <a:pPr algn="ctr"/>
                      <a:r>
                        <a:rPr lang="en-US" sz="1300" b="1">
                          <a:solidFill>
                            <a:srgbClr val="FFFFFF"/>
                          </a:solidFill>
                          <a:latin typeface="Arial" panose="020B0604020202020204" pitchFamily="34" charset="0"/>
                        </a:rPr>
                        <a:t>Source</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What the paper does</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Limitation for our problem</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What our project improves</a:t>
                      </a:r>
                    </a:p>
                  </a:txBody>
                  <a:tcPr marL="63500" marR="63500" marT="50800" marB="38100" anchor="ctr">
                    <a:solidFill>
                      <a:srgbClr val="1F4E79"/>
                    </a:solidFill>
                  </a:tcPr>
                </a:tc>
                <a:extLst>
                  <a:ext uri="{0D108BD9-81ED-4DB2-BD59-A6C34878D82A}">
                    <a16:rowId xmlns:a16="http://schemas.microsoft.com/office/drawing/2014/main" val="3991041593"/>
                  </a:ext>
                </a:extLst>
              </a:tr>
              <a:tr h="1181100">
                <a:tc>
                  <a:txBody>
                    <a:bodyPr/>
                    <a:lstStyle/>
                    <a:p>
                      <a:pPr algn="l"/>
                      <a:r>
                        <a:rPr lang="en-US" sz="1150" b="1" dirty="0">
                          <a:solidFill>
                            <a:srgbClr val="555555"/>
                          </a:solidFill>
                          <a:latin typeface="Arial" panose="020B0604020202020204" pitchFamily="34" charset="0"/>
                        </a:rPr>
                        <a:t>Frequency- domain </a:t>
                      </a:r>
                      <a:r>
                        <a:rPr lang="en-US" sz="1150" b="1" dirty="0" err="1">
                          <a:solidFill>
                            <a:srgbClr val="555555"/>
                          </a:solidFill>
                          <a:latin typeface="Arial" panose="020B0604020202020204" pitchFamily="34" charset="0"/>
                        </a:rPr>
                        <a:t>Pertubation</a:t>
                      </a:r>
                      <a:endParaRPr lang="en-US" sz="1150" b="1" dirty="0">
                        <a:solidFill>
                          <a:srgbClr val="555555"/>
                        </a:solidFill>
                        <a:latin typeface="Arial" panose="020B0604020202020204" pitchFamily="34" charset="0"/>
                      </a:endParaRPr>
                    </a:p>
                  </a:txBody>
                  <a:tcPr marL="63500" marR="63500" marT="50800" marB="38100" anchor="ctr">
                    <a:solidFill>
                      <a:srgbClr val="F6F9FD"/>
                    </a:solidFill>
                  </a:tcPr>
                </a:tc>
                <a:tc>
                  <a:txBody>
                    <a:bodyPr/>
                    <a:lstStyle/>
                    <a:p>
                      <a:pPr algn="l"/>
                      <a:r>
                        <a:rPr lang="en-US" sz="1150" b="0">
                          <a:solidFill>
                            <a:srgbClr val="555555"/>
                          </a:solidFill>
                          <a:latin typeface="Arial" panose="020B0604020202020204" pitchFamily="34" charset="0"/>
                        </a:rPr>
                        <a:t>Retrains the classifier using frequency-perturbed images.</a:t>
                      </a:r>
                    </a:p>
                  </a:txBody>
                  <a:tcPr marL="63500" marR="63500" marT="50800" marB="38100" anchor="ctr">
                    <a:solidFill>
                      <a:srgbClr val="F6F9FD"/>
                    </a:solidFill>
                  </a:tcPr>
                </a:tc>
                <a:tc>
                  <a:txBody>
                    <a:bodyPr/>
                    <a:lstStyle/>
                    <a:p>
                      <a:pPr algn="l"/>
                      <a:r>
                        <a:rPr lang="en-US" sz="1150" b="0">
                          <a:solidFill>
                            <a:srgbClr val="555555"/>
                          </a:solidFill>
                          <a:latin typeface="Arial" panose="020B0604020202020204" pitchFamily="34" charset="0"/>
                        </a:rPr>
                        <a:t>Changes model weights and requires a clean subset plus retraining.</a:t>
                      </a:r>
                    </a:p>
                  </a:txBody>
                  <a:tcPr marL="63500" marR="63500" marT="50800" marB="38100" anchor="ctr">
                    <a:solidFill>
                      <a:srgbClr val="F6F9FD"/>
                    </a:solidFill>
                  </a:tcPr>
                </a:tc>
                <a:tc>
                  <a:txBody>
                    <a:bodyPr/>
                    <a:lstStyle/>
                    <a:p>
                      <a:pPr algn="l"/>
                      <a:r>
                        <a:rPr lang="en-US" sz="1150" b="0">
                          <a:solidFill>
                            <a:srgbClr val="555555"/>
                          </a:solidFill>
                          <a:latin typeface="Arial" panose="020B0604020202020204" pitchFamily="34" charset="0"/>
                        </a:rPr>
                        <a:t>Keeps the classifier frozen and produces a corrected image from one input.</a:t>
                      </a:r>
                    </a:p>
                  </a:txBody>
                  <a:tcPr marL="63500" marR="63500" marT="50800" marB="38100" anchor="ctr">
                    <a:solidFill>
                      <a:srgbClr val="F6F9FD"/>
                    </a:solidFill>
                  </a:tcPr>
                </a:tc>
                <a:extLst>
                  <a:ext uri="{0D108BD9-81ED-4DB2-BD59-A6C34878D82A}">
                    <a16:rowId xmlns:a16="http://schemas.microsoft.com/office/drawing/2014/main" val="1269241607"/>
                  </a:ext>
                </a:extLst>
              </a:tr>
              <a:tr h="1181100">
                <a:tc>
                  <a:txBody>
                    <a:bodyPr/>
                    <a:lstStyle/>
                    <a:p>
                      <a:pPr algn="l"/>
                      <a:r>
                        <a:rPr lang="en-US" sz="1150" b="1">
                          <a:solidFill>
                            <a:srgbClr val="555555"/>
                          </a:solidFill>
                          <a:latin typeface="Arial" panose="020B0604020202020204" pitchFamily="34" charset="0"/>
                        </a:rPr>
                        <a:t>BAM</a:t>
                      </a:r>
                    </a:p>
                  </a:txBody>
                  <a:tcPr marL="63500" marR="63500" marT="50800" marB="38100" anchor="ctr">
                    <a:solidFill>
                      <a:srgbClr val="F3F5F7"/>
                    </a:solidFill>
                  </a:tcPr>
                </a:tc>
                <a:tc>
                  <a:txBody>
                    <a:bodyPr/>
                    <a:lstStyle/>
                    <a:p>
                      <a:pPr algn="l"/>
                      <a:r>
                        <a:rPr lang="en-US" sz="1150" b="0">
                          <a:solidFill>
                            <a:srgbClr val="555555"/>
                          </a:solidFill>
                          <a:latin typeface="Arial" panose="020B0604020202020204" pitchFamily="34" charset="0"/>
                        </a:rPr>
                        <a:t>Learns an input purifier from simulated backdoor behavior.</a:t>
                      </a:r>
                    </a:p>
                  </a:txBody>
                  <a:tcPr marL="63500" marR="63500" marT="50800" marB="38100" anchor="ctr">
                    <a:solidFill>
                      <a:srgbClr val="F3F5F7"/>
                    </a:solidFill>
                  </a:tcPr>
                </a:tc>
                <a:tc>
                  <a:txBody>
                    <a:bodyPr/>
                    <a:lstStyle/>
                    <a:p>
                      <a:pPr algn="l"/>
                      <a:r>
                        <a:rPr lang="en-US" sz="1150" b="0">
                          <a:solidFill>
                            <a:srgbClr val="555555"/>
                          </a:solidFill>
                          <a:latin typeface="Arial" panose="020B0604020202020204" pitchFamily="34" charset="0"/>
                        </a:rPr>
                        <a:t>General image-space purification; spectral support is less explicit.</a:t>
                      </a:r>
                    </a:p>
                  </a:txBody>
                  <a:tcPr marL="63500" marR="63500" marT="50800" marB="38100" anchor="ctr">
                    <a:solidFill>
                      <a:srgbClr val="F3F5F7"/>
                    </a:solidFill>
                  </a:tcPr>
                </a:tc>
                <a:tc>
                  <a:txBody>
                    <a:bodyPr/>
                    <a:lstStyle/>
                    <a:p>
                      <a:pPr algn="l"/>
                      <a:r>
                        <a:rPr lang="en-US" sz="1150" b="0">
                          <a:solidFill>
                            <a:srgbClr val="555555"/>
                          </a:solidFill>
                          <a:latin typeface="Arial" panose="020B0604020202020204" pitchFamily="34" charset="0"/>
                        </a:rPr>
                        <a:t>Uses amplitude, phase, residual and frequency position, with causal support tests.</a:t>
                      </a:r>
                    </a:p>
                  </a:txBody>
                  <a:tcPr marL="63500" marR="63500" marT="50800" marB="38100" anchor="ctr">
                    <a:solidFill>
                      <a:srgbClr val="F3F5F7"/>
                    </a:solidFill>
                  </a:tcPr>
                </a:tc>
                <a:extLst>
                  <a:ext uri="{0D108BD9-81ED-4DB2-BD59-A6C34878D82A}">
                    <a16:rowId xmlns:a16="http://schemas.microsoft.com/office/drawing/2014/main" val="3110348666"/>
                  </a:ext>
                </a:extLst>
              </a:tr>
              <a:tr h="1181100">
                <a:tc>
                  <a:txBody>
                    <a:bodyPr/>
                    <a:lstStyle/>
                    <a:p>
                      <a:pPr algn="l"/>
                      <a:r>
                        <a:rPr lang="en-US" sz="1150" b="1">
                          <a:solidFill>
                            <a:srgbClr val="555555"/>
                          </a:solidFill>
                          <a:latin typeface="Arial" panose="020B0604020202020204" pitchFamily="34" charset="0"/>
                        </a:rPr>
                        <a:t>Semantic-aware</a:t>
                      </a:r>
                    </a:p>
                  </a:txBody>
                  <a:tcPr marL="63500" marR="63500" marT="50800" marB="38100" anchor="ctr">
                    <a:solidFill>
                      <a:srgbClr val="F6F9FD"/>
                    </a:solidFill>
                  </a:tcPr>
                </a:tc>
                <a:tc>
                  <a:txBody>
                    <a:bodyPr/>
                    <a:lstStyle/>
                    <a:p>
                      <a:pPr algn="l"/>
                      <a:r>
                        <a:rPr lang="en-US" sz="1150" b="0">
                          <a:solidFill>
                            <a:srgbClr val="555555"/>
                          </a:solidFill>
                          <a:latin typeface="Arial" panose="020B0604020202020204" pitchFamily="34" charset="0"/>
                        </a:rPr>
                        <a:t>Uses a trusted model to detect suspicious behavior, then performs unlearning.</a:t>
                      </a:r>
                    </a:p>
                  </a:txBody>
                  <a:tcPr marL="63500" marR="63500" marT="50800" marB="38100" anchor="ctr">
                    <a:solidFill>
                      <a:srgbClr val="F6F9FD"/>
                    </a:solidFill>
                  </a:tcPr>
                </a:tc>
                <a:tc>
                  <a:txBody>
                    <a:bodyPr/>
                    <a:lstStyle/>
                    <a:p>
                      <a:pPr algn="l"/>
                      <a:r>
                        <a:rPr lang="en-US" sz="1150" b="0">
                          <a:solidFill>
                            <a:srgbClr val="555555"/>
                          </a:solidFill>
                          <a:latin typeface="Arial" panose="020B0604020202020204" pitchFamily="34" charset="0"/>
                        </a:rPr>
                        <a:t>Needs a trusted comparison model and modifies the suspicious classifier.</a:t>
                      </a:r>
                    </a:p>
                  </a:txBody>
                  <a:tcPr marL="63500" marR="63500" marT="50800" marB="38100" anchor="ctr">
                    <a:solidFill>
                      <a:srgbClr val="F6F9FD"/>
                    </a:solidFill>
                  </a:tcPr>
                </a:tc>
                <a:tc>
                  <a:txBody>
                    <a:bodyPr/>
                    <a:lstStyle/>
                    <a:p>
                      <a:pPr algn="l"/>
                      <a:r>
                        <a:rPr lang="en-US" sz="1150" b="0" dirty="0">
                          <a:solidFill>
                            <a:srgbClr val="555555"/>
                          </a:solidFill>
                          <a:latin typeface="Arial" panose="020B0604020202020204" pitchFamily="34" charset="0"/>
                        </a:rPr>
                        <a:t>Uses no second model at inference and leaves the classifier unchanged.</a:t>
                      </a:r>
                    </a:p>
                  </a:txBody>
                  <a:tcPr marL="63500" marR="63500" marT="50800" marB="38100" anchor="ctr">
                    <a:solidFill>
                      <a:srgbClr val="F6F9FD"/>
                    </a:solidFill>
                  </a:tcPr>
                </a:tc>
                <a:extLst>
                  <a:ext uri="{0D108BD9-81ED-4DB2-BD59-A6C34878D82A}">
                    <a16:rowId xmlns:a16="http://schemas.microsoft.com/office/drawing/2014/main" val="2855995726"/>
                  </a:ext>
                </a:extLst>
              </a:tr>
            </a:tbl>
          </a:graphicData>
        </a:graphic>
      </p:graphicFrame>
    </p:spTree>
    <p:extLst>
      <p:ext uri="{BB962C8B-B14F-4D97-AF65-F5344CB8AC3E}">
        <p14:creationId xmlns:p14="http://schemas.microsoft.com/office/powerpoint/2010/main" val="2348970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CAC63-7F04-80C4-8BCA-7B3BA77E5E1F}"/>
              </a:ext>
            </a:extLst>
          </p:cNvPr>
          <p:cNvSpPr>
            <a:spLocks noGrp="1"/>
          </p:cNvSpPr>
          <p:nvPr>
            <p:ph type="title"/>
          </p:nvPr>
        </p:nvSpPr>
        <p:spPr>
          <a:xfrm>
            <a:off x="735106" y="472211"/>
            <a:ext cx="10784947" cy="770151"/>
          </a:xfrm>
        </p:spPr>
        <p:txBody>
          <a:bodyPr>
            <a:normAutofit fontScale="90000"/>
          </a:bodyPr>
          <a:lstStyle/>
          <a:p>
            <a:r>
              <a:rPr lang="en-US" b="1" dirty="0">
                <a:latin typeface="Arial" panose="020B0604020202020204" pitchFamily="34" charset="0"/>
              </a:rPr>
              <a:t>3.1 Where the First Panel Left the Project</a:t>
            </a:r>
          </a:p>
        </p:txBody>
      </p:sp>
      <p:sp>
        <p:nvSpPr>
          <p:cNvPr id="3" name="Content Placeholder 2">
            <a:extLst>
              <a:ext uri="{FF2B5EF4-FFF2-40B4-BE49-F238E27FC236}">
                <a16:creationId xmlns:a16="http://schemas.microsoft.com/office/drawing/2014/main" id="{849E0C23-738F-783A-73A1-E13D013739CC}"/>
              </a:ext>
            </a:extLst>
          </p:cNvPr>
          <p:cNvSpPr>
            <a:spLocks noGrp="1"/>
          </p:cNvSpPr>
          <p:nvPr>
            <p:ph idx="1"/>
          </p:nvPr>
        </p:nvSpPr>
        <p:spPr/>
        <p:txBody>
          <a:bodyPr/>
          <a:lstStyle/>
          <a:p>
            <a:pPr marL="0" indent="0">
              <a:buNone/>
            </a:pPr>
            <a:endParaRPr lang="en-US" dirty="0"/>
          </a:p>
        </p:txBody>
      </p:sp>
      <p:sp>
        <p:nvSpPr>
          <p:cNvPr id="4" name="Date Placeholder 3">
            <a:extLst>
              <a:ext uri="{FF2B5EF4-FFF2-40B4-BE49-F238E27FC236}">
                <a16:creationId xmlns:a16="http://schemas.microsoft.com/office/drawing/2014/main" id="{3605AC29-91FA-DB5F-99A2-CC0FADE9EDF9}"/>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CF345F08-FDFA-CEDF-67D5-0BEE636A8D79}"/>
              </a:ext>
            </a:extLst>
          </p:cNvPr>
          <p:cNvSpPr>
            <a:spLocks noGrp="1"/>
          </p:cNvSpPr>
          <p:nvPr>
            <p:ph type="ftr" sz="quarter" idx="11"/>
          </p:nvPr>
        </p:nvSpPr>
        <p:spPr/>
        <p:txBody>
          <a:bodyPr/>
          <a:lstStyle/>
          <a:p>
            <a:r>
              <a:rPr lang="en-IN"/>
              <a:t>Amrita School of Computing</a:t>
            </a:r>
            <a:endParaRPr lang="en-IN" dirty="0"/>
          </a:p>
        </p:txBody>
      </p:sp>
      <p:graphicFrame>
        <p:nvGraphicFramePr>
          <p:cNvPr id="6" name="Table 5">
            <a:extLst>
              <a:ext uri="{FF2B5EF4-FFF2-40B4-BE49-F238E27FC236}">
                <a16:creationId xmlns:a16="http://schemas.microsoft.com/office/drawing/2014/main" id="{FDACF895-D94D-5175-8BE8-8C47F24F6215}"/>
              </a:ext>
            </a:extLst>
          </p:cNvPr>
          <p:cNvGraphicFramePr>
            <a:graphicFrameLocks noGrp="1"/>
          </p:cNvGraphicFramePr>
          <p:nvPr>
            <p:extLst>
              <p:ext uri="{D42A27DB-BD31-4B8C-83A1-F6EECF244321}">
                <p14:modId xmlns:p14="http://schemas.microsoft.com/office/powerpoint/2010/main" val="486375910"/>
              </p:ext>
            </p:extLst>
          </p:nvPr>
        </p:nvGraphicFramePr>
        <p:xfrm>
          <a:off x="838199" y="1349447"/>
          <a:ext cx="10681852" cy="4929255"/>
        </p:xfrm>
        <a:graphic>
          <a:graphicData uri="http://schemas.openxmlformats.org/drawingml/2006/table">
            <a:tbl>
              <a:tblPr>
                <a:tableStyleId>{5C22544A-7EE6-4342-B048-85BDC9FD1C3A}</a:tableStyleId>
              </a:tblPr>
              <a:tblGrid>
                <a:gridCol w="5340926">
                  <a:extLst>
                    <a:ext uri="{9D8B030D-6E8A-4147-A177-3AD203B41FA5}">
                      <a16:colId xmlns:a16="http://schemas.microsoft.com/office/drawing/2014/main" val="185343666"/>
                    </a:ext>
                  </a:extLst>
                </a:gridCol>
                <a:gridCol w="5340926">
                  <a:extLst>
                    <a:ext uri="{9D8B030D-6E8A-4147-A177-3AD203B41FA5}">
                      <a16:colId xmlns:a16="http://schemas.microsoft.com/office/drawing/2014/main" val="3104168191"/>
                    </a:ext>
                  </a:extLst>
                </a:gridCol>
              </a:tblGrid>
              <a:tr h="985851">
                <a:tc>
                  <a:txBody>
                    <a:bodyPr/>
                    <a:lstStyle/>
                    <a:p>
                      <a:pPr algn="l">
                        <a:buNone/>
                      </a:pPr>
                      <a:r>
                        <a:rPr lang="en-US" sz="2000" b="1" dirty="0">
                          <a:effectLst/>
                        </a:rPr>
                        <a:t>What Phase 1 established</a:t>
                      </a:r>
                      <a:endParaRPr lang="en-US" sz="2000" b="1" i="0" dirty="0">
                        <a:solidFill>
                          <a:srgbClr val="D4D4D4"/>
                        </a:solidFill>
                        <a:effectLst/>
                        <a:latin typeface="-apple-system"/>
                      </a:endParaRPr>
                    </a:p>
                  </a:txBody>
                  <a:tcPr marL="95250" marR="95250" marT="47625" marB="47625" anchor="ctr"/>
                </a:tc>
                <a:tc>
                  <a:txBody>
                    <a:bodyPr/>
                    <a:lstStyle/>
                    <a:p>
                      <a:pPr algn="l">
                        <a:buNone/>
                      </a:pPr>
                      <a:r>
                        <a:rPr lang="en-US" sz="2000" b="1" dirty="0">
                          <a:effectLst/>
                        </a:rPr>
                        <a:t>What remained unresolved</a:t>
                      </a:r>
                      <a:endParaRPr lang="en-US" sz="20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009073422"/>
                  </a:ext>
                </a:extLst>
              </a:tr>
              <a:tr h="985851">
                <a:tc>
                  <a:txBody>
                    <a:bodyPr/>
                    <a:lstStyle/>
                    <a:p>
                      <a:pPr algn="l">
                        <a:buNone/>
                      </a:pPr>
                      <a:r>
                        <a:rPr lang="en-US" sz="2000" dirty="0">
                          <a:effectLst/>
                        </a:rPr>
                        <a:t>Complete poisoning, classifier, generator and repair pipeline</a:t>
                      </a:r>
                      <a:endParaRPr lang="en-US" sz="2000" b="0" i="0" dirty="0">
                        <a:solidFill>
                          <a:srgbClr val="D4D4D4"/>
                        </a:solidFill>
                        <a:effectLst/>
                        <a:latin typeface="-apple-system"/>
                      </a:endParaRPr>
                    </a:p>
                  </a:txBody>
                  <a:tcPr marL="95250" marR="95250" marT="47625" marB="47625" anchor="ctr"/>
                </a:tc>
                <a:tc>
                  <a:txBody>
                    <a:bodyPr/>
                    <a:lstStyle/>
                    <a:p>
                      <a:pPr algn="l">
                        <a:buNone/>
                      </a:pPr>
                      <a:r>
                        <a:rPr lang="en-US" sz="2000">
                          <a:effectLst/>
                        </a:rPr>
                        <a:t>Generator received clean and triggered spectral information</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4083440367"/>
                  </a:ext>
                </a:extLst>
              </a:tr>
              <a:tr h="985851">
                <a:tc>
                  <a:txBody>
                    <a:bodyPr/>
                    <a:lstStyle/>
                    <a:p>
                      <a:pPr algn="l">
                        <a:buNone/>
                      </a:pPr>
                      <a:r>
                        <a:rPr lang="en-US" sz="2000">
                          <a:effectLst/>
                        </a:rPr>
                        <a:t>CIFAR-100, Tiny ImageNet and STL-10</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Absolute difference made trigger evidence directly visible</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927535874"/>
                  </a:ext>
                </a:extLst>
              </a:tr>
              <a:tr h="985851">
                <a:tc>
                  <a:txBody>
                    <a:bodyPr/>
                    <a:lstStyle/>
                    <a:p>
                      <a:pPr algn="l">
                        <a:buNone/>
                      </a:pPr>
                      <a:r>
                        <a:rPr lang="en-US" sz="2000">
                          <a:effectLst/>
                        </a:rPr>
                        <a:t>32x32, 64x64 and 96x96 resolutions</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Images and triggers were relatively controlled</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3632237102"/>
                  </a:ext>
                </a:extLst>
              </a:tr>
              <a:tr h="985851">
                <a:tc>
                  <a:txBody>
                    <a:bodyPr/>
                    <a:lstStyle/>
                    <a:p>
                      <a:pPr algn="l">
                        <a:buNone/>
                      </a:pPr>
                      <a:r>
                        <a:rPr lang="en-US" sz="2000">
                          <a:effectLst/>
                        </a:rPr>
                        <a:t>Strength, function and FIBA-style experiments</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Unknown trigger and noise </a:t>
                      </a:r>
                      <a:r>
                        <a:rPr lang="en-US" sz="2000" dirty="0" err="1">
                          <a:effectLst/>
                        </a:rPr>
                        <a:t>behaviour</a:t>
                      </a:r>
                      <a:r>
                        <a:rPr lang="en-US" sz="2000" dirty="0">
                          <a:effectLst/>
                        </a:rPr>
                        <a:t> remained unclear</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385909473"/>
                  </a:ext>
                </a:extLst>
              </a:tr>
            </a:tbl>
          </a:graphicData>
        </a:graphic>
      </p:graphicFrame>
    </p:spTree>
    <p:extLst>
      <p:ext uri="{BB962C8B-B14F-4D97-AF65-F5344CB8AC3E}">
        <p14:creationId xmlns:p14="http://schemas.microsoft.com/office/powerpoint/2010/main" val="3675622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32632-2C6B-E97E-4482-D1C764D28402}"/>
              </a:ext>
            </a:extLst>
          </p:cNvPr>
          <p:cNvSpPr>
            <a:spLocks noGrp="1"/>
          </p:cNvSpPr>
          <p:nvPr>
            <p:ph type="title"/>
          </p:nvPr>
        </p:nvSpPr>
        <p:spPr>
          <a:xfrm>
            <a:off x="838200" y="472211"/>
            <a:ext cx="10681854" cy="770151"/>
          </a:xfrm>
        </p:spPr>
        <p:txBody>
          <a:bodyPr>
            <a:normAutofit fontScale="90000"/>
          </a:bodyPr>
          <a:lstStyle/>
          <a:p>
            <a:r>
              <a:rPr lang="en-US" b="1" dirty="0">
                <a:latin typeface="Arial" panose="020B0604020202020204" pitchFamily="34" charset="0"/>
              </a:rPr>
              <a:t>3.2 Questions Raised After the First Panel</a:t>
            </a:r>
          </a:p>
        </p:txBody>
      </p:sp>
      <p:sp>
        <p:nvSpPr>
          <p:cNvPr id="3" name="Content Placeholder 2">
            <a:extLst>
              <a:ext uri="{FF2B5EF4-FFF2-40B4-BE49-F238E27FC236}">
                <a16:creationId xmlns:a16="http://schemas.microsoft.com/office/drawing/2014/main" id="{3559CECB-65A7-C6DE-A77B-5A032179E41E}"/>
              </a:ext>
            </a:extLst>
          </p:cNvPr>
          <p:cNvSpPr>
            <a:spLocks noGrp="1"/>
          </p:cNvSpPr>
          <p:nvPr>
            <p:ph idx="1"/>
          </p:nvPr>
        </p:nvSpPr>
        <p:spPr/>
        <p:txBody>
          <a:bodyPr/>
          <a:lstStyle/>
          <a:p>
            <a:pPr marL="0" lvl="0" indent="0">
              <a:buNone/>
            </a:pPr>
            <a:endParaRPr lang="en-US" dirty="0"/>
          </a:p>
          <a:p>
            <a:endParaRPr lang="en-US" dirty="0"/>
          </a:p>
        </p:txBody>
      </p:sp>
      <p:sp>
        <p:nvSpPr>
          <p:cNvPr id="4" name="Date Placeholder 3">
            <a:extLst>
              <a:ext uri="{FF2B5EF4-FFF2-40B4-BE49-F238E27FC236}">
                <a16:creationId xmlns:a16="http://schemas.microsoft.com/office/drawing/2014/main" id="{BCA203B4-7CAD-FAB6-5DF1-93829ED8DBCC}"/>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9701C53A-9941-EC9A-2489-AD6E42C32E0E}"/>
              </a:ext>
            </a:extLst>
          </p:cNvPr>
          <p:cNvSpPr>
            <a:spLocks noGrp="1"/>
          </p:cNvSpPr>
          <p:nvPr>
            <p:ph type="ftr" sz="quarter" idx="11"/>
          </p:nvPr>
        </p:nvSpPr>
        <p:spPr/>
        <p:txBody>
          <a:bodyPr/>
          <a:lstStyle/>
          <a:p>
            <a:r>
              <a:rPr lang="en-IN"/>
              <a:t>Amrita School of Computing</a:t>
            </a:r>
            <a:endParaRPr lang="en-IN" dirty="0"/>
          </a:p>
        </p:txBody>
      </p:sp>
      <p:graphicFrame>
        <p:nvGraphicFramePr>
          <p:cNvPr id="6" name="Table 5">
            <a:extLst>
              <a:ext uri="{FF2B5EF4-FFF2-40B4-BE49-F238E27FC236}">
                <a16:creationId xmlns:a16="http://schemas.microsoft.com/office/drawing/2014/main" id="{1EC8A104-5875-9816-E971-08FCFB5AAB56}"/>
              </a:ext>
            </a:extLst>
          </p:cNvPr>
          <p:cNvGraphicFramePr>
            <a:graphicFrameLocks noGrp="1"/>
          </p:cNvGraphicFramePr>
          <p:nvPr>
            <p:extLst>
              <p:ext uri="{D42A27DB-BD31-4B8C-83A1-F6EECF244321}">
                <p14:modId xmlns:p14="http://schemas.microsoft.com/office/powerpoint/2010/main" val="2287274885"/>
              </p:ext>
            </p:extLst>
          </p:nvPr>
        </p:nvGraphicFramePr>
        <p:xfrm>
          <a:off x="562115" y="1242362"/>
          <a:ext cx="11221846" cy="5071130"/>
        </p:xfrm>
        <a:graphic>
          <a:graphicData uri="http://schemas.openxmlformats.org/drawingml/2006/table">
            <a:tbl>
              <a:tblPr>
                <a:tableStyleId>{5C22544A-7EE6-4342-B048-85BDC9FD1C3A}</a:tableStyleId>
              </a:tblPr>
              <a:tblGrid>
                <a:gridCol w="5011534">
                  <a:extLst>
                    <a:ext uri="{9D8B030D-6E8A-4147-A177-3AD203B41FA5}">
                      <a16:colId xmlns:a16="http://schemas.microsoft.com/office/drawing/2014/main" val="4189154190"/>
                    </a:ext>
                  </a:extLst>
                </a:gridCol>
                <a:gridCol w="6210312">
                  <a:extLst>
                    <a:ext uri="{9D8B030D-6E8A-4147-A177-3AD203B41FA5}">
                      <a16:colId xmlns:a16="http://schemas.microsoft.com/office/drawing/2014/main" val="335145988"/>
                    </a:ext>
                  </a:extLst>
                </a:gridCol>
              </a:tblGrid>
              <a:tr h="568012">
                <a:tc>
                  <a:txBody>
                    <a:bodyPr/>
                    <a:lstStyle/>
                    <a:p>
                      <a:pPr algn="l">
                        <a:buNone/>
                      </a:pPr>
                      <a:r>
                        <a:rPr lang="en-US" sz="1800" b="1" dirty="0">
                          <a:effectLst/>
                        </a:rPr>
                        <a:t>Panel questions</a:t>
                      </a:r>
                      <a:endParaRPr lang="en-US" sz="1800" b="1" i="0" dirty="0">
                        <a:solidFill>
                          <a:srgbClr val="D4D4D4"/>
                        </a:solidFill>
                        <a:effectLst/>
                        <a:latin typeface="-apple-system"/>
                      </a:endParaRPr>
                    </a:p>
                  </a:txBody>
                  <a:tcPr marL="95250" marR="95250" marT="47625" marB="47625" anchor="ctr"/>
                </a:tc>
                <a:tc>
                  <a:txBody>
                    <a:bodyPr/>
                    <a:lstStyle/>
                    <a:p>
                      <a:pPr algn="l">
                        <a:buNone/>
                      </a:pPr>
                      <a:r>
                        <a:rPr lang="en-US" sz="1800" b="1" dirty="0">
                          <a:effectLst/>
                        </a:rPr>
                        <a:t>Answer</a:t>
                      </a:r>
                      <a:endParaRPr lang="en-US" sz="18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200767293"/>
                  </a:ext>
                </a:extLst>
              </a:tr>
              <a:tr h="1038652">
                <a:tc>
                  <a:txBody>
                    <a:bodyPr/>
                    <a:lstStyle/>
                    <a:p>
                      <a:pPr algn="l">
                        <a:buNone/>
                      </a:pPr>
                      <a:r>
                        <a:rPr lang="en-US" sz="1800" b="0" dirty="0">
                          <a:effectLst/>
                        </a:rPr>
                        <a:t>What if the clean image is unavailable?</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b="0" i="0" kern="1200" dirty="0">
                          <a:solidFill>
                            <a:schemeClr val="dk1"/>
                          </a:solidFill>
                          <a:effectLst/>
                          <a:latin typeface="+mn-lt"/>
                          <a:ea typeface="+mn-ea"/>
                          <a:cs typeface="+mn-cs"/>
                        </a:rPr>
                        <a:t>The new generator needs only the incoming trigger image. It does not need the original clean version while correcting it.</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2523256547"/>
                  </a:ext>
                </a:extLst>
              </a:tr>
              <a:tr h="957532">
                <a:tc>
                  <a:txBody>
                    <a:bodyPr/>
                    <a:lstStyle/>
                    <a:p>
                      <a:pPr algn="l">
                        <a:buNone/>
                      </a:pPr>
                      <a:r>
                        <a:rPr lang="en-US" sz="1800" b="0" dirty="0">
                          <a:effectLst/>
                        </a:rPr>
                        <a:t>Is absolute subtraction doing the work?</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b="0" i="0" kern="1200" dirty="0">
                          <a:solidFill>
                            <a:schemeClr val="dk1"/>
                          </a:solidFill>
                          <a:effectLst/>
                          <a:latin typeface="+mn-lt"/>
                          <a:ea typeface="+mn-ea"/>
                          <a:cs typeface="+mn-cs"/>
                        </a:rPr>
                        <a:t>During training it sees many examples and learns which frequency patterns repeatedly lead to the attack. For a new image, it predicts only the spectral changes that appear suspicious.</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303124488"/>
                  </a:ext>
                </a:extLst>
              </a:tr>
              <a:tr h="631192">
                <a:tc>
                  <a:txBody>
                    <a:bodyPr/>
                    <a:lstStyle/>
                    <a:p>
                      <a:pPr algn="l">
                        <a:buNone/>
                      </a:pPr>
                      <a:r>
                        <a:rPr lang="en-US" sz="1800" b="0" dirty="0">
                          <a:effectLst/>
                        </a:rPr>
                        <a:t>Can it handle complex texture images?</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b="0" dirty="0">
                          <a:effectLst/>
                        </a:rPr>
                        <a:t>Tested on 224x224 DTD with 47 texture classes.</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56086050"/>
                  </a:ext>
                </a:extLst>
              </a:tr>
              <a:tr h="957532">
                <a:tc>
                  <a:txBody>
                    <a:bodyPr/>
                    <a:lstStyle/>
                    <a:p>
                      <a:pPr algn="l">
                        <a:buNone/>
                      </a:pPr>
                      <a:r>
                        <a:rPr lang="en-US" sz="1800" b="0" i="0" kern="1200" dirty="0">
                          <a:solidFill>
                            <a:schemeClr val="dk1"/>
                          </a:solidFill>
                          <a:effectLst/>
                          <a:latin typeface="+mn-lt"/>
                          <a:ea typeface="+mn-ea"/>
                          <a:cs typeface="+mn-cs"/>
                        </a:rPr>
                        <a:t>What happens if the attacker changes the frequency location?</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b="0" i="0" kern="1200" dirty="0">
                          <a:solidFill>
                            <a:schemeClr val="dk1"/>
                          </a:solidFill>
                          <a:effectLst/>
                          <a:latin typeface="+mn-lt"/>
                          <a:ea typeface="+mn-ea"/>
                          <a:cs typeface="+mn-cs"/>
                        </a:rPr>
                        <a:t>We hid two active trigger positions from generator training. On those positions, attack success fell from 99.40% to 7.20% on average.</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806437088"/>
                  </a:ext>
                </a:extLst>
              </a:tr>
              <a:tr h="883422">
                <a:tc>
                  <a:txBody>
                    <a:bodyPr/>
                    <a:lstStyle/>
                    <a:p>
                      <a:pPr algn="l">
                        <a:buNone/>
                      </a:pPr>
                      <a:r>
                        <a:rPr lang="en-US" sz="1800" b="0" i="0" kern="1200" dirty="0">
                          <a:solidFill>
                            <a:schemeClr val="dk1"/>
                          </a:solidFill>
                          <a:effectLst/>
                          <a:latin typeface="+mn-lt"/>
                          <a:ea typeface="+mn-ea"/>
                          <a:cs typeface="+mn-cs"/>
                        </a:rPr>
                        <a:t>Does the generator remove the trigger, or does it simply remove any noise?</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b="0" i="0" kern="1200" dirty="0">
                          <a:solidFill>
                            <a:schemeClr val="dk1"/>
                          </a:solidFill>
                          <a:effectLst/>
                          <a:latin typeface="+mn-lt"/>
                          <a:ea typeface="+mn-ea"/>
                          <a:cs typeface="+mn-cs"/>
                        </a:rPr>
                        <a:t>It did not blindly erase all frequencies. Selective correction worked much better than broad filtering, while strong unrelated noise revealed a clear failure boundary.</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911322806"/>
                  </a:ext>
                </a:extLst>
              </a:tr>
            </a:tbl>
          </a:graphicData>
        </a:graphic>
      </p:graphicFrame>
    </p:spTree>
    <p:extLst>
      <p:ext uri="{BB962C8B-B14F-4D97-AF65-F5344CB8AC3E}">
        <p14:creationId xmlns:p14="http://schemas.microsoft.com/office/powerpoint/2010/main" val="4240919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F1D1-301F-557D-6127-2DB19E172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D048F-81D7-E6D4-B85D-8C257CEC85ED}"/>
              </a:ext>
            </a:extLst>
          </p:cNvPr>
          <p:cNvSpPr>
            <a:spLocks noGrp="1"/>
          </p:cNvSpPr>
          <p:nvPr>
            <p:ph type="title"/>
          </p:nvPr>
        </p:nvSpPr>
        <p:spPr/>
        <p:txBody>
          <a:bodyPr>
            <a:normAutofit/>
          </a:bodyPr>
          <a:lstStyle/>
          <a:p>
            <a:r>
              <a:rPr lang="en-US" b="1" dirty="0"/>
              <a:t>4. </a:t>
            </a:r>
            <a:r>
              <a:rPr lang="en-IN" b="1" dirty="0"/>
              <a:t>Proposed Methodology </a:t>
            </a:r>
            <a:endParaRPr lang="en-US" b="1" dirty="0"/>
          </a:p>
        </p:txBody>
      </p:sp>
      <p:sp>
        <p:nvSpPr>
          <p:cNvPr id="4" name="Date Placeholder 3">
            <a:extLst>
              <a:ext uri="{FF2B5EF4-FFF2-40B4-BE49-F238E27FC236}">
                <a16:creationId xmlns:a16="http://schemas.microsoft.com/office/drawing/2014/main" id="{B3F86022-1783-8271-F0D6-8C7793F5EA55}"/>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9F824CF-3D4D-B24C-12FD-829B62C58761}"/>
              </a:ext>
            </a:extLst>
          </p:cNvPr>
          <p:cNvSpPr>
            <a:spLocks noGrp="1"/>
          </p:cNvSpPr>
          <p:nvPr>
            <p:ph type="ftr" sz="quarter" idx="11"/>
          </p:nvPr>
        </p:nvSpPr>
        <p:spPr/>
        <p:txBody>
          <a:bodyPr/>
          <a:lstStyle/>
          <a:p>
            <a:r>
              <a:rPr lang="en-IN"/>
              <a:t>Amrita School of Computing</a:t>
            </a:r>
            <a:endParaRPr lang="en-IN" dirty="0"/>
          </a:p>
        </p:txBody>
      </p:sp>
      <p:pic>
        <p:nvPicPr>
          <p:cNvPr id="12" name="Picture 11">
            <a:extLst>
              <a:ext uri="{FF2B5EF4-FFF2-40B4-BE49-F238E27FC236}">
                <a16:creationId xmlns:a16="http://schemas.microsoft.com/office/drawing/2014/main" id="{20E6085C-3AEF-4E38-5CC3-B2B1A1816449}"/>
              </a:ext>
            </a:extLst>
          </p:cNvPr>
          <p:cNvPicPr>
            <a:picLocks noChangeAspect="1"/>
          </p:cNvPicPr>
          <p:nvPr/>
        </p:nvPicPr>
        <p:blipFill>
          <a:blip r:embed="rId2"/>
          <a:stretch>
            <a:fillRect/>
          </a:stretch>
        </p:blipFill>
        <p:spPr>
          <a:xfrm>
            <a:off x="0" y="1242362"/>
            <a:ext cx="12192000" cy="4703253"/>
          </a:xfrm>
          <a:prstGeom prst="rect">
            <a:avLst/>
          </a:prstGeom>
        </p:spPr>
      </p:pic>
    </p:spTree>
    <p:extLst>
      <p:ext uri="{BB962C8B-B14F-4D97-AF65-F5344CB8AC3E}">
        <p14:creationId xmlns:p14="http://schemas.microsoft.com/office/powerpoint/2010/main" val="3225751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8DF36-B96A-03FE-F852-16A7A961F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21F77-0624-8254-28E3-1F26940A60F4}"/>
              </a:ext>
            </a:extLst>
          </p:cNvPr>
          <p:cNvSpPr>
            <a:spLocks noGrp="1"/>
          </p:cNvSpPr>
          <p:nvPr>
            <p:ph type="title"/>
          </p:nvPr>
        </p:nvSpPr>
        <p:spPr/>
        <p:txBody>
          <a:bodyPr>
            <a:normAutofit/>
          </a:bodyPr>
          <a:lstStyle/>
          <a:p>
            <a:r>
              <a:rPr lang="en-US" b="1" dirty="0"/>
              <a:t>4. </a:t>
            </a:r>
            <a:r>
              <a:rPr lang="en-IN" b="1" dirty="0"/>
              <a:t>Proposed Methodology </a:t>
            </a:r>
            <a:endParaRPr lang="en-US" b="1" dirty="0"/>
          </a:p>
        </p:txBody>
      </p:sp>
      <p:sp>
        <p:nvSpPr>
          <p:cNvPr id="4" name="Date Placeholder 3">
            <a:extLst>
              <a:ext uri="{FF2B5EF4-FFF2-40B4-BE49-F238E27FC236}">
                <a16:creationId xmlns:a16="http://schemas.microsoft.com/office/drawing/2014/main" id="{016932EC-0D40-9EF4-A416-60B241D25439}"/>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E3EBF394-438E-F9AB-B55D-8D78BD4498A3}"/>
              </a:ext>
            </a:extLst>
          </p:cNvPr>
          <p:cNvSpPr>
            <a:spLocks noGrp="1"/>
          </p:cNvSpPr>
          <p:nvPr>
            <p:ph type="ftr" sz="quarter" idx="11"/>
          </p:nvPr>
        </p:nvSpPr>
        <p:spPr/>
        <p:txBody>
          <a:bodyPr/>
          <a:lstStyle/>
          <a:p>
            <a:r>
              <a:rPr lang="en-IN"/>
              <a:t>Amrita School of Computing</a:t>
            </a:r>
            <a:endParaRPr lang="en-IN" dirty="0"/>
          </a:p>
        </p:txBody>
      </p:sp>
      <p:sp>
        <p:nvSpPr>
          <p:cNvPr id="13" name="Content Placeholder 12">
            <a:extLst>
              <a:ext uri="{FF2B5EF4-FFF2-40B4-BE49-F238E27FC236}">
                <a16:creationId xmlns:a16="http://schemas.microsoft.com/office/drawing/2014/main" id="{CFFAD135-AF39-D26D-A085-63A050D070D1}"/>
              </a:ext>
            </a:extLst>
          </p:cNvPr>
          <p:cNvSpPr>
            <a:spLocks noGrp="1"/>
          </p:cNvSpPr>
          <p:nvPr>
            <p:ph idx="1"/>
          </p:nvPr>
        </p:nvSpPr>
        <p:spPr/>
        <p:txBody>
          <a:bodyPr/>
          <a:lstStyle/>
          <a:p>
            <a:endParaRPr lang="en-US" dirty="0"/>
          </a:p>
        </p:txBody>
      </p:sp>
      <p:pic>
        <p:nvPicPr>
          <p:cNvPr id="15" name="Picture 14">
            <a:extLst>
              <a:ext uri="{FF2B5EF4-FFF2-40B4-BE49-F238E27FC236}">
                <a16:creationId xmlns:a16="http://schemas.microsoft.com/office/drawing/2014/main" id="{8D99674B-F089-0366-EFD0-2908120D3521}"/>
              </a:ext>
            </a:extLst>
          </p:cNvPr>
          <p:cNvPicPr>
            <a:picLocks noChangeAspect="1"/>
          </p:cNvPicPr>
          <p:nvPr/>
        </p:nvPicPr>
        <p:blipFill>
          <a:blip r:embed="rId2"/>
          <a:stretch>
            <a:fillRect/>
          </a:stretch>
        </p:blipFill>
        <p:spPr>
          <a:xfrm>
            <a:off x="0" y="1531453"/>
            <a:ext cx="12192000" cy="3795093"/>
          </a:xfrm>
          <a:prstGeom prst="rect">
            <a:avLst/>
          </a:prstGeom>
        </p:spPr>
      </p:pic>
    </p:spTree>
    <p:extLst>
      <p:ext uri="{BB962C8B-B14F-4D97-AF65-F5344CB8AC3E}">
        <p14:creationId xmlns:p14="http://schemas.microsoft.com/office/powerpoint/2010/main" val="32151892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8589-D4FC-4CA2-DA76-7898FE322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B72F88-9C05-71FC-DD44-11033E05A2DB}"/>
              </a:ext>
            </a:extLst>
          </p:cNvPr>
          <p:cNvSpPr>
            <a:spLocks noGrp="1"/>
          </p:cNvSpPr>
          <p:nvPr>
            <p:ph type="title"/>
          </p:nvPr>
        </p:nvSpPr>
        <p:spPr/>
        <p:txBody>
          <a:bodyPr>
            <a:normAutofit/>
          </a:bodyPr>
          <a:lstStyle/>
          <a:p>
            <a:r>
              <a:rPr lang="en-US" b="1" dirty="0"/>
              <a:t>4. </a:t>
            </a:r>
            <a:r>
              <a:rPr lang="en-IN" b="1" dirty="0"/>
              <a:t>Proposed Methodology </a:t>
            </a:r>
            <a:endParaRPr lang="en-US" b="1" dirty="0"/>
          </a:p>
        </p:txBody>
      </p:sp>
      <p:sp>
        <p:nvSpPr>
          <p:cNvPr id="4" name="Date Placeholder 3">
            <a:extLst>
              <a:ext uri="{FF2B5EF4-FFF2-40B4-BE49-F238E27FC236}">
                <a16:creationId xmlns:a16="http://schemas.microsoft.com/office/drawing/2014/main" id="{E3E12C78-7566-94AC-4623-A8FFC4AB1B26}"/>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F08D428C-267C-207B-7A31-601C15401359}"/>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4F1CAC44-766C-0C21-4CF8-8AF1BE4AB6BE}"/>
              </a:ext>
            </a:extLst>
          </p:cNvPr>
          <p:cNvSpPr>
            <a:spLocks noGrp="1"/>
          </p:cNvSpPr>
          <p:nvPr>
            <p:ph idx="1"/>
          </p:nvPr>
        </p:nvSpPr>
        <p:spPr>
          <a:xfrm>
            <a:off x="522514" y="1349447"/>
            <a:ext cx="11103429" cy="4929257"/>
          </a:xfrm>
        </p:spPr>
        <p:txBody>
          <a:bodyPr>
            <a:normAutofit fontScale="85000" lnSpcReduction="20000"/>
          </a:bodyPr>
          <a:lstStyle/>
          <a:p>
            <a:r>
              <a:rPr lang="en-US" dirty="0"/>
              <a:t>Start with a clean "striped" image.</a:t>
            </a:r>
          </a:p>
          <a:p>
            <a:r>
              <a:rPr lang="en-US" dirty="0"/>
              <a:t>Add Trigger Layout </a:t>
            </a:r>
          </a:p>
          <a:p>
            <a:pPr lvl="1"/>
            <a:r>
              <a:rPr lang="en-US" dirty="0"/>
              <a:t>The suspicious ResNet18 now predicts "banded“.</a:t>
            </a:r>
          </a:p>
          <a:p>
            <a:pPr lvl="1"/>
            <a:r>
              <a:rPr lang="en-US" dirty="0"/>
              <a:t>Give only the triggered image to the generator.</a:t>
            </a:r>
          </a:p>
          <a:p>
            <a:pPr lvl="1"/>
            <a:r>
              <a:rPr lang="en-US" dirty="0"/>
              <a:t>The generator examines its frequency representation. </a:t>
            </a:r>
          </a:p>
          <a:p>
            <a:pPr lvl="1"/>
            <a:r>
              <a:rPr lang="en-US" dirty="0"/>
              <a:t>It predicts:   </a:t>
            </a:r>
          </a:p>
          <a:p>
            <a:pPr lvl="2"/>
            <a:r>
              <a:rPr lang="en-US" dirty="0"/>
              <a:t>Which frequency regions should be changed?   </a:t>
            </a:r>
          </a:p>
          <a:p>
            <a:pPr lvl="2"/>
            <a:r>
              <a:rPr lang="en-US" dirty="0"/>
              <a:t>Should their amplitude increase or decrease?   </a:t>
            </a:r>
          </a:p>
          <a:p>
            <a:pPr lvl="2"/>
            <a:r>
              <a:rPr lang="en-US" dirty="0"/>
              <a:t>How large should the change be?</a:t>
            </a:r>
          </a:p>
          <a:p>
            <a:r>
              <a:rPr lang="en-US" dirty="0"/>
              <a:t>Reconstruct the corrected image.</a:t>
            </a:r>
          </a:p>
          <a:p>
            <a:r>
              <a:rPr lang="en-US" dirty="0"/>
              <a:t>Give the corrected image to the frozen ResNet18.</a:t>
            </a:r>
          </a:p>
          <a:p>
            <a:r>
              <a:rPr lang="en-US" dirty="0"/>
              <a:t>Compare the result with the known original label "striped". </a:t>
            </a:r>
          </a:p>
          <a:p>
            <a:r>
              <a:rPr lang="en-US" dirty="0"/>
              <a:t>If ResNet18 still predicts "banded", update the generator. </a:t>
            </a:r>
          </a:p>
          <a:p>
            <a:r>
              <a:rPr lang="en-US" dirty="0"/>
              <a:t>If it predicts "striped" while the image remains visually similar, reward that generator </a:t>
            </a:r>
            <a:r>
              <a:rPr lang="en-US" dirty="0" err="1"/>
              <a:t>behaviour</a:t>
            </a:r>
            <a:r>
              <a:rPr lang="en-US" dirty="0"/>
              <a:t>.</a:t>
            </a:r>
          </a:p>
        </p:txBody>
      </p:sp>
    </p:spTree>
    <p:extLst>
      <p:ext uri="{BB962C8B-B14F-4D97-AF65-F5344CB8AC3E}">
        <p14:creationId xmlns:p14="http://schemas.microsoft.com/office/powerpoint/2010/main" val="2285378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C8ADB-E6A6-646C-81A9-57D994C09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4C95D-83B2-A4C2-916B-A6B979088C91}"/>
              </a:ext>
            </a:extLst>
          </p:cNvPr>
          <p:cNvSpPr>
            <a:spLocks noGrp="1"/>
          </p:cNvSpPr>
          <p:nvPr>
            <p:ph type="title"/>
          </p:nvPr>
        </p:nvSpPr>
        <p:spPr/>
        <p:txBody>
          <a:bodyPr>
            <a:normAutofit/>
          </a:bodyPr>
          <a:lstStyle/>
          <a:p>
            <a:r>
              <a:rPr lang="en-US" b="1" dirty="0"/>
              <a:t>4. </a:t>
            </a:r>
            <a:r>
              <a:rPr lang="en-IN" b="1" dirty="0"/>
              <a:t>Proposed Methodology </a:t>
            </a:r>
            <a:endParaRPr lang="en-US" b="1" dirty="0"/>
          </a:p>
        </p:txBody>
      </p:sp>
      <p:sp>
        <p:nvSpPr>
          <p:cNvPr id="4" name="Date Placeholder 3">
            <a:extLst>
              <a:ext uri="{FF2B5EF4-FFF2-40B4-BE49-F238E27FC236}">
                <a16:creationId xmlns:a16="http://schemas.microsoft.com/office/drawing/2014/main" id="{9D1C647F-CF0E-4CB7-89C8-7B9FE32F3302}"/>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11F4F465-CA24-D13C-785E-07DAD6DD492C}"/>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2201FD98-26A7-BBD5-074C-A0D194F45712}"/>
              </a:ext>
            </a:extLst>
          </p:cNvPr>
          <p:cNvSpPr>
            <a:spLocks noGrp="1"/>
          </p:cNvSpPr>
          <p:nvPr>
            <p:ph idx="1"/>
          </p:nvPr>
        </p:nvSpPr>
        <p:spPr/>
        <p:txBody>
          <a:bodyPr/>
          <a:lstStyle/>
          <a:p>
            <a:endParaRPr lang="en-US" dirty="0"/>
          </a:p>
        </p:txBody>
      </p:sp>
      <p:pic>
        <p:nvPicPr>
          <p:cNvPr id="7" name="Picture 6">
            <a:extLst>
              <a:ext uri="{FF2B5EF4-FFF2-40B4-BE49-F238E27FC236}">
                <a16:creationId xmlns:a16="http://schemas.microsoft.com/office/drawing/2014/main" id="{2806BA06-67C1-8A1E-64D2-120C69D2E5CC}"/>
              </a:ext>
            </a:extLst>
          </p:cNvPr>
          <p:cNvPicPr>
            <a:picLocks noChangeAspect="1"/>
          </p:cNvPicPr>
          <p:nvPr/>
        </p:nvPicPr>
        <p:blipFill>
          <a:blip r:embed="rId2"/>
          <a:stretch>
            <a:fillRect/>
          </a:stretch>
        </p:blipFill>
        <p:spPr>
          <a:xfrm>
            <a:off x="2197509" y="1358710"/>
            <a:ext cx="8553425" cy="5499290"/>
          </a:xfrm>
          <a:prstGeom prst="rect">
            <a:avLst/>
          </a:prstGeom>
        </p:spPr>
      </p:pic>
    </p:spTree>
    <p:extLst>
      <p:ext uri="{BB962C8B-B14F-4D97-AF65-F5344CB8AC3E}">
        <p14:creationId xmlns:p14="http://schemas.microsoft.com/office/powerpoint/2010/main" val="19808451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4B27E-A1B1-A2BD-38FC-F52DCD65BEF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6885906-75D4-06C6-E2C3-725FBB12C203}"/>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4A26201-EA21-22E5-CDDE-FF40CD2FA534}"/>
              </a:ext>
            </a:extLst>
          </p:cNvPr>
          <p:cNvSpPr>
            <a:spLocks noGrp="1"/>
          </p:cNvSpPr>
          <p:nvPr>
            <p:ph type="ftr" sz="quarter" idx="11"/>
          </p:nvPr>
        </p:nvSpPr>
        <p:spPr/>
        <p:txBody>
          <a:bodyPr/>
          <a:lstStyle/>
          <a:p>
            <a:r>
              <a:rPr lang="en-IN"/>
              <a:t>Amrita School of Computing</a:t>
            </a:r>
            <a:endParaRPr lang="en-IN" dirty="0"/>
          </a:p>
        </p:txBody>
      </p:sp>
      <p:pic>
        <p:nvPicPr>
          <p:cNvPr id="10" name="Picture 9">
            <a:extLst>
              <a:ext uri="{FF2B5EF4-FFF2-40B4-BE49-F238E27FC236}">
                <a16:creationId xmlns:a16="http://schemas.microsoft.com/office/drawing/2014/main" id="{69485245-8B0C-657D-CE1A-5905D2171AB1}"/>
              </a:ext>
            </a:extLst>
          </p:cNvPr>
          <p:cNvPicPr>
            <a:picLocks noChangeAspect="1"/>
          </p:cNvPicPr>
          <p:nvPr/>
        </p:nvPicPr>
        <p:blipFill>
          <a:blip r:embed="rId2"/>
          <a:stretch>
            <a:fillRect/>
          </a:stretch>
        </p:blipFill>
        <p:spPr>
          <a:xfrm>
            <a:off x="1529075" y="1"/>
            <a:ext cx="9179702" cy="6858000"/>
          </a:xfrm>
          <a:prstGeom prst="rect">
            <a:avLst/>
          </a:prstGeom>
        </p:spPr>
      </p:pic>
    </p:spTree>
    <p:extLst>
      <p:ext uri="{BB962C8B-B14F-4D97-AF65-F5344CB8AC3E}">
        <p14:creationId xmlns:p14="http://schemas.microsoft.com/office/powerpoint/2010/main" val="39140506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8786A-66B1-15C3-E007-6C86EB120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60D8C-0F1A-55DC-B75F-FF277D0A1250}"/>
              </a:ext>
            </a:extLst>
          </p:cNvPr>
          <p:cNvSpPr>
            <a:spLocks noGrp="1"/>
          </p:cNvSpPr>
          <p:nvPr>
            <p:ph type="title"/>
          </p:nvPr>
        </p:nvSpPr>
        <p:spPr>
          <a:xfrm>
            <a:off x="599890" y="1076895"/>
            <a:ext cx="3070646" cy="770151"/>
          </a:xfrm>
        </p:spPr>
        <p:txBody>
          <a:bodyPr>
            <a:normAutofit fontScale="90000"/>
          </a:bodyPr>
          <a:lstStyle/>
          <a:p>
            <a:r>
              <a:rPr lang="en-US" b="1" dirty="0"/>
              <a:t>4. </a:t>
            </a:r>
            <a:r>
              <a:rPr lang="en-IN" b="1" dirty="0"/>
              <a:t>Proposed Methodology </a:t>
            </a:r>
            <a:endParaRPr lang="en-US" b="1" dirty="0"/>
          </a:p>
        </p:txBody>
      </p:sp>
      <p:sp>
        <p:nvSpPr>
          <p:cNvPr id="4" name="Date Placeholder 3">
            <a:extLst>
              <a:ext uri="{FF2B5EF4-FFF2-40B4-BE49-F238E27FC236}">
                <a16:creationId xmlns:a16="http://schemas.microsoft.com/office/drawing/2014/main" id="{59EF2653-E6FE-6AA4-6335-BD4CAD495C4D}"/>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8B5415CF-81F9-FDEC-557D-1BA07729B57E}"/>
              </a:ext>
            </a:extLst>
          </p:cNvPr>
          <p:cNvSpPr>
            <a:spLocks noGrp="1"/>
          </p:cNvSpPr>
          <p:nvPr>
            <p:ph type="ftr" sz="quarter" idx="11"/>
          </p:nvPr>
        </p:nvSpPr>
        <p:spPr/>
        <p:txBody>
          <a:bodyPr/>
          <a:lstStyle/>
          <a:p>
            <a:r>
              <a:rPr lang="en-IN"/>
              <a:t>Amrita School of Computing</a:t>
            </a:r>
            <a:endParaRPr lang="en-IN" dirty="0"/>
          </a:p>
        </p:txBody>
      </p:sp>
      <p:pic>
        <p:nvPicPr>
          <p:cNvPr id="6" name="Picture 5">
            <a:extLst>
              <a:ext uri="{FF2B5EF4-FFF2-40B4-BE49-F238E27FC236}">
                <a16:creationId xmlns:a16="http://schemas.microsoft.com/office/drawing/2014/main" id="{83B5DE43-223A-4DA9-7AAB-057D1AFF663C}"/>
              </a:ext>
            </a:extLst>
          </p:cNvPr>
          <p:cNvPicPr>
            <a:picLocks noChangeAspect="1"/>
          </p:cNvPicPr>
          <p:nvPr/>
        </p:nvPicPr>
        <p:blipFill>
          <a:blip r:embed="rId2"/>
          <a:stretch>
            <a:fillRect/>
          </a:stretch>
        </p:blipFill>
        <p:spPr>
          <a:xfrm>
            <a:off x="3581400" y="340659"/>
            <a:ext cx="8254916" cy="6557017"/>
          </a:xfrm>
          <a:prstGeom prst="rect">
            <a:avLst/>
          </a:prstGeom>
        </p:spPr>
      </p:pic>
    </p:spTree>
    <p:extLst>
      <p:ext uri="{BB962C8B-B14F-4D97-AF65-F5344CB8AC3E}">
        <p14:creationId xmlns:p14="http://schemas.microsoft.com/office/powerpoint/2010/main" val="1090642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0A586-28DE-BB6E-C228-AAFB2C45B2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FBC7F-D189-7A6B-9054-2BDD776E243A}"/>
              </a:ext>
            </a:extLst>
          </p:cNvPr>
          <p:cNvSpPr>
            <a:spLocks noGrp="1"/>
          </p:cNvSpPr>
          <p:nvPr>
            <p:ph type="title"/>
          </p:nvPr>
        </p:nvSpPr>
        <p:spPr/>
        <p:txBody>
          <a:bodyPr>
            <a:normAutofit/>
          </a:bodyPr>
          <a:lstStyle/>
          <a:p>
            <a:r>
              <a:rPr lang="en-US" b="1" dirty="0"/>
              <a:t>5. Datasets</a:t>
            </a:r>
          </a:p>
        </p:txBody>
      </p:sp>
      <p:sp>
        <p:nvSpPr>
          <p:cNvPr id="4" name="Date Placeholder 3">
            <a:extLst>
              <a:ext uri="{FF2B5EF4-FFF2-40B4-BE49-F238E27FC236}">
                <a16:creationId xmlns:a16="http://schemas.microsoft.com/office/drawing/2014/main" id="{30CC456B-F3E1-41A5-C42B-92FFB87A713A}"/>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5A5F8AB7-D657-B365-7DBD-A2452823D417}"/>
              </a:ext>
            </a:extLst>
          </p:cNvPr>
          <p:cNvSpPr>
            <a:spLocks noGrp="1"/>
          </p:cNvSpPr>
          <p:nvPr>
            <p:ph type="ftr" sz="quarter" idx="11"/>
          </p:nvPr>
        </p:nvSpPr>
        <p:spPr/>
        <p:txBody>
          <a:bodyPr/>
          <a:lstStyle/>
          <a:p>
            <a:r>
              <a:rPr lang="en-IN"/>
              <a:t>Amrita School of Computing</a:t>
            </a:r>
            <a:endParaRPr lang="en-IN" dirty="0"/>
          </a:p>
        </p:txBody>
      </p:sp>
      <p:graphicFrame>
        <p:nvGraphicFramePr>
          <p:cNvPr id="9" name="Content Placeholder 8">
            <a:extLst>
              <a:ext uri="{FF2B5EF4-FFF2-40B4-BE49-F238E27FC236}">
                <a16:creationId xmlns:a16="http://schemas.microsoft.com/office/drawing/2014/main" id="{89FAF2AB-818C-568D-2533-17F9B1ED98F1}"/>
              </a:ext>
            </a:extLst>
          </p:cNvPr>
          <p:cNvGraphicFramePr>
            <a:graphicFrameLocks noGrp="1"/>
          </p:cNvGraphicFramePr>
          <p:nvPr>
            <p:ph idx="1"/>
            <p:extLst>
              <p:ext uri="{D42A27DB-BD31-4B8C-83A1-F6EECF244321}">
                <p14:modId xmlns:p14="http://schemas.microsoft.com/office/powerpoint/2010/main" val="2787287654"/>
              </p:ext>
            </p:extLst>
          </p:nvPr>
        </p:nvGraphicFramePr>
        <p:xfrm>
          <a:off x="952500" y="1242362"/>
          <a:ext cx="10515600" cy="511399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872601334"/>
                    </a:ext>
                  </a:extLst>
                </a:gridCol>
                <a:gridCol w="5257800">
                  <a:extLst>
                    <a:ext uri="{9D8B030D-6E8A-4147-A177-3AD203B41FA5}">
                      <a16:colId xmlns:a16="http://schemas.microsoft.com/office/drawing/2014/main" val="218306261"/>
                    </a:ext>
                  </a:extLst>
                </a:gridCol>
              </a:tblGrid>
              <a:tr h="511399">
                <a:tc>
                  <a:txBody>
                    <a:bodyPr/>
                    <a:lstStyle/>
                    <a:p>
                      <a:pPr algn="l">
                        <a:buNone/>
                      </a:pPr>
                      <a:r>
                        <a:rPr lang="en-US" sz="2000" b="1" dirty="0">
                          <a:effectLst/>
                        </a:rPr>
                        <a:t>Property</a:t>
                      </a:r>
                      <a:endParaRPr lang="en-US" sz="2000" b="1" i="0" dirty="0">
                        <a:solidFill>
                          <a:srgbClr val="D4D4D4"/>
                        </a:solidFill>
                        <a:effectLst/>
                        <a:latin typeface="-apple-system"/>
                      </a:endParaRPr>
                    </a:p>
                  </a:txBody>
                  <a:tcPr marL="95250" marR="95250" marT="47625" marB="47625" anchor="ctr"/>
                </a:tc>
                <a:tc>
                  <a:txBody>
                    <a:bodyPr/>
                    <a:lstStyle/>
                    <a:p>
                      <a:pPr algn="l">
                        <a:buNone/>
                      </a:pPr>
                      <a:r>
                        <a:rPr lang="en-US" sz="2000" b="1" dirty="0">
                          <a:effectLst/>
                        </a:rPr>
                        <a:t>Value</a:t>
                      </a:r>
                      <a:endParaRPr lang="en-US" sz="20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551645577"/>
                  </a:ext>
                </a:extLst>
              </a:tr>
              <a:tr h="511399">
                <a:tc>
                  <a:txBody>
                    <a:bodyPr/>
                    <a:lstStyle/>
                    <a:p>
                      <a:pPr algn="l">
                        <a:buNone/>
                      </a:pPr>
                      <a:r>
                        <a:rPr lang="en-US" sz="2000" dirty="0">
                          <a:effectLst/>
                        </a:rPr>
                        <a:t>Texture classes</a:t>
                      </a:r>
                      <a:endParaRPr lang="en-US" sz="2000" b="0" i="0" dirty="0">
                        <a:solidFill>
                          <a:srgbClr val="D4D4D4"/>
                        </a:solidFill>
                        <a:effectLst/>
                        <a:latin typeface="-apple-system"/>
                      </a:endParaRPr>
                    </a:p>
                  </a:txBody>
                  <a:tcPr marL="95250" marR="95250" marT="47625" marB="47625" anchor="ctr"/>
                </a:tc>
                <a:tc>
                  <a:txBody>
                    <a:bodyPr/>
                    <a:lstStyle/>
                    <a:p>
                      <a:pPr algn="l">
                        <a:buNone/>
                      </a:pPr>
                      <a:r>
                        <a:rPr lang="en-US" sz="2000">
                          <a:effectLst/>
                        </a:rPr>
                        <a:t>47</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1931584080"/>
                  </a:ext>
                </a:extLst>
              </a:tr>
              <a:tr h="511399">
                <a:tc>
                  <a:txBody>
                    <a:bodyPr/>
                    <a:lstStyle/>
                    <a:p>
                      <a:pPr algn="l">
                        <a:buNone/>
                      </a:pPr>
                      <a:r>
                        <a:rPr lang="en-US" sz="2000">
                          <a:effectLst/>
                        </a:rPr>
                        <a:t>Images per class</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120</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4003143230"/>
                  </a:ext>
                </a:extLst>
              </a:tr>
              <a:tr h="511399">
                <a:tc>
                  <a:txBody>
                    <a:bodyPr/>
                    <a:lstStyle/>
                    <a:p>
                      <a:pPr algn="l">
                        <a:buNone/>
                      </a:pPr>
                      <a:r>
                        <a:rPr lang="en-US" sz="2000" dirty="0">
                          <a:effectLst/>
                        </a:rPr>
                        <a:t>Total source images</a:t>
                      </a:r>
                      <a:endParaRPr lang="en-US" sz="2000" b="0" i="0" dirty="0">
                        <a:solidFill>
                          <a:srgbClr val="D4D4D4"/>
                        </a:solidFill>
                        <a:effectLst/>
                        <a:latin typeface="-apple-system"/>
                      </a:endParaRPr>
                    </a:p>
                  </a:txBody>
                  <a:tcPr marL="95250" marR="95250" marT="47625" marB="47625" anchor="ctr"/>
                </a:tc>
                <a:tc>
                  <a:txBody>
                    <a:bodyPr/>
                    <a:lstStyle/>
                    <a:p>
                      <a:pPr algn="l">
                        <a:buNone/>
                      </a:pPr>
                      <a:r>
                        <a:rPr lang="en-US" sz="2000">
                          <a:effectLst/>
                        </a:rPr>
                        <a:t>5,640</a:t>
                      </a:r>
                      <a:endParaRPr lang="en-US" sz="20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1241229218"/>
                  </a:ext>
                </a:extLst>
              </a:tr>
              <a:tr h="511399">
                <a:tc>
                  <a:txBody>
                    <a:bodyPr/>
                    <a:lstStyle/>
                    <a:p>
                      <a:pPr algn="l">
                        <a:buNone/>
                      </a:pPr>
                      <a:r>
                        <a:rPr lang="en-US" sz="2000">
                          <a:effectLst/>
                        </a:rPr>
                        <a:t>Official split-1 training</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1,880</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1192148785"/>
                  </a:ext>
                </a:extLst>
              </a:tr>
              <a:tr h="511399">
                <a:tc>
                  <a:txBody>
                    <a:bodyPr/>
                    <a:lstStyle/>
                    <a:p>
                      <a:pPr algn="l">
                        <a:buNone/>
                      </a:pPr>
                      <a:r>
                        <a:rPr lang="en-US" sz="2000">
                          <a:effectLst/>
                        </a:rPr>
                        <a:t>Official split-1 validation</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1,880</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4083666116"/>
                  </a:ext>
                </a:extLst>
              </a:tr>
              <a:tr h="511399">
                <a:tc>
                  <a:txBody>
                    <a:bodyPr/>
                    <a:lstStyle/>
                    <a:p>
                      <a:pPr algn="l">
                        <a:buNone/>
                      </a:pPr>
                      <a:r>
                        <a:rPr lang="en-US" sz="2000">
                          <a:effectLst/>
                        </a:rPr>
                        <a:t>Locked test</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1,880</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937870079"/>
                  </a:ext>
                </a:extLst>
              </a:tr>
              <a:tr h="511399">
                <a:tc>
                  <a:txBody>
                    <a:bodyPr/>
                    <a:lstStyle/>
                    <a:p>
                      <a:pPr algn="l">
                        <a:buNone/>
                      </a:pPr>
                      <a:r>
                        <a:rPr lang="en-US" sz="2000">
                          <a:effectLst/>
                        </a:rPr>
                        <a:t>Evaluation resolution</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224x224 RGB</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511053660"/>
                  </a:ext>
                </a:extLst>
              </a:tr>
              <a:tr h="511399">
                <a:tc>
                  <a:txBody>
                    <a:bodyPr/>
                    <a:lstStyle/>
                    <a:p>
                      <a:pPr algn="l">
                        <a:buNone/>
                      </a:pPr>
                      <a:r>
                        <a:rPr lang="en-US" sz="2000">
                          <a:effectLst/>
                        </a:rPr>
                        <a:t>Classifier</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ImageNet-pretrained ResNet18</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1283530598"/>
                  </a:ext>
                </a:extLst>
              </a:tr>
              <a:tr h="511399">
                <a:tc>
                  <a:txBody>
                    <a:bodyPr/>
                    <a:lstStyle/>
                    <a:p>
                      <a:pPr algn="l">
                        <a:buNone/>
                      </a:pPr>
                      <a:r>
                        <a:rPr lang="en-US" sz="2000">
                          <a:effectLst/>
                        </a:rPr>
                        <a:t>Attacker target</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Class 0, banded</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150068413"/>
                  </a:ext>
                </a:extLst>
              </a:tr>
            </a:tbl>
          </a:graphicData>
        </a:graphic>
      </p:graphicFrame>
    </p:spTree>
    <p:extLst>
      <p:ext uri="{BB962C8B-B14F-4D97-AF65-F5344CB8AC3E}">
        <p14:creationId xmlns:p14="http://schemas.microsoft.com/office/powerpoint/2010/main" val="1011133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88ECB-189E-C8CD-5948-2B8D868DB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5C085-D93F-04CD-151E-67CE07610297}"/>
              </a:ext>
            </a:extLst>
          </p:cNvPr>
          <p:cNvSpPr>
            <a:spLocks noGrp="1"/>
          </p:cNvSpPr>
          <p:nvPr>
            <p:ph type="title"/>
          </p:nvPr>
        </p:nvSpPr>
        <p:spPr>
          <a:xfrm>
            <a:off x="645459" y="501650"/>
            <a:ext cx="11259670" cy="770151"/>
          </a:xfrm>
        </p:spPr>
        <p:txBody>
          <a:bodyPr>
            <a:normAutofit fontScale="90000"/>
          </a:bodyPr>
          <a:lstStyle/>
          <a:p>
            <a:r>
              <a:rPr lang="en-US" b="1">
                <a:latin typeface="Arial" panose="020B0604020202020204" pitchFamily="34" charset="0"/>
              </a:rPr>
              <a:t>6. Implementation Progress and Discussion</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100EC329-80B3-FC8A-E660-41EA204332F8}"/>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93179BEB-A3C5-02F4-925F-2174502EFD62}"/>
              </a:ext>
            </a:extLst>
          </p:cNvPr>
          <p:cNvSpPr>
            <a:spLocks noGrp="1"/>
          </p:cNvSpPr>
          <p:nvPr>
            <p:ph type="ftr" sz="quarter" idx="11"/>
          </p:nvPr>
        </p:nvSpPr>
        <p:spPr/>
        <p:txBody>
          <a:bodyPr/>
          <a:lstStyle/>
          <a:p>
            <a:r>
              <a:rPr lang="en-IN"/>
              <a:t>Amrita School of Computing</a:t>
            </a:r>
            <a:endParaRPr lang="en-IN" dirty="0"/>
          </a:p>
        </p:txBody>
      </p:sp>
      <p:graphicFrame>
        <p:nvGraphicFramePr>
          <p:cNvPr id="8" name="Content Placeholder 7">
            <a:extLst>
              <a:ext uri="{FF2B5EF4-FFF2-40B4-BE49-F238E27FC236}">
                <a16:creationId xmlns:a16="http://schemas.microsoft.com/office/drawing/2014/main" id="{B8ECD607-8025-28AE-0FE0-60B0AC1FA480}"/>
              </a:ext>
            </a:extLst>
          </p:cNvPr>
          <p:cNvGraphicFramePr>
            <a:graphicFrameLocks noGrp="1"/>
          </p:cNvGraphicFramePr>
          <p:nvPr>
            <p:ph idx="1"/>
            <p:extLst>
              <p:ext uri="{D42A27DB-BD31-4B8C-83A1-F6EECF244321}">
                <p14:modId xmlns:p14="http://schemas.microsoft.com/office/powerpoint/2010/main" val="1787421935"/>
              </p:ext>
            </p:extLst>
          </p:nvPr>
        </p:nvGraphicFramePr>
        <p:xfrm>
          <a:off x="952500" y="1415844"/>
          <a:ext cx="10515600" cy="4822722"/>
        </p:xfrm>
        <a:graphic>
          <a:graphicData uri="http://schemas.openxmlformats.org/drawingml/2006/table">
            <a:tbl>
              <a:tblPr>
                <a:tableStyleId>{5C22544A-7EE6-4342-B048-85BDC9FD1C3A}</a:tableStyleId>
              </a:tblPr>
              <a:tblGrid>
                <a:gridCol w="3505200">
                  <a:extLst>
                    <a:ext uri="{9D8B030D-6E8A-4147-A177-3AD203B41FA5}">
                      <a16:colId xmlns:a16="http://schemas.microsoft.com/office/drawing/2014/main" val="340635803"/>
                    </a:ext>
                  </a:extLst>
                </a:gridCol>
                <a:gridCol w="3505200">
                  <a:extLst>
                    <a:ext uri="{9D8B030D-6E8A-4147-A177-3AD203B41FA5}">
                      <a16:colId xmlns:a16="http://schemas.microsoft.com/office/drawing/2014/main" val="2778876397"/>
                    </a:ext>
                  </a:extLst>
                </a:gridCol>
                <a:gridCol w="3505200">
                  <a:extLst>
                    <a:ext uri="{9D8B030D-6E8A-4147-A177-3AD203B41FA5}">
                      <a16:colId xmlns:a16="http://schemas.microsoft.com/office/drawing/2014/main" val="1864903533"/>
                    </a:ext>
                  </a:extLst>
                </a:gridCol>
              </a:tblGrid>
              <a:tr h="803787">
                <a:tc>
                  <a:txBody>
                    <a:bodyPr/>
                    <a:lstStyle/>
                    <a:p>
                      <a:pPr algn="l">
                        <a:buNone/>
                      </a:pPr>
                      <a:r>
                        <a:rPr lang="en-US" sz="2000" b="1" dirty="0">
                          <a:effectLst/>
                        </a:rPr>
                        <a:t>Candidate</a:t>
                      </a:r>
                      <a:endParaRPr lang="en-US" sz="2000" b="1" i="0" dirty="0">
                        <a:solidFill>
                          <a:srgbClr val="D4D4D4"/>
                        </a:solidFill>
                        <a:effectLst/>
                        <a:latin typeface="-apple-system"/>
                      </a:endParaRPr>
                    </a:p>
                  </a:txBody>
                  <a:tcPr marL="95250" marR="95250" marT="47625" marB="47625" anchor="ctr"/>
                </a:tc>
                <a:tc>
                  <a:txBody>
                    <a:bodyPr/>
                    <a:lstStyle/>
                    <a:p>
                      <a:pPr algn="l">
                        <a:buNone/>
                      </a:pPr>
                      <a:r>
                        <a:rPr lang="en-US" sz="2000" b="1" dirty="0">
                          <a:effectLst/>
                        </a:rPr>
                        <a:t>Evidence</a:t>
                      </a:r>
                      <a:endParaRPr lang="en-US" sz="2000" b="1" i="0" dirty="0">
                        <a:solidFill>
                          <a:srgbClr val="D4D4D4"/>
                        </a:solidFill>
                        <a:effectLst/>
                        <a:latin typeface="-apple-system"/>
                      </a:endParaRPr>
                    </a:p>
                  </a:txBody>
                  <a:tcPr marL="95250" marR="95250" marT="47625" marB="47625" anchor="ctr"/>
                </a:tc>
                <a:tc>
                  <a:txBody>
                    <a:bodyPr/>
                    <a:lstStyle/>
                    <a:p>
                      <a:pPr algn="l">
                        <a:buNone/>
                      </a:pPr>
                      <a:r>
                        <a:rPr lang="en-US" sz="2000" b="1" dirty="0">
                          <a:effectLst/>
                        </a:rPr>
                        <a:t>Decision</a:t>
                      </a:r>
                      <a:endParaRPr lang="en-US" sz="20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74646458"/>
                  </a:ext>
                </a:extLst>
              </a:tr>
              <a:tr h="803787">
                <a:tc>
                  <a:txBody>
                    <a:bodyPr/>
                    <a:lstStyle/>
                    <a:p>
                      <a:pPr algn="l">
                        <a:buNone/>
                      </a:pPr>
                      <a:r>
                        <a:rPr lang="en-US" sz="2000">
                          <a:effectLst/>
                        </a:rPr>
                        <a:t>Direct Fourier-band trigger</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Triggered target 13.53%; clean target 9.89%</a:t>
                      </a:r>
                      <a:endParaRPr lang="en-US" sz="2000" b="0" i="0" dirty="0">
                        <a:solidFill>
                          <a:srgbClr val="D4D4D4"/>
                        </a:solidFill>
                        <a:effectLst/>
                        <a:latin typeface="-apple-system"/>
                      </a:endParaRPr>
                    </a:p>
                  </a:txBody>
                  <a:tcPr marL="95250" marR="95250" marT="47625" marB="47625" anchor="ctr"/>
                </a:tc>
                <a:tc>
                  <a:txBody>
                    <a:bodyPr/>
                    <a:lstStyle/>
                    <a:p>
                      <a:pPr algn="l">
                        <a:buNone/>
                      </a:pPr>
                      <a:r>
                        <a:rPr lang="en-US" sz="2000" dirty="0">
                          <a:effectLst/>
                        </a:rPr>
                        <a:t>Rejected due to weak ASR</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1609818687"/>
                  </a:ext>
                </a:extLst>
              </a:tr>
              <a:tr h="803787">
                <a:tc>
                  <a:txBody>
                    <a:bodyPr/>
                    <a:lstStyle/>
                    <a:p>
                      <a:pPr algn="l">
                        <a:buNone/>
                      </a:pPr>
                      <a:r>
                        <a:rPr lang="en-US" sz="2000">
                          <a:effectLst/>
                        </a:rPr>
                        <a:t>Haar-LH wavelet</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ASR 9.67%; clean target 9.51%; lift 0.16 pp</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Rejected due to weak ASR</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774790473"/>
                  </a:ext>
                </a:extLst>
              </a:tr>
              <a:tr h="803787">
                <a:tc>
                  <a:txBody>
                    <a:bodyPr/>
                    <a:lstStyle/>
                    <a:p>
                      <a:pPr algn="l">
                        <a:buNone/>
                      </a:pPr>
                      <a:r>
                        <a:rPr lang="en-US" sz="2000">
                          <a:effectLst/>
                        </a:rPr>
                        <a:t>Early FTrojan M50</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Poison-row target 95.21%; validation approximately 15.9%</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Rejected due to weak validation phase</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3887252952"/>
                  </a:ext>
                </a:extLst>
              </a:tr>
              <a:tr h="803787">
                <a:tc>
                  <a:txBody>
                    <a:bodyPr/>
                    <a:lstStyle/>
                    <a:p>
                      <a:pPr algn="l">
                        <a:buNone/>
                      </a:pPr>
                      <a:r>
                        <a:rPr lang="en-US" sz="2000" dirty="0" err="1">
                          <a:effectLst/>
                        </a:rPr>
                        <a:t>FTrojan</a:t>
                      </a:r>
                      <a:r>
                        <a:rPr lang="en-US" sz="2000" dirty="0">
                          <a:effectLst/>
                        </a:rPr>
                        <a:t> M100</a:t>
                      </a:r>
                      <a:endParaRPr lang="en-US" sz="2000" b="0" i="0" dirty="0">
                        <a:solidFill>
                          <a:srgbClr val="D4D4D4"/>
                        </a:solidFill>
                        <a:effectLst/>
                        <a:latin typeface="-apple-system"/>
                      </a:endParaRPr>
                    </a:p>
                  </a:txBody>
                  <a:tcPr marL="95250" marR="95250" marT="47625" marB="47625" anchor="ctr"/>
                </a:tc>
                <a:tc>
                  <a:txBody>
                    <a:bodyPr/>
                    <a:lstStyle/>
                    <a:p>
                      <a:pPr algn="l">
                        <a:buNone/>
                      </a:pPr>
                      <a:r>
                        <a:rPr lang="en-US" sz="2000">
                          <a:effectLst/>
                        </a:rPr>
                        <a:t>ASR 86.63%; clean target 5.60%; lift 81.03 pp</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Accepted</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850086067"/>
                  </a:ext>
                </a:extLst>
              </a:tr>
              <a:tr h="803787">
                <a:tc>
                  <a:txBody>
                    <a:bodyPr/>
                    <a:lstStyle/>
                    <a:p>
                      <a:pPr algn="l">
                        <a:buNone/>
                      </a:pPr>
                      <a:r>
                        <a:rPr lang="en-US" sz="2000">
                          <a:effectLst/>
                        </a:rPr>
                        <a:t>FTrojan M150, four positions</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a:effectLst/>
                        </a:rPr>
                        <a:t>Every position approximately 99.4% to 99.7% ASR</a:t>
                      </a:r>
                      <a:endParaRPr lang="en-US" sz="2000" b="0" i="0">
                        <a:solidFill>
                          <a:srgbClr val="D4D4D4"/>
                        </a:solidFill>
                        <a:effectLst/>
                        <a:latin typeface="-apple-system"/>
                      </a:endParaRPr>
                    </a:p>
                  </a:txBody>
                  <a:tcPr marL="95250" marR="95250" marT="47625" marB="47625" anchor="ctr"/>
                </a:tc>
                <a:tc>
                  <a:txBody>
                    <a:bodyPr/>
                    <a:lstStyle/>
                    <a:p>
                      <a:pPr algn="l">
                        <a:buNone/>
                      </a:pPr>
                      <a:r>
                        <a:rPr lang="en-US" sz="2000" dirty="0">
                          <a:effectLst/>
                        </a:rPr>
                        <a:t>Accepted and Final benchmark</a:t>
                      </a:r>
                      <a:endParaRPr lang="en-US" sz="20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2740547604"/>
                  </a:ext>
                </a:extLst>
              </a:tr>
            </a:tbl>
          </a:graphicData>
        </a:graphic>
      </p:graphicFrame>
    </p:spTree>
    <p:extLst>
      <p:ext uri="{BB962C8B-B14F-4D97-AF65-F5344CB8AC3E}">
        <p14:creationId xmlns:p14="http://schemas.microsoft.com/office/powerpoint/2010/main" val="931403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4B00-186B-BAFC-9655-EB67AB579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DF782-EBAB-F2BC-5CF6-1CC491B5B4F0}"/>
              </a:ext>
            </a:extLst>
          </p:cNvPr>
          <p:cNvSpPr>
            <a:spLocks noGrp="1"/>
          </p:cNvSpPr>
          <p:nvPr>
            <p:ph type="title"/>
          </p:nvPr>
        </p:nvSpPr>
        <p:spPr>
          <a:xfrm>
            <a:off x="645459" y="501650"/>
            <a:ext cx="11259670" cy="770151"/>
          </a:xfrm>
        </p:spPr>
        <p:txBody>
          <a:bodyPr>
            <a:normAutofit fontScale="90000"/>
          </a:bodyPr>
          <a:lstStyle/>
          <a:p>
            <a:r>
              <a:rPr lang="en-US" b="1">
                <a:latin typeface="Arial" panose="020B0604020202020204" pitchFamily="34" charset="0"/>
              </a:rPr>
              <a:t>6. Implementation Progress and Discussion</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EDE83BD7-E56D-A40E-FEE6-410CF7E2308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56CB4D58-8346-52B5-9AA4-C8C7B0521F2A}"/>
              </a:ext>
            </a:extLst>
          </p:cNvPr>
          <p:cNvSpPr>
            <a:spLocks noGrp="1"/>
          </p:cNvSpPr>
          <p:nvPr>
            <p:ph type="ftr" sz="quarter" idx="11"/>
          </p:nvPr>
        </p:nvSpPr>
        <p:spPr/>
        <p:txBody>
          <a:bodyPr/>
          <a:lstStyle/>
          <a:p>
            <a:r>
              <a:rPr lang="en-IN"/>
              <a:t>Amrita School of Computing</a:t>
            </a:r>
            <a:endParaRPr lang="en-IN" dirty="0"/>
          </a:p>
        </p:txBody>
      </p:sp>
      <p:graphicFrame>
        <p:nvGraphicFramePr>
          <p:cNvPr id="7" name="Table 6">
            <a:extLst>
              <a:ext uri="{FF2B5EF4-FFF2-40B4-BE49-F238E27FC236}">
                <a16:creationId xmlns:a16="http://schemas.microsoft.com/office/drawing/2014/main" id="{5E6773B6-7676-D1E3-018E-68A37FFC696C}"/>
              </a:ext>
            </a:extLst>
          </p:cNvPr>
          <p:cNvGraphicFramePr>
            <a:graphicFrameLocks noGrp="1"/>
          </p:cNvGraphicFramePr>
          <p:nvPr>
            <p:extLst>
              <p:ext uri="{D42A27DB-BD31-4B8C-83A1-F6EECF244321}">
                <p14:modId xmlns:p14="http://schemas.microsoft.com/office/powerpoint/2010/main" val="184138185"/>
              </p:ext>
            </p:extLst>
          </p:nvPr>
        </p:nvGraphicFramePr>
        <p:xfrm>
          <a:off x="838200" y="1239741"/>
          <a:ext cx="10515600" cy="4955258"/>
        </p:xfrm>
        <a:graphic>
          <a:graphicData uri="http://schemas.openxmlformats.org/drawingml/2006/table">
            <a:tbl>
              <a:tblPr>
                <a:tableStyleId>{5C22544A-7EE6-4342-B048-85BDC9FD1C3A}</a:tableStyleId>
              </a:tblPr>
              <a:tblGrid>
                <a:gridCol w="3438832">
                  <a:extLst>
                    <a:ext uri="{9D8B030D-6E8A-4147-A177-3AD203B41FA5}">
                      <a16:colId xmlns:a16="http://schemas.microsoft.com/office/drawing/2014/main" val="2119991099"/>
                    </a:ext>
                  </a:extLst>
                </a:gridCol>
                <a:gridCol w="7076768">
                  <a:extLst>
                    <a:ext uri="{9D8B030D-6E8A-4147-A177-3AD203B41FA5}">
                      <a16:colId xmlns:a16="http://schemas.microsoft.com/office/drawing/2014/main" val="3350955223"/>
                    </a:ext>
                  </a:extLst>
                </a:gridCol>
              </a:tblGrid>
              <a:tr h="450478">
                <a:tc>
                  <a:txBody>
                    <a:bodyPr/>
                    <a:lstStyle/>
                    <a:p>
                      <a:pPr algn="l">
                        <a:buNone/>
                      </a:pPr>
                      <a:r>
                        <a:rPr lang="en-US" sz="1800" b="1" dirty="0">
                          <a:effectLst/>
                        </a:rPr>
                        <a:t>Component</a:t>
                      </a:r>
                      <a:endParaRPr lang="en-US" sz="1800" b="1" i="0" dirty="0">
                        <a:solidFill>
                          <a:srgbClr val="D4D4D4"/>
                        </a:solidFill>
                        <a:effectLst/>
                        <a:latin typeface="-apple-system"/>
                      </a:endParaRPr>
                    </a:p>
                  </a:txBody>
                  <a:tcPr marL="95250" marR="95250" marT="47625" marB="47625" anchor="ctr"/>
                </a:tc>
                <a:tc>
                  <a:txBody>
                    <a:bodyPr/>
                    <a:lstStyle/>
                    <a:p>
                      <a:pPr algn="l">
                        <a:buNone/>
                      </a:pPr>
                      <a:r>
                        <a:rPr lang="en-US" sz="1800" b="1" dirty="0">
                          <a:effectLst/>
                        </a:rPr>
                        <a:t>Final advanced configuration</a:t>
                      </a:r>
                      <a:endParaRPr lang="en-US" sz="18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1991498743"/>
                  </a:ext>
                </a:extLst>
              </a:tr>
              <a:tr h="450478">
                <a:tc>
                  <a:txBody>
                    <a:bodyPr/>
                    <a:lstStyle/>
                    <a:p>
                      <a:pPr algn="l">
                        <a:buNone/>
                      </a:pPr>
                      <a:r>
                        <a:rPr lang="en-US" sz="1800">
                          <a:effectLst/>
                        </a:rPr>
                        <a:t>Dataset</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DTD, official split 1</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4117927717"/>
                  </a:ext>
                </a:extLst>
              </a:tr>
              <a:tr h="450478">
                <a:tc>
                  <a:txBody>
                    <a:bodyPr/>
                    <a:lstStyle/>
                    <a:p>
                      <a:pPr algn="l">
                        <a:buNone/>
                      </a:pPr>
                      <a:r>
                        <a:rPr lang="en-US" sz="1800">
                          <a:effectLst/>
                        </a:rPr>
                        <a:t>Input</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dirty="0">
                          <a:effectLst/>
                        </a:rPr>
                        <a:t>224x224 RGB crop</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2466223338"/>
                  </a:ext>
                </a:extLst>
              </a:tr>
              <a:tr h="450478">
                <a:tc>
                  <a:txBody>
                    <a:bodyPr/>
                    <a:lstStyle/>
                    <a:p>
                      <a:pPr algn="l">
                        <a:buNone/>
                      </a:pPr>
                      <a:r>
                        <a:rPr lang="en-US" sz="1800" dirty="0">
                          <a:effectLst/>
                        </a:rPr>
                        <a:t>Classifier</a:t>
                      </a:r>
                      <a:endParaRPr lang="en-US" sz="1800" b="0" i="0" dirty="0">
                        <a:solidFill>
                          <a:srgbClr val="D4D4D4"/>
                        </a:solidFill>
                        <a:effectLst/>
                        <a:latin typeface="-apple-system"/>
                      </a:endParaRPr>
                    </a:p>
                  </a:txBody>
                  <a:tcPr marL="95250" marR="95250" marT="47625" marB="47625" anchor="ctr"/>
                </a:tc>
                <a:tc>
                  <a:txBody>
                    <a:bodyPr/>
                    <a:lstStyle/>
                    <a:p>
                      <a:pPr algn="l">
                        <a:buNone/>
                      </a:pPr>
                      <a:r>
                        <a:rPr lang="en-US" sz="1800">
                          <a:effectLst/>
                        </a:rPr>
                        <a:t>ImageNet-pretrained ResNet18, 47 classes</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560533959"/>
                  </a:ext>
                </a:extLst>
              </a:tr>
              <a:tr h="450478">
                <a:tc>
                  <a:txBody>
                    <a:bodyPr/>
                    <a:lstStyle/>
                    <a:p>
                      <a:pPr algn="l">
                        <a:buNone/>
                      </a:pPr>
                      <a:r>
                        <a:rPr lang="en-US" sz="1800">
                          <a:effectLst/>
                        </a:rPr>
                        <a:t>Attack</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FTrojan-style block-DCT, four positions, magnitude 150</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540384462"/>
                  </a:ext>
                </a:extLst>
              </a:tr>
              <a:tr h="450478">
                <a:tc>
                  <a:txBody>
                    <a:bodyPr/>
                    <a:lstStyle/>
                    <a:p>
                      <a:pPr algn="l">
                        <a:buNone/>
                      </a:pPr>
                      <a:r>
                        <a:rPr lang="en-US" sz="1800">
                          <a:effectLst/>
                        </a:rPr>
                        <a:t>Target</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banded</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145191323"/>
                  </a:ext>
                </a:extLst>
              </a:tr>
              <a:tr h="450478">
                <a:tc>
                  <a:txBody>
                    <a:bodyPr/>
                    <a:lstStyle/>
                    <a:p>
                      <a:pPr algn="l">
                        <a:buNone/>
                      </a:pPr>
                      <a:r>
                        <a:rPr lang="en-US" sz="1800">
                          <a:effectLst/>
                        </a:rPr>
                        <a:t>Generator</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771,238-parameter encoder-decoder</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205836097"/>
                  </a:ext>
                </a:extLst>
              </a:tr>
              <a:tr h="450478">
                <a:tc>
                  <a:txBody>
                    <a:bodyPr/>
                    <a:lstStyle/>
                    <a:p>
                      <a:pPr algn="l">
                        <a:buNone/>
                      </a:pPr>
                      <a:r>
                        <a:rPr lang="en-US" sz="1800">
                          <a:effectLst/>
                        </a:rPr>
                        <a:t>Generator input</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Single-image 15-channel FFT evidence</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481692500"/>
                  </a:ext>
                </a:extLst>
              </a:tr>
              <a:tr h="450478">
                <a:tc>
                  <a:txBody>
                    <a:bodyPr/>
                    <a:lstStyle/>
                    <a:p>
                      <a:pPr algn="l">
                        <a:buNone/>
                      </a:pPr>
                      <a:r>
                        <a:rPr lang="en-US" sz="1800">
                          <a:effectLst/>
                        </a:rPr>
                        <a:t>Generator output</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Gate plus bounded signed log-amplitude proposal</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3033684217"/>
                  </a:ext>
                </a:extLst>
              </a:tr>
              <a:tr h="450478">
                <a:tc>
                  <a:txBody>
                    <a:bodyPr/>
                    <a:lstStyle/>
                    <a:p>
                      <a:pPr algn="l">
                        <a:buNone/>
                      </a:pPr>
                      <a:r>
                        <a:rPr lang="en-US" sz="1800">
                          <a:effectLst/>
                        </a:rPr>
                        <a:t>Phase policy</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a:effectLst/>
                        </a:rPr>
                        <a:t>Preserve incoming phase</a:t>
                      </a:r>
                      <a:endParaRPr lang="en-US" sz="18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920258007"/>
                  </a:ext>
                </a:extLst>
              </a:tr>
              <a:tr h="450478">
                <a:tc>
                  <a:txBody>
                    <a:bodyPr/>
                    <a:lstStyle/>
                    <a:p>
                      <a:pPr algn="l">
                        <a:buNone/>
                      </a:pPr>
                      <a:r>
                        <a:rPr lang="en-US" sz="1800">
                          <a:effectLst/>
                        </a:rPr>
                        <a:t>Evaluation</a:t>
                      </a:r>
                      <a:endParaRPr lang="en-US" sz="1800" b="0" i="0">
                        <a:solidFill>
                          <a:srgbClr val="D4D4D4"/>
                        </a:solidFill>
                        <a:effectLst/>
                        <a:latin typeface="-apple-system"/>
                      </a:endParaRPr>
                    </a:p>
                  </a:txBody>
                  <a:tcPr marL="95250" marR="95250" marT="47625" marB="47625" anchor="ctr"/>
                </a:tc>
                <a:tc>
                  <a:txBody>
                    <a:bodyPr/>
                    <a:lstStyle/>
                    <a:p>
                      <a:pPr algn="l">
                        <a:buNone/>
                      </a:pPr>
                      <a:r>
                        <a:rPr lang="en-US" sz="1800" dirty="0">
                          <a:effectLst/>
                        </a:rPr>
                        <a:t>1,840 non-target validation sources per position</a:t>
                      </a:r>
                      <a:endParaRPr lang="en-US" sz="18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4010618908"/>
                  </a:ext>
                </a:extLst>
              </a:tr>
            </a:tbl>
          </a:graphicData>
        </a:graphic>
      </p:graphicFrame>
    </p:spTree>
    <p:extLst>
      <p:ext uri="{BB962C8B-B14F-4D97-AF65-F5344CB8AC3E}">
        <p14:creationId xmlns:p14="http://schemas.microsoft.com/office/powerpoint/2010/main" val="1426454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5107-0765-ACFD-EE51-4BF710D32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D87AD-626D-991C-6A92-4208FEFA3DD1}"/>
              </a:ext>
            </a:extLst>
          </p:cNvPr>
          <p:cNvSpPr>
            <a:spLocks noGrp="1"/>
          </p:cNvSpPr>
          <p:nvPr>
            <p:ph type="title"/>
          </p:nvPr>
        </p:nvSpPr>
        <p:spPr>
          <a:xfrm>
            <a:off x="406399" y="656143"/>
            <a:ext cx="11607800" cy="770151"/>
          </a:xfrm>
        </p:spPr>
        <p:txBody>
          <a:bodyPr>
            <a:normAutofit fontScale="90000"/>
          </a:bodyPr>
          <a:lstStyle/>
          <a:p>
            <a:r>
              <a:rPr lang="en-US" b="1" dirty="0">
                <a:latin typeface="Arial" panose="020B0604020202020204" pitchFamily="34" charset="0"/>
              </a:rPr>
              <a:t>7. Standard Algorithms and Evaluation Metrics</a:t>
            </a:r>
          </a:p>
        </p:txBody>
      </p:sp>
      <p:sp>
        <p:nvSpPr>
          <p:cNvPr id="4" name="Date Placeholder 3">
            <a:extLst>
              <a:ext uri="{FF2B5EF4-FFF2-40B4-BE49-F238E27FC236}">
                <a16:creationId xmlns:a16="http://schemas.microsoft.com/office/drawing/2014/main" id="{F932F320-0A2D-FAB3-2BE6-9F787A4DE16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49E9782-0FD0-7736-16FA-2D7A092526C7}"/>
              </a:ext>
            </a:extLst>
          </p:cNvPr>
          <p:cNvSpPr>
            <a:spLocks noGrp="1"/>
          </p:cNvSpPr>
          <p:nvPr>
            <p:ph type="ftr" sz="quarter" idx="11"/>
          </p:nvPr>
        </p:nvSpPr>
        <p:spPr/>
        <p:txBody>
          <a:bodyPr/>
          <a:lstStyle/>
          <a:p>
            <a:r>
              <a:rPr lang="en-IN"/>
              <a:t>Amrita School of Computing</a:t>
            </a:r>
            <a:endParaRPr lang="en-IN" dirty="0"/>
          </a:p>
        </p:txBody>
      </p:sp>
      <p:sp>
        <p:nvSpPr>
          <p:cNvPr id="7" name="Content Placeholder 6">
            <a:extLst>
              <a:ext uri="{FF2B5EF4-FFF2-40B4-BE49-F238E27FC236}">
                <a16:creationId xmlns:a16="http://schemas.microsoft.com/office/drawing/2014/main" id="{AF7430C1-1C7A-A9D8-4E8D-49605181E67F}"/>
              </a:ext>
            </a:extLst>
          </p:cNvPr>
          <p:cNvSpPr>
            <a:spLocks noGrp="1"/>
          </p:cNvSpPr>
          <p:nvPr>
            <p:ph idx="1"/>
          </p:nvPr>
        </p:nvSpPr>
        <p:spPr/>
        <p:txBody>
          <a:bodyPr/>
          <a:lstStyle/>
          <a:p>
            <a:endParaRPr lang="en-US"/>
          </a:p>
        </p:txBody>
      </p:sp>
      <p:sp>
        <p:nvSpPr>
          <p:cNvPr id="8" name="Rectangle: Rounded Corners 7">
            <a:extLst>
              <a:ext uri="{FF2B5EF4-FFF2-40B4-BE49-F238E27FC236}">
                <a16:creationId xmlns:a16="http://schemas.microsoft.com/office/drawing/2014/main" id="{002141D8-7EE1-0D1C-A5F4-63F0CC79FF84}"/>
              </a:ext>
            </a:extLst>
          </p:cNvPr>
          <p:cNvSpPr/>
          <p:nvPr/>
        </p:nvSpPr>
        <p:spPr>
          <a:xfrm>
            <a:off x="584200" y="1371600"/>
            <a:ext cx="5232400" cy="4559300"/>
          </a:xfrm>
          <a:prstGeom prst="roundRect">
            <a:avLst/>
          </a:prstGeom>
          <a:solidFill>
            <a:srgbClr val="F6F9FD"/>
          </a:solidFill>
          <a:ln w="19050">
            <a:solidFill>
              <a:srgbClr val="406F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B1A5062-7427-E2B4-E073-9C0D54ED9B5B}"/>
              </a:ext>
            </a:extLst>
          </p:cNvPr>
          <p:cNvSpPr txBox="1"/>
          <p:nvPr/>
        </p:nvSpPr>
        <p:spPr>
          <a:xfrm>
            <a:off x="736600" y="1485900"/>
            <a:ext cx="4927600" cy="361637"/>
          </a:xfrm>
          <a:prstGeom prst="rect">
            <a:avLst/>
          </a:prstGeom>
          <a:noFill/>
        </p:spPr>
        <p:txBody>
          <a:bodyPr vert="horz" lIns="63500" tIns="38100" rIns="63500" bIns="38100" rtlCol="0">
            <a:spAutoFit/>
          </a:bodyPr>
          <a:lstStyle/>
          <a:p>
            <a:r>
              <a:rPr lang="en-US" b="1">
                <a:solidFill>
                  <a:srgbClr val="406FB7"/>
                </a:solidFill>
                <a:latin typeface="Arial" panose="020B0604020202020204" pitchFamily="34" charset="0"/>
              </a:rPr>
              <a:t>Core algorithms</a:t>
            </a:r>
          </a:p>
        </p:txBody>
      </p:sp>
      <p:sp>
        <p:nvSpPr>
          <p:cNvPr id="10" name="TextBox 9">
            <a:extLst>
              <a:ext uri="{FF2B5EF4-FFF2-40B4-BE49-F238E27FC236}">
                <a16:creationId xmlns:a16="http://schemas.microsoft.com/office/drawing/2014/main" id="{CBF6F31E-30B7-71C5-08EF-F176B77D552A}"/>
              </a:ext>
            </a:extLst>
          </p:cNvPr>
          <p:cNvSpPr txBox="1"/>
          <p:nvPr/>
        </p:nvSpPr>
        <p:spPr>
          <a:xfrm>
            <a:off x="736600" y="1930400"/>
            <a:ext cx="4927600" cy="2662267"/>
          </a:xfrm>
          <a:prstGeom prst="rect">
            <a:avLst/>
          </a:prstGeom>
          <a:noFill/>
        </p:spPr>
        <p:txBody>
          <a:bodyPr vert="horz" lIns="63500" tIns="38100" rIns="63500" bIns="38100" rtlCol="0">
            <a:spAutoFit/>
          </a:bodyPr>
          <a:lstStyle/>
          <a:p>
            <a:r>
              <a:rPr lang="en-US" sz="1400">
                <a:solidFill>
                  <a:srgbClr val="555555"/>
                </a:solidFill>
                <a:latin typeface="Arial" panose="020B0604020202020204" pitchFamily="34" charset="0"/>
              </a:rPr>
              <a:t>FFT / IFFT</a:t>
            </a:r>
          </a:p>
          <a:p>
            <a:r>
              <a:rPr lang="en-US" sz="1400">
                <a:solidFill>
                  <a:srgbClr val="555555"/>
                </a:solidFill>
                <a:latin typeface="Arial" panose="020B0604020202020204" pitchFamily="34" charset="0"/>
              </a:rPr>
              <a:t>- Decompose image into amplitude and phase.</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ResNet-18</a:t>
            </a:r>
          </a:p>
          <a:p>
            <a:r>
              <a:rPr lang="en-US" sz="1400">
                <a:solidFill>
                  <a:srgbClr val="555555"/>
                </a:solidFill>
                <a:latin typeface="Arial" panose="020B0604020202020204" pitchFamily="34" charset="0"/>
              </a:rPr>
              <a:t>- ImageNet-pretrained 47-class texture classifier.</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Correction generator</a:t>
            </a:r>
          </a:p>
          <a:p>
            <a:r>
              <a:rPr lang="en-US" sz="1400">
                <a:solidFill>
                  <a:srgbClr val="555555"/>
                </a:solidFill>
                <a:latin typeface="Arial" panose="020B0604020202020204" pitchFamily="34" charset="0"/>
              </a:rPr>
              <a:t>- Predicts a gate and signed log-amplitude change.</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Optimization</a:t>
            </a:r>
          </a:p>
          <a:p>
            <a:r>
              <a:rPr lang="en-US" sz="1400">
                <a:solidFill>
                  <a:srgbClr val="555555"/>
                </a:solidFill>
                <a:latin typeface="Arial" panose="020B0604020202020204" pitchFamily="34" charset="0"/>
              </a:rPr>
              <a:t>- Classification, image, spectral, identity, sparsity and smoothness losses.</a:t>
            </a:r>
          </a:p>
        </p:txBody>
      </p:sp>
      <p:sp>
        <p:nvSpPr>
          <p:cNvPr id="11" name="Rectangle: Rounded Corners 10">
            <a:extLst>
              <a:ext uri="{FF2B5EF4-FFF2-40B4-BE49-F238E27FC236}">
                <a16:creationId xmlns:a16="http://schemas.microsoft.com/office/drawing/2014/main" id="{480E56DA-495E-1529-075E-188FD378FEE3}"/>
              </a:ext>
            </a:extLst>
          </p:cNvPr>
          <p:cNvSpPr/>
          <p:nvPr/>
        </p:nvSpPr>
        <p:spPr>
          <a:xfrm>
            <a:off x="6375400" y="1371600"/>
            <a:ext cx="5232400" cy="4559300"/>
          </a:xfrm>
          <a:prstGeom prst="roundRect">
            <a:avLst/>
          </a:prstGeom>
          <a:solidFill>
            <a:srgbClr val="E9F6EC"/>
          </a:solidFill>
          <a:ln w="19050">
            <a:solidFill>
              <a:srgbClr val="3980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AA48A7A-EF55-CF84-BB08-7D8F068A9FA3}"/>
              </a:ext>
            </a:extLst>
          </p:cNvPr>
          <p:cNvSpPr txBox="1"/>
          <p:nvPr/>
        </p:nvSpPr>
        <p:spPr>
          <a:xfrm>
            <a:off x="6527800" y="1485900"/>
            <a:ext cx="4927600" cy="361637"/>
          </a:xfrm>
          <a:prstGeom prst="rect">
            <a:avLst/>
          </a:prstGeom>
          <a:noFill/>
        </p:spPr>
        <p:txBody>
          <a:bodyPr vert="horz" lIns="63500" tIns="38100" rIns="63500" bIns="38100" rtlCol="0">
            <a:spAutoFit/>
          </a:bodyPr>
          <a:lstStyle/>
          <a:p>
            <a:r>
              <a:rPr lang="en-US" b="1">
                <a:solidFill>
                  <a:srgbClr val="398049"/>
                </a:solidFill>
                <a:latin typeface="Arial" panose="020B0604020202020204" pitchFamily="34" charset="0"/>
              </a:rPr>
              <a:t>Evaluation metrics</a:t>
            </a:r>
          </a:p>
        </p:txBody>
      </p:sp>
      <p:sp>
        <p:nvSpPr>
          <p:cNvPr id="13" name="TextBox 12">
            <a:extLst>
              <a:ext uri="{FF2B5EF4-FFF2-40B4-BE49-F238E27FC236}">
                <a16:creationId xmlns:a16="http://schemas.microsoft.com/office/drawing/2014/main" id="{BCA0B8E7-67B3-B9C4-BE0C-81439EA1CD00}"/>
              </a:ext>
            </a:extLst>
          </p:cNvPr>
          <p:cNvSpPr txBox="1"/>
          <p:nvPr/>
        </p:nvSpPr>
        <p:spPr>
          <a:xfrm>
            <a:off x="6527800" y="1930400"/>
            <a:ext cx="4927600" cy="3093154"/>
          </a:xfrm>
          <a:prstGeom prst="rect">
            <a:avLst/>
          </a:prstGeom>
          <a:noFill/>
        </p:spPr>
        <p:txBody>
          <a:bodyPr vert="horz" lIns="63500" tIns="38100" rIns="63500" bIns="38100" rtlCol="0">
            <a:spAutoFit/>
          </a:bodyPr>
          <a:lstStyle/>
          <a:p>
            <a:r>
              <a:rPr lang="en-US" sz="1400">
                <a:solidFill>
                  <a:srgbClr val="555555"/>
                </a:solidFill>
                <a:latin typeface="Arial" panose="020B0604020202020204" pitchFamily="34" charset="0"/>
              </a:rPr>
              <a:t>Clean accuracy</a:t>
            </a:r>
          </a:p>
          <a:p>
            <a:r>
              <a:rPr lang="en-US" sz="1400">
                <a:solidFill>
                  <a:srgbClr val="555555"/>
                </a:solidFill>
                <a:latin typeface="Arial" panose="020B0604020202020204" pitchFamily="34" charset="0"/>
              </a:rPr>
              <a:t>- Normal classification utility.</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Attack Success Rate (ASR)</a:t>
            </a:r>
          </a:p>
          <a:p>
            <a:r>
              <a:rPr lang="en-US" sz="1400">
                <a:solidFill>
                  <a:srgbClr val="555555"/>
                </a:solidFill>
                <a:latin typeface="Arial" panose="020B0604020202020204" pitchFamily="34" charset="0"/>
              </a:rPr>
              <a:t>- Fraction forced into the attacker's target class.</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True-label recovery</a:t>
            </a:r>
          </a:p>
          <a:p>
            <a:r>
              <a:rPr lang="en-US" sz="1400">
                <a:solidFill>
                  <a:srgbClr val="555555"/>
                </a:solidFill>
                <a:latin typeface="Arial" panose="020B0604020202020204" pitchFamily="34" charset="0"/>
              </a:rPr>
              <a:t>- Correct classification after correction.</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Target-rate lift and conditional ASR</a:t>
            </a:r>
          </a:p>
          <a:p>
            <a:r>
              <a:rPr lang="en-US" sz="1400">
                <a:solidFill>
                  <a:srgbClr val="555555"/>
                </a:solidFill>
                <a:latin typeface="Arial" panose="020B0604020202020204" pitchFamily="34" charset="0"/>
              </a:rPr>
              <a:t>- Verify that the trigger caused new failures.</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Pixel L1 and TNR</a:t>
            </a:r>
          </a:p>
          <a:p>
            <a:r>
              <a:rPr lang="en-US" sz="1400">
                <a:solidFill>
                  <a:srgbClr val="555555"/>
                </a:solidFill>
                <a:latin typeface="Arial" panose="020B0604020202020204" pitchFamily="34" charset="0"/>
              </a:rPr>
              <a:t>- Measure image change and trigger/noise stress.</a:t>
            </a:r>
          </a:p>
        </p:txBody>
      </p:sp>
    </p:spTree>
    <p:extLst>
      <p:ext uri="{BB962C8B-B14F-4D97-AF65-F5344CB8AC3E}">
        <p14:creationId xmlns:p14="http://schemas.microsoft.com/office/powerpoint/2010/main" val="1406540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5107-0765-ACFD-EE51-4BF710D32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D87AD-626D-991C-6A92-4208FEFA3DD1}"/>
              </a:ext>
            </a:extLst>
          </p:cNvPr>
          <p:cNvSpPr>
            <a:spLocks noGrp="1"/>
          </p:cNvSpPr>
          <p:nvPr>
            <p:ph type="title"/>
          </p:nvPr>
        </p:nvSpPr>
        <p:spPr/>
        <p:txBody>
          <a:bodyPr>
            <a:normAutofit/>
          </a:bodyPr>
          <a:lstStyle/>
          <a:p>
            <a:r>
              <a:rPr lang="en-US" b="1">
                <a:latin typeface="Arial" panose="020B0604020202020204" pitchFamily="34" charset="0"/>
              </a:rPr>
              <a:t>8. Tools and Implementation Expertise</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F932F320-0A2D-FAB3-2BE6-9F787A4DE16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49E9782-0FD0-7736-16FA-2D7A092526C7}"/>
              </a:ext>
            </a:extLst>
          </p:cNvPr>
          <p:cNvSpPr>
            <a:spLocks noGrp="1"/>
          </p:cNvSpPr>
          <p:nvPr>
            <p:ph type="ftr" sz="quarter" idx="11"/>
          </p:nvPr>
        </p:nvSpPr>
        <p:spPr/>
        <p:txBody>
          <a:bodyPr/>
          <a:lstStyle/>
          <a:p>
            <a:r>
              <a:rPr lang="en-IN"/>
              <a:t>Amrita School of Computing</a:t>
            </a:r>
            <a:endParaRPr lang="en-IN" dirty="0"/>
          </a:p>
        </p:txBody>
      </p:sp>
      <p:sp>
        <p:nvSpPr>
          <p:cNvPr id="7" name="Content Placeholder 6">
            <a:extLst>
              <a:ext uri="{FF2B5EF4-FFF2-40B4-BE49-F238E27FC236}">
                <a16:creationId xmlns:a16="http://schemas.microsoft.com/office/drawing/2014/main" id="{5864D09E-D67F-6A7F-AC5C-8F8AE91B36A6}"/>
              </a:ext>
            </a:extLst>
          </p:cNvPr>
          <p:cNvSpPr>
            <a:spLocks noGrp="1"/>
          </p:cNvSpPr>
          <p:nvPr>
            <p:ph idx="1"/>
          </p:nvPr>
        </p:nvSpPr>
        <p:spPr/>
        <p:txBody>
          <a:bodyPr/>
          <a:lstStyle/>
          <a:p>
            <a:endParaRPr lang="en-US"/>
          </a:p>
        </p:txBody>
      </p:sp>
      <p:sp>
        <p:nvSpPr>
          <p:cNvPr id="8" name="Rectangle: Rounded Corners 7">
            <a:extLst>
              <a:ext uri="{FF2B5EF4-FFF2-40B4-BE49-F238E27FC236}">
                <a16:creationId xmlns:a16="http://schemas.microsoft.com/office/drawing/2014/main" id="{02747FA0-A1DE-16E3-6E99-342F7FF42F29}"/>
              </a:ext>
            </a:extLst>
          </p:cNvPr>
          <p:cNvSpPr/>
          <p:nvPr/>
        </p:nvSpPr>
        <p:spPr>
          <a:xfrm>
            <a:off x="584200" y="1371600"/>
            <a:ext cx="5232400" cy="4559300"/>
          </a:xfrm>
          <a:prstGeom prst="roundRect">
            <a:avLst/>
          </a:prstGeom>
          <a:solidFill>
            <a:srgbClr val="F6F9FD"/>
          </a:solidFill>
          <a:ln w="19050">
            <a:solidFill>
              <a:srgbClr val="406F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4EC0965-B299-F65E-11A7-50539A0A0618}"/>
              </a:ext>
            </a:extLst>
          </p:cNvPr>
          <p:cNvSpPr txBox="1"/>
          <p:nvPr/>
        </p:nvSpPr>
        <p:spPr>
          <a:xfrm>
            <a:off x="736600" y="1485900"/>
            <a:ext cx="4927600" cy="361637"/>
          </a:xfrm>
          <a:prstGeom prst="rect">
            <a:avLst/>
          </a:prstGeom>
          <a:noFill/>
        </p:spPr>
        <p:txBody>
          <a:bodyPr vert="horz" lIns="63500" tIns="38100" rIns="63500" bIns="38100" rtlCol="0">
            <a:spAutoFit/>
          </a:bodyPr>
          <a:lstStyle/>
          <a:p>
            <a:r>
              <a:rPr lang="en-US" b="1">
                <a:solidFill>
                  <a:srgbClr val="406FB7"/>
                </a:solidFill>
                <a:latin typeface="Arial" panose="020B0604020202020204" pitchFamily="34" charset="0"/>
              </a:rPr>
              <a:t>Training and models</a:t>
            </a:r>
          </a:p>
        </p:txBody>
      </p:sp>
      <p:sp>
        <p:nvSpPr>
          <p:cNvPr id="10" name="TextBox 9">
            <a:extLst>
              <a:ext uri="{FF2B5EF4-FFF2-40B4-BE49-F238E27FC236}">
                <a16:creationId xmlns:a16="http://schemas.microsoft.com/office/drawing/2014/main" id="{B58E808B-C2C9-F5B3-D520-EFC813DCF1D6}"/>
              </a:ext>
            </a:extLst>
          </p:cNvPr>
          <p:cNvSpPr txBox="1"/>
          <p:nvPr/>
        </p:nvSpPr>
        <p:spPr>
          <a:xfrm>
            <a:off x="736600" y="1930400"/>
            <a:ext cx="4927600" cy="2015936"/>
          </a:xfrm>
          <a:prstGeom prst="rect">
            <a:avLst/>
          </a:prstGeom>
          <a:noFill/>
        </p:spPr>
        <p:txBody>
          <a:bodyPr vert="horz" lIns="63500" tIns="38100" rIns="63500" bIns="38100" rtlCol="0">
            <a:spAutoFit/>
          </a:bodyPr>
          <a:lstStyle/>
          <a:p>
            <a:r>
              <a:rPr lang="en-US" sz="1400">
                <a:solidFill>
                  <a:srgbClr val="555555"/>
                </a:solidFill>
                <a:latin typeface="Arial" panose="020B0604020202020204" pitchFamily="34" charset="0"/>
              </a:rPr>
              <a:t>Python and PyTorch</a:t>
            </a:r>
          </a:p>
          <a:p>
            <a:r>
              <a:rPr lang="en-US" sz="1400">
                <a:solidFill>
                  <a:srgbClr val="555555"/>
                </a:solidFill>
                <a:latin typeface="Arial" panose="020B0604020202020204" pitchFamily="34" charset="0"/>
              </a:rPr>
              <a:t>- Dataset pipelines, poisoning, model training and generator optimization.</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Kaggle GPU</a:t>
            </a:r>
          </a:p>
          <a:p>
            <a:r>
              <a:rPr lang="en-US" sz="1400">
                <a:solidFill>
                  <a:srgbClr val="555555"/>
                </a:solidFill>
                <a:latin typeface="Arial" panose="020B0604020202020204" pitchFamily="34" charset="0"/>
              </a:rPr>
              <a:t>- NVIDIA T4 sessions for attack and generator experiments.</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Pretrained learning</a:t>
            </a:r>
          </a:p>
          <a:p>
            <a:r>
              <a:rPr lang="en-US" sz="1400">
                <a:solidFill>
                  <a:srgbClr val="555555"/>
                </a:solidFill>
                <a:latin typeface="Arial" panose="020B0604020202020204" pitchFamily="34" charset="0"/>
              </a:rPr>
              <a:t>- ImageNet ResNet-18 adapted to 47 DTD classes.</a:t>
            </a:r>
          </a:p>
        </p:txBody>
      </p:sp>
      <p:sp>
        <p:nvSpPr>
          <p:cNvPr id="11" name="Rectangle: Rounded Corners 10">
            <a:extLst>
              <a:ext uri="{FF2B5EF4-FFF2-40B4-BE49-F238E27FC236}">
                <a16:creationId xmlns:a16="http://schemas.microsoft.com/office/drawing/2014/main" id="{F7D0B337-4E45-E7EE-C21D-8F9675348049}"/>
              </a:ext>
            </a:extLst>
          </p:cNvPr>
          <p:cNvSpPr/>
          <p:nvPr/>
        </p:nvSpPr>
        <p:spPr>
          <a:xfrm>
            <a:off x="6375400" y="1371600"/>
            <a:ext cx="5232400" cy="4559300"/>
          </a:xfrm>
          <a:prstGeom prst="roundRect">
            <a:avLst/>
          </a:prstGeom>
          <a:solidFill>
            <a:srgbClr val="FDF1E3"/>
          </a:solidFill>
          <a:ln w="19050">
            <a:solidFill>
              <a:srgbClr val="CA6E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73EE92A-D9D6-84E0-023A-6CD79DC3B4B3}"/>
              </a:ext>
            </a:extLst>
          </p:cNvPr>
          <p:cNvSpPr txBox="1"/>
          <p:nvPr/>
        </p:nvSpPr>
        <p:spPr>
          <a:xfrm>
            <a:off x="6527800" y="1485900"/>
            <a:ext cx="4927600" cy="361637"/>
          </a:xfrm>
          <a:prstGeom prst="rect">
            <a:avLst/>
          </a:prstGeom>
          <a:noFill/>
        </p:spPr>
        <p:txBody>
          <a:bodyPr vert="horz" lIns="63500" tIns="38100" rIns="63500" bIns="38100" rtlCol="0">
            <a:spAutoFit/>
          </a:bodyPr>
          <a:lstStyle/>
          <a:p>
            <a:r>
              <a:rPr lang="en-US" b="1">
                <a:solidFill>
                  <a:srgbClr val="CA6E19"/>
                </a:solidFill>
                <a:latin typeface="Arial" panose="020B0604020202020204" pitchFamily="34" charset="0"/>
              </a:rPr>
              <a:t>Analysis and evidence</a:t>
            </a:r>
          </a:p>
        </p:txBody>
      </p:sp>
      <p:sp>
        <p:nvSpPr>
          <p:cNvPr id="13" name="TextBox 12">
            <a:extLst>
              <a:ext uri="{FF2B5EF4-FFF2-40B4-BE49-F238E27FC236}">
                <a16:creationId xmlns:a16="http://schemas.microsoft.com/office/drawing/2014/main" id="{33A60620-4EE0-B07E-EBE6-AE25C5CAA29D}"/>
              </a:ext>
            </a:extLst>
          </p:cNvPr>
          <p:cNvSpPr txBox="1"/>
          <p:nvPr/>
        </p:nvSpPr>
        <p:spPr>
          <a:xfrm>
            <a:off x="6527800" y="1930400"/>
            <a:ext cx="4927600" cy="2446824"/>
          </a:xfrm>
          <a:prstGeom prst="rect">
            <a:avLst/>
          </a:prstGeom>
          <a:noFill/>
        </p:spPr>
        <p:txBody>
          <a:bodyPr vert="horz" lIns="63500" tIns="38100" rIns="63500" bIns="38100" rtlCol="0">
            <a:spAutoFit/>
          </a:bodyPr>
          <a:lstStyle/>
          <a:p>
            <a:r>
              <a:rPr lang="en-US" sz="1400">
                <a:solidFill>
                  <a:srgbClr val="555555"/>
                </a:solidFill>
                <a:latin typeface="Arial" panose="020B0604020202020204" pitchFamily="34" charset="0"/>
              </a:rPr>
              <a:t>Signal processing</a:t>
            </a:r>
          </a:p>
          <a:p>
            <a:r>
              <a:rPr lang="en-US" sz="1400">
                <a:solidFill>
                  <a:srgbClr val="555555"/>
                </a:solidFill>
                <a:latin typeface="Arial" panose="020B0604020202020204" pitchFamily="34" charset="0"/>
              </a:rPr>
              <a:t>- FFT/IFFT, log amplitude, phase preservation and block-DCT trigger injection.</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Reproducibility</a:t>
            </a:r>
          </a:p>
          <a:p>
            <a:r>
              <a:rPr lang="en-US" sz="1400">
                <a:solidFill>
                  <a:srgbClr val="555555"/>
                </a:solidFill>
                <a:latin typeface="Arial" panose="020B0604020202020204" pitchFamily="34" charset="0"/>
              </a:rPr>
              <a:t>- Saved checkpoints, JSON summaries, manifests and fixed evaluation splits.</a:t>
            </a:r>
          </a:p>
          <a:p>
            <a:endParaRPr lang="en-US" sz="1400">
              <a:solidFill>
                <a:srgbClr val="555555"/>
              </a:solidFill>
              <a:latin typeface="Arial" panose="020B0604020202020204" pitchFamily="34" charset="0"/>
            </a:endParaRPr>
          </a:p>
          <a:p>
            <a:r>
              <a:rPr lang="en-US" sz="1400">
                <a:solidFill>
                  <a:srgbClr val="555555"/>
                </a:solidFill>
                <a:latin typeface="Arial" panose="020B0604020202020204" pitchFamily="34" charset="0"/>
              </a:rPr>
              <a:t>Visualization</a:t>
            </a:r>
          </a:p>
          <a:p>
            <a:r>
              <a:rPr lang="en-US" sz="1400">
                <a:solidFill>
                  <a:srgbClr val="555555"/>
                </a:solidFill>
                <a:latin typeface="Arial" panose="020B0604020202020204" pitchFamily="34" charset="0"/>
              </a:rPr>
              <a:t>- Correction maps, spectral panels, ablation charts and a CPU demonstration notebook.</a:t>
            </a:r>
          </a:p>
        </p:txBody>
      </p:sp>
    </p:spTree>
    <p:extLst>
      <p:ext uri="{BB962C8B-B14F-4D97-AF65-F5344CB8AC3E}">
        <p14:creationId xmlns:p14="http://schemas.microsoft.com/office/powerpoint/2010/main" val="17143291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A57BD-74C0-E541-1679-3E11BCF05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EC861-CE39-1098-5F75-633427167342}"/>
              </a:ext>
            </a:extLst>
          </p:cNvPr>
          <p:cNvSpPr>
            <a:spLocks noGrp="1"/>
          </p:cNvSpPr>
          <p:nvPr>
            <p:ph type="title"/>
          </p:nvPr>
        </p:nvSpPr>
        <p:spPr>
          <a:xfrm>
            <a:off x="645459" y="501650"/>
            <a:ext cx="11259670" cy="770151"/>
          </a:xfrm>
        </p:spPr>
        <p:txBody>
          <a:bodyPr>
            <a:normAutofit/>
          </a:bodyPr>
          <a:lstStyle/>
          <a:p>
            <a:r>
              <a:rPr lang="en-US" sz="3200" b="1">
                <a:latin typeface="Arial" panose="020B0604020202020204" pitchFamily="34" charset="0"/>
              </a:rPr>
              <a:t>9. Results</a:t>
            </a:r>
            <a:endParaRPr lang="en-US" sz="3200" b="1" dirty="0">
              <a:latin typeface="Arial" panose="020B0604020202020204" pitchFamily="34" charset="0"/>
            </a:endParaRPr>
          </a:p>
        </p:txBody>
      </p:sp>
      <p:sp>
        <p:nvSpPr>
          <p:cNvPr id="4" name="Date Placeholder 3">
            <a:extLst>
              <a:ext uri="{FF2B5EF4-FFF2-40B4-BE49-F238E27FC236}">
                <a16:creationId xmlns:a16="http://schemas.microsoft.com/office/drawing/2014/main" id="{3C430853-B0EF-B1C6-9507-08D1691FDB59}"/>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495347ED-4CFF-3A8E-9D81-5F54BBC0351D}"/>
              </a:ext>
            </a:extLst>
          </p:cNvPr>
          <p:cNvSpPr>
            <a:spLocks noGrp="1"/>
          </p:cNvSpPr>
          <p:nvPr>
            <p:ph type="ftr" sz="quarter" idx="11"/>
          </p:nvPr>
        </p:nvSpPr>
        <p:spPr/>
        <p:txBody>
          <a:bodyPr/>
          <a:lstStyle/>
          <a:p>
            <a:r>
              <a:rPr lang="en-IN"/>
              <a:t>Amrita School of Computing</a:t>
            </a:r>
            <a:endParaRPr lang="en-IN" dirty="0"/>
          </a:p>
        </p:txBody>
      </p:sp>
      <p:pic>
        <p:nvPicPr>
          <p:cNvPr id="10" name="Picture 9">
            <a:extLst>
              <a:ext uri="{FF2B5EF4-FFF2-40B4-BE49-F238E27FC236}">
                <a16:creationId xmlns:a16="http://schemas.microsoft.com/office/drawing/2014/main" id="{A5364650-52AA-5CC2-33F6-68BC5FA355C7}"/>
              </a:ext>
            </a:extLst>
          </p:cNvPr>
          <p:cNvPicPr>
            <a:picLocks noChangeAspect="1"/>
          </p:cNvPicPr>
          <p:nvPr/>
        </p:nvPicPr>
        <p:blipFill>
          <a:blip r:embed="rId3"/>
          <a:stretch>
            <a:fillRect/>
          </a:stretch>
        </p:blipFill>
        <p:spPr>
          <a:xfrm>
            <a:off x="3082413" y="449567"/>
            <a:ext cx="8697159" cy="6408433"/>
          </a:xfrm>
          <a:prstGeom prst="rect">
            <a:avLst/>
          </a:prstGeom>
        </p:spPr>
      </p:pic>
    </p:spTree>
    <p:extLst>
      <p:ext uri="{BB962C8B-B14F-4D97-AF65-F5344CB8AC3E}">
        <p14:creationId xmlns:p14="http://schemas.microsoft.com/office/powerpoint/2010/main" val="3126964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593D2-FC02-1C0E-9A61-59A008170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041C6-C949-0956-74E8-C3448D755C57}"/>
              </a:ext>
            </a:extLst>
          </p:cNvPr>
          <p:cNvSpPr>
            <a:spLocks noGrp="1"/>
          </p:cNvSpPr>
          <p:nvPr>
            <p:ph type="title"/>
          </p:nvPr>
        </p:nvSpPr>
        <p:spPr>
          <a:xfrm>
            <a:off x="645459" y="501650"/>
            <a:ext cx="11259670" cy="770151"/>
          </a:xfrm>
        </p:spPr>
        <p:txBody>
          <a:bodyPr>
            <a:normAutofit/>
          </a:bodyPr>
          <a:lstStyle/>
          <a:p>
            <a:r>
              <a:rPr lang="en-US" sz="3200" b="1">
                <a:latin typeface="Arial" panose="020B0604020202020204" pitchFamily="34" charset="0"/>
              </a:rPr>
              <a:t>9. Results</a:t>
            </a:r>
            <a:endParaRPr lang="en-US" sz="3200" b="1" dirty="0">
              <a:latin typeface="Arial" panose="020B0604020202020204" pitchFamily="34" charset="0"/>
            </a:endParaRPr>
          </a:p>
        </p:txBody>
      </p:sp>
      <p:sp>
        <p:nvSpPr>
          <p:cNvPr id="4" name="Date Placeholder 3">
            <a:extLst>
              <a:ext uri="{FF2B5EF4-FFF2-40B4-BE49-F238E27FC236}">
                <a16:creationId xmlns:a16="http://schemas.microsoft.com/office/drawing/2014/main" id="{C1E21B6F-ABF7-7CF2-274F-C691DC2DC752}"/>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6CF6F9F3-34C8-535C-90CE-6956793314E9}"/>
              </a:ext>
            </a:extLst>
          </p:cNvPr>
          <p:cNvSpPr>
            <a:spLocks noGrp="1"/>
          </p:cNvSpPr>
          <p:nvPr>
            <p:ph type="ftr" sz="quarter" idx="11"/>
          </p:nvPr>
        </p:nvSpPr>
        <p:spPr/>
        <p:txBody>
          <a:bodyPr/>
          <a:lstStyle/>
          <a:p>
            <a:r>
              <a:rPr lang="en-IN"/>
              <a:t>Amrita School of Computing</a:t>
            </a:r>
            <a:endParaRPr lang="en-IN" dirty="0"/>
          </a:p>
        </p:txBody>
      </p:sp>
      <p:pic>
        <p:nvPicPr>
          <p:cNvPr id="6" name="Picture 5">
            <a:extLst>
              <a:ext uri="{FF2B5EF4-FFF2-40B4-BE49-F238E27FC236}">
                <a16:creationId xmlns:a16="http://schemas.microsoft.com/office/drawing/2014/main" id="{CCF4B864-1793-0743-5C90-3FF4811EC5E2}"/>
              </a:ext>
            </a:extLst>
          </p:cNvPr>
          <p:cNvPicPr>
            <a:picLocks noChangeAspect="1"/>
          </p:cNvPicPr>
          <p:nvPr/>
        </p:nvPicPr>
        <p:blipFill>
          <a:blip r:embed="rId3"/>
          <a:stretch>
            <a:fillRect/>
          </a:stretch>
        </p:blipFill>
        <p:spPr>
          <a:xfrm>
            <a:off x="1820048" y="1156515"/>
            <a:ext cx="8421275" cy="5496692"/>
          </a:xfrm>
          <a:prstGeom prst="rect">
            <a:avLst/>
          </a:prstGeom>
        </p:spPr>
      </p:pic>
    </p:spTree>
    <p:extLst>
      <p:ext uri="{BB962C8B-B14F-4D97-AF65-F5344CB8AC3E}">
        <p14:creationId xmlns:p14="http://schemas.microsoft.com/office/powerpoint/2010/main" val="23935658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A6F6-BF27-FD77-38CB-9B29D1EF8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C93FFB-3A24-3FF0-6239-E2D67CCD7011}"/>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9. Results - Trigger Versus Noise</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E21795A7-09F5-08FB-5333-B27A4131F8C2}"/>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A9C44712-1A54-6A46-BA13-89FA1F625E58}"/>
              </a:ext>
            </a:extLst>
          </p:cNvPr>
          <p:cNvSpPr>
            <a:spLocks noGrp="1"/>
          </p:cNvSpPr>
          <p:nvPr>
            <p:ph type="ftr" sz="quarter" idx="11"/>
          </p:nvPr>
        </p:nvSpPr>
        <p:spPr/>
        <p:txBody>
          <a:bodyPr/>
          <a:lstStyle/>
          <a:p>
            <a:r>
              <a:rPr lang="en-IN"/>
              <a:t>Amrita School of Computing</a:t>
            </a:r>
            <a:endParaRPr lang="en-IN" dirty="0"/>
          </a:p>
        </p:txBody>
      </p:sp>
      <p:pic>
        <p:nvPicPr>
          <p:cNvPr id="6" name="Picture 5">
            <a:extLst>
              <a:ext uri="{FF2B5EF4-FFF2-40B4-BE49-F238E27FC236}">
                <a16:creationId xmlns:a16="http://schemas.microsoft.com/office/drawing/2014/main" id="{A88C92DD-1481-5496-2328-6B9885C0A877}"/>
              </a:ext>
            </a:extLst>
          </p:cNvPr>
          <p:cNvPicPr>
            <a:picLocks noChangeAspect="1"/>
          </p:cNvPicPr>
          <p:nvPr/>
        </p:nvPicPr>
        <p:blipFill>
          <a:blip r:embed="rId3"/>
          <a:stretch>
            <a:fillRect/>
          </a:stretch>
        </p:blipFill>
        <p:spPr>
          <a:xfrm>
            <a:off x="1020820" y="1271801"/>
            <a:ext cx="10150360" cy="5397073"/>
          </a:xfrm>
          <a:prstGeom prst="rect">
            <a:avLst/>
          </a:prstGeom>
        </p:spPr>
      </p:pic>
    </p:spTree>
    <p:extLst>
      <p:ext uri="{BB962C8B-B14F-4D97-AF65-F5344CB8AC3E}">
        <p14:creationId xmlns:p14="http://schemas.microsoft.com/office/powerpoint/2010/main" val="35631322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66EF0-CED3-8F3F-8284-07564FD0E0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638798-E8B1-AB18-101F-E4528E738718}"/>
              </a:ext>
            </a:extLst>
          </p:cNvPr>
          <p:cNvSpPr>
            <a:spLocks noGrp="1"/>
          </p:cNvSpPr>
          <p:nvPr>
            <p:ph type="title"/>
          </p:nvPr>
        </p:nvSpPr>
        <p:spPr>
          <a:xfrm>
            <a:off x="647917" y="472154"/>
            <a:ext cx="11259670" cy="770151"/>
          </a:xfrm>
        </p:spPr>
        <p:txBody>
          <a:bodyPr>
            <a:normAutofit/>
          </a:bodyPr>
          <a:lstStyle/>
          <a:p>
            <a:r>
              <a:rPr lang="en-US" b="1">
                <a:latin typeface="Arial" panose="020B0604020202020204" pitchFamily="34" charset="0"/>
              </a:rPr>
              <a:t>9. Results - Trigger Versus Noise</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B034439A-D322-E4E8-7E67-0FA550550AC2}"/>
              </a:ext>
            </a:extLst>
          </p:cNvPr>
          <p:cNvSpPr>
            <a:spLocks noGrp="1"/>
          </p:cNvSpPr>
          <p:nvPr>
            <p:ph type="dt" sz="half" idx="10"/>
          </p:nvPr>
        </p:nvSpPr>
        <p:spPr>
          <a:xfrm>
            <a:off x="840658" y="6326854"/>
            <a:ext cx="2743200" cy="365125"/>
          </a:xfrm>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F972B4B2-CF08-97F5-1430-1090EF6E83AF}"/>
              </a:ext>
            </a:extLst>
          </p:cNvPr>
          <p:cNvSpPr>
            <a:spLocks noGrp="1"/>
          </p:cNvSpPr>
          <p:nvPr>
            <p:ph type="ftr" sz="quarter" idx="11"/>
          </p:nvPr>
        </p:nvSpPr>
        <p:spPr>
          <a:xfrm>
            <a:off x="4041058" y="6368419"/>
            <a:ext cx="4114800" cy="365125"/>
          </a:xfrm>
        </p:spPr>
        <p:txBody>
          <a:bodyPr/>
          <a:lstStyle/>
          <a:p>
            <a:r>
              <a:rPr lang="en-IN"/>
              <a:t>Amrita School of Computing</a:t>
            </a:r>
            <a:endParaRPr lang="en-IN" dirty="0"/>
          </a:p>
        </p:txBody>
      </p:sp>
      <p:pic>
        <p:nvPicPr>
          <p:cNvPr id="11" name="Picture 10">
            <a:extLst>
              <a:ext uri="{FF2B5EF4-FFF2-40B4-BE49-F238E27FC236}">
                <a16:creationId xmlns:a16="http://schemas.microsoft.com/office/drawing/2014/main" id="{41CD4561-A837-7DBD-13CC-3732D4E80B2F}"/>
              </a:ext>
            </a:extLst>
          </p:cNvPr>
          <p:cNvPicPr>
            <a:picLocks noChangeAspect="1"/>
          </p:cNvPicPr>
          <p:nvPr/>
        </p:nvPicPr>
        <p:blipFill>
          <a:blip r:embed="rId3"/>
          <a:stretch>
            <a:fillRect/>
          </a:stretch>
        </p:blipFill>
        <p:spPr>
          <a:xfrm>
            <a:off x="647917" y="1126034"/>
            <a:ext cx="4564670" cy="3531406"/>
          </a:xfrm>
          <a:prstGeom prst="rect">
            <a:avLst/>
          </a:prstGeom>
        </p:spPr>
      </p:pic>
      <p:pic>
        <p:nvPicPr>
          <p:cNvPr id="13" name="Picture 12">
            <a:extLst>
              <a:ext uri="{FF2B5EF4-FFF2-40B4-BE49-F238E27FC236}">
                <a16:creationId xmlns:a16="http://schemas.microsoft.com/office/drawing/2014/main" id="{60707202-5823-9C53-74F4-3E4D0C7840D9}"/>
              </a:ext>
            </a:extLst>
          </p:cNvPr>
          <p:cNvPicPr>
            <a:picLocks noChangeAspect="1"/>
          </p:cNvPicPr>
          <p:nvPr/>
        </p:nvPicPr>
        <p:blipFill>
          <a:blip r:embed="rId4"/>
          <a:stretch>
            <a:fillRect/>
          </a:stretch>
        </p:blipFill>
        <p:spPr>
          <a:xfrm>
            <a:off x="6274054" y="1126031"/>
            <a:ext cx="4564672" cy="3531407"/>
          </a:xfrm>
          <a:prstGeom prst="rect">
            <a:avLst/>
          </a:prstGeom>
        </p:spPr>
      </p:pic>
      <p:graphicFrame>
        <p:nvGraphicFramePr>
          <p:cNvPr id="14" name="Table 13">
            <a:extLst>
              <a:ext uri="{FF2B5EF4-FFF2-40B4-BE49-F238E27FC236}">
                <a16:creationId xmlns:a16="http://schemas.microsoft.com/office/drawing/2014/main" id="{1A603A04-5452-CAD8-8663-B24CD0EC76EA}"/>
              </a:ext>
            </a:extLst>
          </p:cNvPr>
          <p:cNvGraphicFramePr>
            <a:graphicFrameLocks noGrp="1"/>
          </p:cNvGraphicFramePr>
          <p:nvPr>
            <p:extLst>
              <p:ext uri="{D42A27DB-BD31-4B8C-83A1-F6EECF244321}">
                <p14:modId xmlns:p14="http://schemas.microsoft.com/office/powerpoint/2010/main" val="3530046828"/>
              </p:ext>
            </p:extLst>
          </p:nvPr>
        </p:nvGraphicFramePr>
        <p:xfrm>
          <a:off x="835742" y="4714696"/>
          <a:ext cx="10515600" cy="2034540"/>
        </p:xfrm>
        <a:graphic>
          <a:graphicData uri="http://schemas.openxmlformats.org/drawingml/2006/table">
            <a:tbl>
              <a:tblPr>
                <a:tableStyleId>{5C22544A-7EE6-4342-B048-85BDC9FD1C3A}</a:tableStyleId>
              </a:tblPr>
              <a:tblGrid>
                <a:gridCol w="4854677">
                  <a:extLst>
                    <a:ext uri="{9D8B030D-6E8A-4147-A177-3AD203B41FA5}">
                      <a16:colId xmlns:a16="http://schemas.microsoft.com/office/drawing/2014/main" val="2578389695"/>
                    </a:ext>
                  </a:extLst>
                </a:gridCol>
                <a:gridCol w="3008671">
                  <a:extLst>
                    <a:ext uri="{9D8B030D-6E8A-4147-A177-3AD203B41FA5}">
                      <a16:colId xmlns:a16="http://schemas.microsoft.com/office/drawing/2014/main" val="918749250"/>
                    </a:ext>
                  </a:extLst>
                </a:gridCol>
                <a:gridCol w="2652252">
                  <a:extLst>
                    <a:ext uri="{9D8B030D-6E8A-4147-A177-3AD203B41FA5}">
                      <a16:colId xmlns:a16="http://schemas.microsoft.com/office/drawing/2014/main" val="3119291238"/>
                    </a:ext>
                  </a:extLst>
                </a:gridCol>
              </a:tblGrid>
              <a:tr h="0">
                <a:tc>
                  <a:txBody>
                    <a:bodyPr/>
                    <a:lstStyle/>
                    <a:p>
                      <a:pPr algn="l">
                        <a:buNone/>
                      </a:pPr>
                      <a:r>
                        <a:rPr lang="en-US" sz="1600" b="1" dirty="0">
                          <a:effectLst/>
                        </a:rPr>
                        <a:t>Condition</a:t>
                      </a:r>
                      <a:endParaRPr lang="en-US" sz="1600" b="1" i="0" dirty="0">
                        <a:solidFill>
                          <a:srgbClr val="D4D4D4"/>
                        </a:solidFill>
                        <a:effectLst/>
                        <a:latin typeface="-apple-system"/>
                      </a:endParaRPr>
                    </a:p>
                  </a:txBody>
                  <a:tcPr marL="95250" marR="95250" marT="47625" marB="47625" anchor="ctr"/>
                </a:tc>
                <a:tc>
                  <a:txBody>
                    <a:bodyPr/>
                    <a:lstStyle/>
                    <a:p>
                      <a:pPr algn="l">
                        <a:buNone/>
                      </a:pPr>
                      <a:r>
                        <a:rPr lang="en-US" sz="1600" b="1" dirty="0">
                          <a:effectLst/>
                        </a:rPr>
                        <a:t>Corrected ASR</a:t>
                      </a:r>
                      <a:endParaRPr lang="en-US" sz="1600" b="1" i="0" dirty="0">
                        <a:solidFill>
                          <a:srgbClr val="D4D4D4"/>
                        </a:solidFill>
                        <a:effectLst/>
                        <a:latin typeface="-apple-system"/>
                      </a:endParaRPr>
                    </a:p>
                  </a:txBody>
                  <a:tcPr marL="95250" marR="95250" marT="47625" marB="47625" anchor="ctr"/>
                </a:tc>
                <a:tc>
                  <a:txBody>
                    <a:bodyPr/>
                    <a:lstStyle/>
                    <a:p>
                      <a:pPr algn="l">
                        <a:buNone/>
                      </a:pPr>
                      <a:r>
                        <a:rPr lang="en-US" sz="1600" b="1" dirty="0">
                          <a:effectLst/>
                        </a:rPr>
                        <a:t>Corrected accuracy</a:t>
                      </a:r>
                      <a:endParaRPr lang="en-US" sz="1600" b="1"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1166014552"/>
                  </a:ext>
                </a:extLst>
              </a:tr>
              <a:tr h="0">
                <a:tc>
                  <a:txBody>
                    <a:bodyPr/>
                    <a:lstStyle/>
                    <a:p>
                      <a:pPr algn="l">
                        <a:buNone/>
                      </a:pPr>
                      <a:r>
                        <a:rPr lang="en-US" sz="1600" dirty="0">
                          <a:effectLst/>
                        </a:rPr>
                        <a:t>Trigger only</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dirty="0">
                          <a:effectLst/>
                        </a:rPr>
                        <a:t>7.64%</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a:effectLst/>
                        </a:rPr>
                        <a:t>60.29%</a:t>
                      </a:r>
                      <a:endParaRPr lang="en-US" sz="16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3439566276"/>
                  </a:ext>
                </a:extLst>
              </a:tr>
              <a:tr h="0">
                <a:tc>
                  <a:txBody>
                    <a:bodyPr/>
                    <a:lstStyle/>
                    <a:p>
                      <a:pPr algn="l">
                        <a:buNone/>
                      </a:pPr>
                      <a:r>
                        <a:rPr lang="en-US" sz="1600">
                          <a:effectLst/>
                        </a:rPr>
                        <a:t>+20 dB, trigger much stronger than noise</a:t>
                      </a:r>
                      <a:endParaRPr lang="en-US" sz="1600" b="0" i="0">
                        <a:solidFill>
                          <a:srgbClr val="D4D4D4"/>
                        </a:solidFill>
                        <a:effectLst/>
                        <a:latin typeface="-apple-system"/>
                      </a:endParaRPr>
                    </a:p>
                  </a:txBody>
                  <a:tcPr marL="95250" marR="95250" marT="47625" marB="47625" anchor="ctr"/>
                </a:tc>
                <a:tc>
                  <a:txBody>
                    <a:bodyPr/>
                    <a:lstStyle/>
                    <a:p>
                      <a:pPr algn="l">
                        <a:buNone/>
                      </a:pPr>
                      <a:r>
                        <a:rPr lang="en-US" sz="1600" dirty="0">
                          <a:effectLst/>
                        </a:rPr>
                        <a:t>7.85%</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a:effectLst/>
                        </a:rPr>
                        <a:t>60.19%</a:t>
                      </a:r>
                      <a:endParaRPr lang="en-US" sz="16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2365163542"/>
                  </a:ext>
                </a:extLst>
              </a:tr>
              <a:tr h="0">
                <a:tc>
                  <a:txBody>
                    <a:bodyPr/>
                    <a:lstStyle/>
                    <a:p>
                      <a:pPr algn="l">
                        <a:buNone/>
                      </a:pPr>
                      <a:r>
                        <a:rPr lang="en-US" sz="1600">
                          <a:effectLst/>
                        </a:rPr>
                        <a:t>+10 dB, trigger stronger than noise</a:t>
                      </a:r>
                      <a:endParaRPr lang="en-US" sz="1600" b="0" i="0">
                        <a:solidFill>
                          <a:srgbClr val="D4D4D4"/>
                        </a:solidFill>
                        <a:effectLst/>
                        <a:latin typeface="-apple-system"/>
                      </a:endParaRPr>
                    </a:p>
                  </a:txBody>
                  <a:tcPr marL="95250" marR="95250" marT="47625" marB="47625" anchor="ctr"/>
                </a:tc>
                <a:tc>
                  <a:txBody>
                    <a:bodyPr/>
                    <a:lstStyle/>
                    <a:p>
                      <a:pPr algn="l">
                        <a:buNone/>
                      </a:pPr>
                      <a:r>
                        <a:rPr lang="en-US" sz="1600" dirty="0">
                          <a:effectLst/>
                        </a:rPr>
                        <a:t>10.04%</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a:effectLst/>
                        </a:rPr>
                        <a:t>58.93%</a:t>
                      </a:r>
                      <a:endParaRPr lang="en-US" sz="16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4087508086"/>
                  </a:ext>
                </a:extLst>
              </a:tr>
              <a:tr h="0">
                <a:tc>
                  <a:txBody>
                    <a:bodyPr/>
                    <a:lstStyle/>
                    <a:p>
                      <a:pPr algn="l">
                        <a:buNone/>
                      </a:pPr>
                      <a:r>
                        <a:rPr lang="en-US" sz="1600">
                          <a:effectLst/>
                        </a:rPr>
                        <a:t>0 dB, equal RMS power</a:t>
                      </a:r>
                      <a:endParaRPr lang="en-US" sz="1600" b="0" i="0">
                        <a:solidFill>
                          <a:srgbClr val="D4D4D4"/>
                        </a:solidFill>
                        <a:effectLst/>
                        <a:latin typeface="-apple-system"/>
                      </a:endParaRPr>
                    </a:p>
                  </a:txBody>
                  <a:tcPr marL="95250" marR="95250" marT="47625" marB="47625" anchor="ctr"/>
                </a:tc>
                <a:tc>
                  <a:txBody>
                    <a:bodyPr/>
                    <a:lstStyle/>
                    <a:p>
                      <a:pPr algn="l">
                        <a:buNone/>
                      </a:pPr>
                      <a:r>
                        <a:rPr lang="en-US" sz="1600" dirty="0">
                          <a:effectLst/>
                        </a:rPr>
                        <a:t>45.11%</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a:effectLst/>
                        </a:rPr>
                        <a:t>35.52%</a:t>
                      </a:r>
                      <a:endParaRPr lang="en-US" sz="1600" b="0" i="0">
                        <a:solidFill>
                          <a:srgbClr val="D4D4D4"/>
                        </a:solidFill>
                        <a:effectLst/>
                        <a:latin typeface="-apple-system"/>
                      </a:endParaRPr>
                    </a:p>
                  </a:txBody>
                  <a:tcPr marL="95250" marR="95250" marT="47625" marB="47625" anchor="ctr"/>
                </a:tc>
                <a:extLst>
                  <a:ext uri="{0D108BD9-81ED-4DB2-BD59-A6C34878D82A}">
                    <a16:rowId xmlns:a16="http://schemas.microsoft.com/office/drawing/2014/main" val="3324620932"/>
                  </a:ext>
                </a:extLst>
              </a:tr>
              <a:tr h="0">
                <a:tc>
                  <a:txBody>
                    <a:bodyPr/>
                    <a:lstStyle/>
                    <a:p>
                      <a:pPr algn="l">
                        <a:buNone/>
                      </a:pPr>
                      <a:r>
                        <a:rPr lang="en-US" sz="1600">
                          <a:effectLst/>
                        </a:rPr>
                        <a:t>-10 dB, noise stronger than trigger</a:t>
                      </a:r>
                      <a:endParaRPr lang="en-US" sz="1600" b="0" i="0">
                        <a:solidFill>
                          <a:srgbClr val="D4D4D4"/>
                        </a:solidFill>
                        <a:effectLst/>
                        <a:latin typeface="-apple-system"/>
                      </a:endParaRPr>
                    </a:p>
                  </a:txBody>
                  <a:tcPr marL="95250" marR="95250" marT="47625" marB="47625" anchor="ctr"/>
                </a:tc>
                <a:tc>
                  <a:txBody>
                    <a:bodyPr/>
                    <a:lstStyle/>
                    <a:p>
                      <a:pPr algn="l">
                        <a:buNone/>
                      </a:pPr>
                      <a:r>
                        <a:rPr lang="en-US" sz="1600" dirty="0">
                          <a:effectLst/>
                        </a:rPr>
                        <a:t>95.05%</a:t>
                      </a:r>
                      <a:endParaRPr lang="en-US" sz="1600" b="0" i="0" dirty="0">
                        <a:solidFill>
                          <a:srgbClr val="D4D4D4"/>
                        </a:solidFill>
                        <a:effectLst/>
                        <a:latin typeface="-apple-system"/>
                      </a:endParaRPr>
                    </a:p>
                  </a:txBody>
                  <a:tcPr marL="95250" marR="95250" marT="47625" marB="47625" anchor="ctr"/>
                </a:tc>
                <a:tc>
                  <a:txBody>
                    <a:bodyPr/>
                    <a:lstStyle/>
                    <a:p>
                      <a:pPr algn="l">
                        <a:buNone/>
                      </a:pPr>
                      <a:r>
                        <a:rPr lang="en-US" sz="1600" dirty="0">
                          <a:effectLst/>
                        </a:rPr>
                        <a:t>3.48%</a:t>
                      </a:r>
                      <a:endParaRPr lang="en-US" sz="1600" b="0" i="0" dirty="0">
                        <a:solidFill>
                          <a:srgbClr val="D4D4D4"/>
                        </a:solidFill>
                        <a:effectLst/>
                        <a:latin typeface="-apple-system"/>
                      </a:endParaRPr>
                    </a:p>
                  </a:txBody>
                  <a:tcPr marL="95250" marR="95250" marT="47625" marB="47625" anchor="ctr"/>
                </a:tc>
                <a:extLst>
                  <a:ext uri="{0D108BD9-81ED-4DB2-BD59-A6C34878D82A}">
                    <a16:rowId xmlns:a16="http://schemas.microsoft.com/office/drawing/2014/main" val="2565020923"/>
                  </a:ext>
                </a:extLst>
              </a:tr>
            </a:tbl>
          </a:graphicData>
        </a:graphic>
      </p:graphicFrame>
    </p:spTree>
    <p:extLst>
      <p:ext uri="{BB962C8B-B14F-4D97-AF65-F5344CB8AC3E}">
        <p14:creationId xmlns:p14="http://schemas.microsoft.com/office/powerpoint/2010/main" val="4036219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CCABB-2F5E-CB50-31FB-97D5E9F94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B5438-B34E-5F48-67D1-980DA02434C8}"/>
              </a:ext>
            </a:extLst>
          </p:cNvPr>
          <p:cNvSpPr>
            <a:spLocks noGrp="1"/>
          </p:cNvSpPr>
          <p:nvPr>
            <p:ph type="title"/>
          </p:nvPr>
        </p:nvSpPr>
        <p:spPr>
          <a:xfrm>
            <a:off x="647917" y="472154"/>
            <a:ext cx="11259670" cy="770151"/>
          </a:xfrm>
        </p:spPr>
        <p:txBody>
          <a:bodyPr>
            <a:normAutofit/>
          </a:bodyPr>
          <a:lstStyle/>
          <a:p>
            <a:r>
              <a:rPr lang="en-US" b="1">
                <a:latin typeface="Arial" panose="020B0604020202020204" pitchFamily="34" charset="0"/>
              </a:rPr>
              <a:t>10. Demonstration</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6B4D36D5-4458-7F69-2DB2-B7568779E2D6}"/>
              </a:ext>
            </a:extLst>
          </p:cNvPr>
          <p:cNvSpPr>
            <a:spLocks noGrp="1"/>
          </p:cNvSpPr>
          <p:nvPr>
            <p:ph type="dt" sz="half" idx="10"/>
          </p:nvPr>
        </p:nvSpPr>
        <p:spPr>
          <a:xfrm>
            <a:off x="840658" y="6326854"/>
            <a:ext cx="2743200" cy="365125"/>
          </a:xfrm>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F320888A-8810-9F58-D8E5-E0A4FC1E2D89}"/>
              </a:ext>
            </a:extLst>
          </p:cNvPr>
          <p:cNvSpPr>
            <a:spLocks noGrp="1"/>
          </p:cNvSpPr>
          <p:nvPr>
            <p:ph type="ftr" sz="quarter" idx="11"/>
          </p:nvPr>
        </p:nvSpPr>
        <p:spPr>
          <a:xfrm>
            <a:off x="4041058" y="6368419"/>
            <a:ext cx="4114800" cy="365125"/>
          </a:xfrm>
        </p:spPr>
        <p:txBody>
          <a:bodyPr/>
          <a:lstStyle/>
          <a:p>
            <a:r>
              <a:rPr lang="en-IN"/>
              <a:t>Amrita School of Computing</a:t>
            </a:r>
            <a:endParaRPr lang="en-IN" dirty="0"/>
          </a:p>
        </p:txBody>
      </p:sp>
      <p:pic>
        <p:nvPicPr>
          <p:cNvPr id="3" name="Recording 2026-10-08 110646">
            <a:hlinkClick r:id="" action="ppaction://media"/>
            <a:extLst>
              <a:ext uri="{FF2B5EF4-FFF2-40B4-BE49-F238E27FC236}">
                <a16:creationId xmlns:a16="http://schemas.microsoft.com/office/drawing/2014/main" id="{7B3036E2-10E3-3A77-05F6-97234E7D57D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58619" y="1157865"/>
            <a:ext cx="11580925" cy="5534114"/>
          </a:xfrm>
          <a:prstGeom prst="rect">
            <a:avLst/>
          </a:prstGeom>
        </p:spPr>
      </p:pic>
    </p:spTree>
    <p:extLst>
      <p:ext uri="{BB962C8B-B14F-4D97-AF65-F5344CB8AC3E}">
        <p14:creationId xmlns:p14="http://schemas.microsoft.com/office/powerpoint/2010/main" val="949510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8633"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F5165-5842-BB00-54DC-B1F7BD5FB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1ABDAD-6C36-AEEA-89B6-3254A65C16EB}"/>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11. SDG Mapping</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4A09DFF3-E92D-C527-7899-64CC71576348}"/>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E71F746E-77B7-2E44-95CF-4654540335A1}"/>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F8402B8B-10B0-EEBF-F751-FA161477871D}"/>
              </a:ext>
            </a:extLst>
          </p:cNvPr>
          <p:cNvSpPr>
            <a:spLocks noGrp="1"/>
          </p:cNvSpPr>
          <p:nvPr>
            <p:ph idx="1"/>
          </p:nvPr>
        </p:nvSpPr>
        <p:spPr>
          <a:xfrm>
            <a:off x="786245" y="1271801"/>
            <a:ext cx="10619509" cy="4929257"/>
          </a:xfrm>
        </p:spPr>
        <p:txBody>
          <a:bodyPr>
            <a:normAutofit/>
          </a:bodyPr>
          <a:lstStyle/>
          <a:p>
            <a:pPr marL="0" indent="0" algn="just">
              <a:lnSpc>
                <a:spcPct val="100000"/>
              </a:lnSpc>
              <a:buNone/>
            </a:pPr>
            <a:r>
              <a:rPr lang="en-US" b="1" dirty="0"/>
              <a:t>Potential application relevance: SDG 3</a:t>
            </a:r>
          </a:p>
          <a:p>
            <a:pPr marL="0" indent="0" algn="just">
              <a:lnSpc>
                <a:spcPct val="100000"/>
              </a:lnSpc>
              <a:buNone/>
            </a:pPr>
            <a:r>
              <a:rPr lang="en-US" sz="3600" b="1" dirty="0"/>
              <a:t>Good Health and Well-being</a:t>
            </a:r>
          </a:p>
          <a:p>
            <a:pPr marL="0" indent="0" algn="just">
              <a:lnSpc>
                <a:spcPct val="100000"/>
              </a:lnSpc>
              <a:buNone/>
            </a:pPr>
            <a:r>
              <a:rPr lang="en-US" sz="2000" dirty="0"/>
              <a:t>Medical imaging is a future application area where model backdoors could create serious risks. The current presentation does not claim completed medical validation; SDG 3 is presented as an application motivation and future direction.</a:t>
            </a:r>
          </a:p>
          <a:p>
            <a:pPr marL="0" indent="0" algn="just">
              <a:buNone/>
            </a:pPr>
            <a:r>
              <a:rPr lang="en-US" b="1" dirty="0"/>
              <a:t>Primary mapping: SDG 9</a:t>
            </a:r>
          </a:p>
          <a:p>
            <a:pPr marL="0" indent="0" algn="just">
              <a:buNone/>
            </a:pPr>
            <a:r>
              <a:rPr lang="en-US" sz="3200" b="1" dirty="0"/>
              <a:t>Industry, Innovation and Infrastructure</a:t>
            </a:r>
            <a:endParaRPr lang="en-US" sz="3200" dirty="0"/>
          </a:p>
          <a:p>
            <a:pPr marL="0" indent="0" algn="just">
              <a:buNone/>
            </a:pPr>
            <a:r>
              <a:rPr lang="en-US" sz="2000" dirty="0"/>
              <a:t>The project develops a security-oriented machine-learning method intended to make AI systems more reliable and trustworthy, particularly when models may be trained using externally supplied or compromised data.</a:t>
            </a:r>
          </a:p>
          <a:p>
            <a:pPr marL="0" indent="0">
              <a:buNone/>
            </a:pPr>
            <a:endParaRPr lang="en-US" sz="4000" dirty="0"/>
          </a:p>
        </p:txBody>
      </p:sp>
    </p:spTree>
    <p:extLst>
      <p:ext uri="{BB962C8B-B14F-4D97-AF65-F5344CB8AC3E}">
        <p14:creationId xmlns:p14="http://schemas.microsoft.com/office/powerpoint/2010/main" val="1516202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5107-0765-ACFD-EE51-4BF710D32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4D87AD-626D-991C-6A92-4208FEFA3DD1}"/>
              </a:ext>
            </a:extLst>
          </p:cNvPr>
          <p:cNvSpPr>
            <a:spLocks noGrp="1"/>
          </p:cNvSpPr>
          <p:nvPr>
            <p:ph type="title"/>
          </p:nvPr>
        </p:nvSpPr>
        <p:spPr/>
        <p:txBody>
          <a:bodyPr>
            <a:normAutofit/>
          </a:bodyPr>
          <a:lstStyle/>
          <a:p>
            <a:r>
              <a:rPr lang="en-US" b="1">
                <a:latin typeface="Arial" panose="020B0604020202020204" pitchFamily="34" charset="0"/>
              </a:rPr>
              <a:t>12. Project Plan for Semester 3</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F932F320-0A2D-FAB3-2BE6-9F787A4DE16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49E9782-0FD0-7736-16FA-2D7A092526C7}"/>
              </a:ext>
            </a:extLst>
          </p:cNvPr>
          <p:cNvSpPr>
            <a:spLocks noGrp="1"/>
          </p:cNvSpPr>
          <p:nvPr>
            <p:ph type="ftr" sz="quarter" idx="11"/>
          </p:nvPr>
        </p:nvSpPr>
        <p:spPr/>
        <p:txBody>
          <a:bodyPr/>
          <a:lstStyle/>
          <a:p>
            <a:r>
              <a:rPr lang="en-IN"/>
              <a:t>Amrita School of Computing</a:t>
            </a:r>
            <a:endParaRPr lang="en-IN" dirty="0"/>
          </a:p>
        </p:txBody>
      </p:sp>
      <p:graphicFrame>
        <p:nvGraphicFramePr>
          <p:cNvPr id="8" name="Content Placeholder 7">
            <a:extLst>
              <a:ext uri="{FF2B5EF4-FFF2-40B4-BE49-F238E27FC236}">
                <a16:creationId xmlns:a16="http://schemas.microsoft.com/office/drawing/2014/main" id="{179CA91D-A9ED-CD94-3B83-57EE4FC5BDAD}"/>
              </a:ext>
            </a:extLst>
          </p:cNvPr>
          <p:cNvGraphicFramePr>
            <a:graphicFrameLocks noGrp="1"/>
          </p:cNvGraphicFramePr>
          <p:nvPr>
            <p:ph idx="1"/>
            <p:extLst>
              <p:ext uri="{D42A27DB-BD31-4B8C-83A1-F6EECF244321}">
                <p14:modId xmlns:p14="http://schemas.microsoft.com/office/powerpoint/2010/main" val="1948035664"/>
              </p:ext>
            </p:extLst>
          </p:nvPr>
        </p:nvGraphicFramePr>
        <p:xfrm>
          <a:off x="634999" y="1435100"/>
          <a:ext cx="10922000" cy="318135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708082024"/>
                    </a:ext>
                  </a:extLst>
                </a:gridCol>
                <a:gridCol w="3873500">
                  <a:extLst>
                    <a:ext uri="{9D8B030D-6E8A-4147-A177-3AD203B41FA5}">
                      <a16:colId xmlns:a16="http://schemas.microsoft.com/office/drawing/2014/main" val="3730188285"/>
                    </a:ext>
                  </a:extLst>
                </a:gridCol>
                <a:gridCol w="1524000">
                  <a:extLst>
                    <a:ext uri="{9D8B030D-6E8A-4147-A177-3AD203B41FA5}">
                      <a16:colId xmlns:a16="http://schemas.microsoft.com/office/drawing/2014/main" val="2041926747"/>
                    </a:ext>
                  </a:extLst>
                </a:gridCol>
                <a:gridCol w="3898900">
                  <a:extLst>
                    <a:ext uri="{9D8B030D-6E8A-4147-A177-3AD203B41FA5}">
                      <a16:colId xmlns:a16="http://schemas.microsoft.com/office/drawing/2014/main" val="1235162336"/>
                    </a:ext>
                  </a:extLst>
                </a:gridCol>
              </a:tblGrid>
              <a:tr h="533400">
                <a:tc>
                  <a:txBody>
                    <a:bodyPr/>
                    <a:lstStyle/>
                    <a:p>
                      <a:pPr algn="ctr"/>
                      <a:r>
                        <a:rPr lang="en-US" sz="1300" b="1">
                          <a:solidFill>
                            <a:srgbClr val="FFFFFF"/>
                          </a:solidFill>
                          <a:latin typeface="Arial" panose="020B0604020202020204" pitchFamily="34" charset="0"/>
                        </a:rPr>
                        <a:t>Period</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Activity</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Status</a:t>
                      </a:r>
                    </a:p>
                  </a:txBody>
                  <a:tcPr marL="63500" marR="63500" marT="50800" marB="38100" anchor="ctr">
                    <a:solidFill>
                      <a:srgbClr val="1F4E79"/>
                    </a:solidFill>
                  </a:tcPr>
                </a:tc>
                <a:tc>
                  <a:txBody>
                    <a:bodyPr/>
                    <a:lstStyle/>
                    <a:p>
                      <a:pPr algn="ctr"/>
                      <a:r>
                        <a:rPr lang="en-US" sz="1300" b="1">
                          <a:solidFill>
                            <a:srgbClr val="FFFFFF"/>
                          </a:solidFill>
                          <a:latin typeface="Arial" panose="020B0604020202020204" pitchFamily="34" charset="0"/>
                        </a:rPr>
                        <a:t>Expected output</a:t>
                      </a:r>
                    </a:p>
                  </a:txBody>
                  <a:tcPr marL="63500" marR="63500" marT="50800" marB="38100" anchor="ctr">
                    <a:solidFill>
                      <a:srgbClr val="1F4E79"/>
                    </a:solidFill>
                  </a:tcPr>
                </a:tc>
                <a:extLst>
                  <a:ext uri="{0D108BD9-81ED-4DB2-BD59-A6C34878D82A}">
                    <a16:rowId xmlns:a16="http://schemas.microsoft.com/office/drawing/2014/main" val="1754838181"/>
                  </a:ext>
                </a:extLst>
              </a:tr>
              <a:tr h="882650">
                <a:tc>
                  <a:txBody>
                    <a:bodyPr/>
                    <a:lstStyle/>
                    <a:p>
                      <a:pPr algn="l"/>
                      <a:r>
                        <a:rPr lang="en-US" sz="1200" b="1">
                          <a:solidFill>
                            <a:srgbClr val="555555"/>
                          </a:solidFill>
                          <a:latin typeface="Arial" panose="020B0604020202020204" pitchFamily="34" charset="0"/>
                        </a:rPr>
                        <a:t>Completed</a:t>
                      </a:r>
                    </a:p>
                  </a:txBody>
                  <a:tcPr marL="63500" marR="63500" marT="50800" marB="38100" anchor="ctr">
                    <a:solidFill>
                      <a:srgbClr val="F6F9FD"/>
                    </a:solidFill>
                  </a:tcPr>
                </a:tc>
                <a:tc>
                  <a:txBody>
                    <a:bodyPr/>
                    <a:lstStyle/>
                    <a:p>
                      <a:pPr algn="l"/>
                      <a:r>
                        <a:rPr lang="en-US" sz="1200" b="0">
                          <a:solidFill>
                            <a:srgbClr val="555555"/>
                          </a:solidFill>
                          <a:latin typeface="Arial" panose="020B0604020202020204" pitchFamily="34" charset="0"/>
                        </a:rPr>
                        <a:t>Attack calibration, generator training, held-out tests, baselines and TNR study</a:t>
                      </a:r>
                    </a:p>
                  </a:txBody>
                  <a:tcPr marL="63500" marR="63500" marT="50800" marB="38100" anchor="ctr">
                    <a:solidFill>
                      <a:srgbClr val="F6F9FD"/>
                    </a:solidFill>
                  </a:tcPr>
                </a:tc>
                <a:tc>
                  <a:txBody>
                    <a:bodyPr/>
                    <a:lstStyle/>
                    <a:p>
                      <a:pPr algn="l"/>
                      <a:r>
                        <a:rPr lang="en-US" sz="1200" b="1">
                          <a:solidFill>
                            <a:srgbClr val="398049"/>
                          </a:solidFill>
                          <a:latin typeface="Arial" panose="020B0604020202020204" pitchFamily="34" charset="0"/>
                        </a:rPr>
                        <a:t>Done</a:t>
                      </a:r>
                    </a:p>
                  </a:txBody>
                  <a:tcPr marL="63500" marR="63500" marT="50800" marB="38100" anchor="ctr">
                    <a:solidFill>
                      <a:srgbClr val="F6F9FD"/>
                    </a:solidFill>
                  </a:tcPr>
                </a:tc>
                <a:tc>
                  <a:txBody>
                    <a:bodyPr/>
                    <a:lstStyle/>
                    <a:p>
                      <a:pPr algn="l"/>
                      <a:r>
                        <a:rPr lang="en-US" sz="1200" b="0">
                          <a:solidFill>
                            <a:srgbClr val="555555"/>
                          </a:solidFill>
                          <a:latin typeface="Arial" panose="020B0604020202020204" pitchFamily="34" charset="0"/>
                        </a:rPr>
                        <a:t>Frozen results, checkpoints and evidence figures</a:t>
                      </a:r>
                    </a:p>
                  </a:txBody>
                  <a:tcPr marL="63500" marR="63500" marT="50800" marB="38100" anchor="ctr">
                    <a:solidFill>
                      <a:srgbClr val="F6F9FD"/>
                    </a:solidFill>
                  </a:tcPr>
                </a:tc>
                <a:extLst>
                  <a:ext uri="{0D108BD9-81ED-4DB2-BD59-A6C34878D82A}">
                    <a16:rowId xmlns:a16="http://schemas.microsoft.com/office/drawing/2014/main" val="1259300622"/>
                  </a:ext>
                </a:extLst>
              </a:tr>
              <a:tr h="882650">
                <a:tc>
                  <a:txBody>
                    <a:bodyPr/>
                    <a:lstStyle/>
                    <a:p>
                      <a:pPr algn="l"/>
                      <a:r>
                        <a:rPr lang="en-US" sz="1200" b="1" dirty="0">
                          <a:solidFill>
                            <a:srgbClr val="555555"/>
                          </a:solidFill>
                          <a:latin typeface="Arial" panose="020B0604020202020204" pitchFamily="34" charset="0"/>
                        </a:rPr>
                        <a:t>Oct-Nov 2026</a:t>
                      </a:r>
                    </a:p>
                  </a:txBody>
                  <a:tcPr marL="63500" marR="63500" marT="50800" marB="38100" anchor="ctr">
                    <a:solidFill>
                      <a:srgbClr val="F3F5F7"/>
                    </a:solidFill>
                  </a:tcPr>
                </a:tc>
                <a:tc>
                  <a:txBody>
                    <a:bodyPr/>
                    <a:lstStyle/>
                    <a:p>
                      <a:pPr algn="l"/>
                      <a:r>
                        <a:rPr lang="en-US" sz="1200" b="0" dirty="0">
                          <a:solidFill>
                            <a:srgbClr val="555555"/>
                          </a:solidFill>
                          <a:latin typeface="Arial" panose="020B0604020202020204" pitchFamily="34" charset="0"/>
                        </a:rPr>
                        <a:t>Organize literature comparison and write IEEE manuscript sections</a:t>
                      </a:r>
                    </a:p>
                  </a:txBody>
                  <a:tcPr marL="63500" marR="63500" marT="50800" marB="38100" anchor="ctr">
                    <a:solidFill>
                      <a:srgbClr val="F3F5F7"/>
                    </a:solidFill>
                  </a:tcPr>
                </a:tc>
                <a:tc>
                  <a:txBody>
                    <a:bodyPr/>
                    <a:lstStyle/>
                    <a:p>
                      <a:pPr algn="l"/>
                      <a:r>
                        <a:rPr lang="en-US" sz="1200" b="1">
                          <a:solidFill>
                            <a:srgbClr val="555555"/>
                          </a:solidFill>
                          <a:latin typeface="Arial" panose="020B0604020202020204" pitchFamily="34" charset="0"/>
                        </a:rPr>
                        <a:t>In progress</a:t>
                      </a:r>
                    </a:p>
                  </a:txBody>
                  <a:tcPr marL="63500" marR="63500" marT="50800" marB="38100" anchor="ctr">
                    <a:solidFill>
                      <a:srgbClr val="F3F5F7"/>
                    </a:solidFill>
                  </a:tcPr>
                </a:tc>
                <a:tc>
                  <a:txBody>
                    <a:bodyPr/>
                    <a:lstStyle/>
                    <a:p>
                      <a:pPr algn="l"/>
                      <a:r>
                        <a:rPr lang="en-US" sz="1200" b="0">
                          <a:solidFill>
                            <a:srgbClr val="555555"/>
                          </a:solidFill>
                          <a:latin typeface="Arial" panose="020B0604020202020204" pitchFamily="34" charset="0"/>
                        </a:rPr>
                        <a:t>Complete first paper draft</a:t>
                      </a:r>
                    </a:p>
                  </a:txBody>
                  <a:tcPr marL="63500" marR="63500" marT="50800" marB="38100" anchor="ctr">
                    <a:solidFill>
                      <a:srgbClr val="F3F5F7"/>
                    </a:solidFill>
                  </a:tcPr>
                </a:tc>
                <a:extLst>
                  <a:ext uri="{0D108BD9-81ED-4DB2-BD59-A6C34878D82A}">
                    <a16:rowId xmlns:a16="http://schemas.microsoft.com/office/drawing/2014/main" val="2260463201"/>
                  </a:ext>
                </a:extLst>
              </a:tr>
              <a:tr h="882650">
                <a:tc>
                  <a:txBody>
                    <a:bodyPr/>
                    <a:lstStyle/>
                    <a:p>
                      <a:pPr algn="l"/>
                      <a:r>
                        <a:rPr lang="en-US" sz="1200" b="1" dirty="0">
                          <a:solidFill>
                            <a:srgbClr val="555555"/>
                          </a:solidFill>
                          <a:latin typeface="Arial" panose="020B0604020202020204" pitchFamily="34" charset="0"/>
                        </a:rPr>
                        <a:t>Nov-Dec 2026</a:t>
                      </a:r>
                    </a:p>
                  </a:txBody>
                  <a:tcPr marL="63500" marR="63500" marT="50800" marB="38100" anchor="ctr">
                    <a:solidFill>
                      <a:srgbClr val="F3F5F7"/>
                    </a:solidFill>
                  </a:tcPr>
                </a:tc>
                <a:tc>
                  <a:txBody>
                    <a:bodyPr/>
                    <a:lstStyle/>
                    <a:p>
                      <a:pPr algn="l"/>
                      <a:r>
                        <a:rPr lang="en-US" sz="1200" b="0">
                          <a:solidFill>
                            <a:srgbClr val="555555"/>
                          </a:solidFill>
                          <a:latin typeface="Arial" panose="020B0604020202020204" pitchFamily="34" charset="0"/>
                        </a:rPr>
                        <a:t>Guide review, revisions, formatting and final submission preparation</a:t>
                      </a:r>
                    </a:p>
                  </a:txBody>
                  <a:tcPr marL="63500" marR="63500" marT="50800" marB="38100" anchor="ctr">
                    <a:solidFill>
                      <a:srgbClr val="F3F5F7"/>
                    </a:solidFill>
                  </a:tcPr>
                </a:tc>
                <a:tc>
                  <a:txBody>
                    <a:bodyPr/>
                    <a:lstStyle/>
                    <a:p>
                      <a:pPr algn="l"/>
                      <a:r>
                        <a:rPr lang="en-US" sz="1200" b="1">
                          <a:solidFill>
                            <a:srgbClr val="555555"/>
                          </a:solidFill>
                          <a:latin typeface="Arial" panose="020B0604020202020204" pitchFamily="34" charset="0"/>
                        </a:rPr>
                        <a:t>Planned</a:t>
                      </a:r>
                    </a:p>
                  </a:txBody>
                  <a:tcPr marL="63500" marR="63500" marT="50800" marB="38100" anchor="ctr">
                    <a:solidFill>
                      <a:srgbClr val="F3F5F7"/>
                    </a:solidFill>
                  </a:tcPr>
                </a:tc>
                <a:tc>
                  <a:txBody>
                    <a:bodyPr/>
                    <a:lstStyle/>
                    <a:p>
                      <a:pPr algn="l"/>
                      <a:r>
                        <a:rPr lang="en-US" sz="1200" b="0" dirty="0">
                          <a:solidFill>
                            <a:srgbClr val="555555"/>
                          </a:solidFill>
                          <a:latin typeface="Arial" panose="020B0604020202020204" pitchFamily="34" charset="0"/>
                        </a:rPr>
                        <a:t>Submission-ready paper and dissertation material</a:t>
                      </a:r>
                    </a:p>
                  </a:txBody>
                  <a:tcPr marL="63500" marR="63500" marT="50800" marB="38100" anchor="ctr">
                    <a:solidFill>
                      <a:srgbClr val="F3F5F7"/>
                    </a:solidFill>
                  </a:tcPr>
                </a:tc>
                <a:extLst>
                  <a:ext uri="{0D108BD9-81ED-4DB2-BD59-A6C34878D82A}">
                    <a16:rowId xmlns:a16="http://schemas.microsoft.com/office/drawing/2014/main" val="2386685027"/>
                  </a:ext>
                </a:extLst>
              </a:tr>
            </a:tbl>
          </a:graphicData>
        </a:graphic>
      </p:graphicFrame>
    </p:spTree>
    <p:extLst>
      <p:ext uri="{BB962C8B-B14F-4D97-AF65-F5344CB8AC3E}">
        <p14:creationId xmlns:p14="http://schemas.microsoft.com/office/powerpoint/2010/main" val="874702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F897-88F0-58FD-C2ED-8E2D4EF7E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3F9988-9FB0-F89A-E16C-9EAAFE12C9B3}"/>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13. Domain Expertise Course</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EFBA8661-840A-FB21-5630-48EB081566E6}"/>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37485EB0-2EC3-32BC-CC1A-776E39CC72B0}"/>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8B7388DB-A53B-EBA8-E5AB-DF585B93D0B4}"/>
              </a:ext>
            </a:extLst>
          </p:cNvPr>
          <p:cNvSpPr>
            <a:spLocks noGrp="1"/>
          </p:cNvSpPr>
          <p:nvPr>
            <p:ph idx="1"/>
          </p:nvPr>
        </p:nvSpPr>
        <p:spPr>
          <a:xfrm>
            <a:off x="786245" y="1271801"/>
            <a:ext cx="4756139" cy="4929257"/>
          </a:xfrm>
        </p:spPr>
        <p:txBody>
          <a:bodyPr>
            <a:normAutofit/>
          </a:bodyPr>
          <a:lstStyle/>
          <a:p>
            <a:pPr marL="0" indent="0">
              <a:buNone/>
            </a:pPr>
            <a:endParaRPr lang="en-US" dirty="0"/>
          </a:p>
        </p:txBody>
      </p:sp>
      <p:pic>
        <p:nvPicPr>
          <p:cNvPr id="8" name="Picture 7">
            <a:extLst>
              <a:ext uri="{FF2B5EF4-FFF2-40B4-BE49-F238E27FC236}">
                <a16:creationId xmlns:a16="http://schemas.microsoft.com/office/drawing/2014/main" id="{342B01A8-1CBE-7010-03BF-69AA1EF8B152}"/>
              </a:ext>
            </a:extLst>
          </p:cNvPr>
          <p:cNvPicPr>
            <a:picLocks noChangeAspect="1"/>
          </p:cNvPicPr>
          <p:nvPr/>
        </p:nvPicPr>
        <p:blipFill>
          <a:blip r:embed="rId3"/>
          <a:stretch>
            <a:fillRect/>
          </a:stretch>
        </p:blipFill>
        <p:spPr>
          <a:xfrm>
            <a:off x="645460" y="1205127"/>
            <a:ext cx="10760296" cy="5277393"/>
          </a:xfrm>
          <a:prstGeom prst="rect">
            <a:avLst/>
          </a:prstGeom>
        </p:spPr>
      </p:pic>
    </p:spTree>
    <p:extLst>
      <p:ext uri="{BB962C8B-B14F-4D97-AF65-F5344CB8AC3E}">
        <p14:creationId xmlns:p14="http://schemas.microsoft.com/office/powerpoint/2010/main" val="3523489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6C20E-87DD-D727-B4A5-7DD4565C6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3CA847-F3C4-43BD-2D7D-909CB562B8D0}"/>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13. Domain Expertise Course</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5F202BC1-94A9-F45C-8B59-7AB681634F29}"/>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214C17A3-4DA4-039A-954E-6787A92479B6}"/>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A8B14F71-82F4-3551-7A37-0DA58A348BA9}"/>
              </a:ext>
            </a:extLst>
          </p:cNvPr>
          <p:cNvSpPr>
            <a:spLocks noGrp="1"/>
          </p:cNvSpPr>
          <p:nvPr>
            <p:ph idx="1"/>
          </p:nvPr>
        </p:nvSpPr>
        <p:spPr>
          <a:xfrm>
            <a:off x="786245" y="1271801"/>
            <a:ext cx="10625826" cy="4929257"/>
          </a:xfrm>
        </p:spPr>
        <p:txBody>
          <a:bodyPr>
            <a:normAutofit fontScale="70000" lnSpcReduction="20000"/>
          </a:bodyPr>
          <a:lstStyle/>
          <a:p>
            <a:pPr algn="just"/>
            <a:r>
              <a:rPr lang="en-US" dirty="0"/>
              <a:t>Module 5 had a direct relation to my research because it discussed poisoning and backdoor attacks. I applied this method to Describable Textures Dataset with an ImageNet-pretrained ResNet-18. </a:t>
            </a:r>
          </a:p>
          <a:p>
            <a:pPr algn="just"/>
            <a:r>
              <a:rPr lang="en-US" dirty="0"/>
              <a:t>The chosen non-target images were attacked by an </a:t>
            </a:r>
            <a:r>
              <a:rPr lang="en-US" dirty="0" err="1"/>
              <a:t>FTrojan</a:t>
            </a:r>
            <a:r>
              <a:rPr lang="en-US" dirty="0"/>
              <a:t>-type of frequency trigger, which is related to the target class banded. The initial models were dismissed because high success rate in the poisoned training samples could not be generalized to images outside the training set. </a:t>
            </a:r>
          </a:p>
          <a:p>
            <a:pPr algn="just"/>
            <a:r>
              <a:rPr lang="en-US" dirty="0"/>
              <a:t>I conducted multiple calibration attacks sweeps and chose a validated attack model with acceptable clean performance. I evaluated it based on clean accuracy, success rate of the triggered attacks, rate of clean target, attack success lift and conditional attack success in order to make sure that natural errors will not be counted as attacks. </a:t>
            </a:r>
          </a:p>
          <a:p>
            <a:pPr algn="just"/>
            <a:r>
              <a:rPr lang="en-US" dirty="0"/>
              <a:t>After that, the suspicious classifier was frozen, and used for training a reference-free generator. In the process of evaluation, the generator receives only one possibly triggered image without its clean version. </a:t>
            </a:r>
          </a:p>
          <a:p>
            <a:pPr algn="just"/>
            <a:r>
              <a:rPr lang="en-US" dirty="0"/>
              <a:t>It evaluates the amplitude, phase, local spectral residual and frequency coordinates, and makes a selective prediction about amplitude correction of the image before reconstruction and classification. </a:t>
            </a:r>
          </a:p>
          <a:p>
            <a:pPr algn="just"/>
            <a:r>
              <a:rPr lang="en-US" dirty="0"/>
              <a:t>I trained the generator with two trigger position layouts and tested it on held-out layouts. These tests provided evidence that correction was linked to a small, meaningful spectral region rather than simple clean-trigger subtraction or removal of the entire spectrum. MITRE ATLAS also helped place this work within broader data-compromise and supply-chain threats.</a:t>
            </a:r>
          </a:p>
        </p:txBody>
      </p:sp>
    </p:spTree>
    <p:extLst>
      <p:ext uri="{BB962C8B-B14F-4D97-AF65-F5344CB8AC3E}">
        <p14:creationId xmlns:p14="http://schemas.microsoft.com/office/powerpoint/2010/main" val="1739588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FB53-D576-F258-37EB-10FF203530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0E798D-EA45-9888-5DA3-06F7F3BA5358}"/>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14. Technical Enrichment Activities</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3E4ABFC9-9031-F818-BDC4-189444D6BB41}"/>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1F102295-E5C6-B9D0-56E4-BF33119C08E1}"/>
              </a:ext>
            </a:extLst>
          </p:cNvPr>
          <p:cNvSpPr>
            <a:spLocks noGrp="1"/>
          </p:cNvSpPr>
          <p:nvPr>
            <p:ph type="ftr" sz="quarter" idx="11"/>
          </p:nvPr>
        </p:nvSpPr>
        <p:spPr/>
        <p:txBody>
          <a:bodyPr/>
          <a:lstStyle/>
          <a:p>
            <a:r>
              <a:rPr lang="en-IN"/>
              <a:t>Amrita School of Computing</a:t>
            </a:r>
            <a:endParaRPr lang="en-IN" dirty="0"/>
          </a:p>
        </p:txBody>
      </p:sp>
      <p:graphicFrame>
        <p:nvGraphicFramePr>
          <p:cNvPr id="3" name="Content Placeholder 2">
            <a:extLst>
              <a:ext uri="{FF2B5EF4-FFF2-40B4-BE49-F238E27FC236}">
                <a16:creationId xmlns:a16="http://schemas.microsoft.com/office/drawing/2014/main" id="{E758A358-CBC6-36E9-E54A-6AB88C5BEEFB}"/>
              </a:ext>
            </a:extLst>
          </p:cNvPr>
          <p:cNvGraphicFramePr>
            <a:graphicFrameLocks noGrp="1"/>
          </p:cNvGraphicFramePr>
          <p:nvPr>
            <p:ph idx="1"/>
            <p:extLst>
              <p:ext uri="{D42A27DB-BD31-4B8C-83A1-F6EECF244321}">
                <p14:modId xmlns:p14="http://schemas.microsoft.com/office/powerpoint/2010/main" val="2658415517"/>
              </p:ext>
            </p:extLst>
          </p:nvPr>
        </p:nvGraphicFramePr>
        <p:xfrm>
          <a:off x="678024" y="1265838"/>
          <a:ext cx="10868517" cy="5054910"/>
        </p:xfrm>
        <a:graphic>
          <a:graphicData uri="http://schemas.openxmlformats.org/drawingml/2006/table">
            <a:tbl>
              <a:tblPr>
                <a:tableStyleId>{5C22544A-7EE6-4342-B048-85BDC9FD1C3A}</a:tableStyleId>
              </a:tblPr>
              <a:tblGrid>
                <a:gridCol w="2796238">
                  <a:extLst>
                    <a:ext uri="{9D8B030D-6E8A-4147-A177-3AD203B41FA5}">
                      <a16:colId xmlns:a16="http://schemas.microsoft.com/office/drawing/2014/main" val="329262448"/>
                    </a:ext>
                  </a:extLst>
                </a:gridCol>
                <a:gridCol w="3425329">
                  <a:extLst>
                    <a:ext uri="{9D8B030D-6E8A-4147-A177-3AD203B41FA5}">
                      <a16:colId xmlns:a16="http://schemas.microsoft.com/office/drawing/2014/main" val="3077305106"/>
                    </a:ext>
                  </a:extLst>
                </a:gridCol>
                <a:gridCol w="4646950">
                  <a:extLst>
                    <a:ext uri="{9D8B030D-6E8A-4147-A177-3AD203B41FA5}">
                      <a16:colId xmlns:a16="http://schemas.microsoft.com/office/drawing/2014/main" val="1815974248"/>
                    </a:ext>
                  </a:extLst>
                </a:gridCol>
              </a:tblGrid>
              <a:tr h="341242">
                <a:tc>
                  <a:txBody>
                    <a:bodyPr/>
                    <a:lstStyle/>
                    <a:p>
                      <a:pPr marL="0" marR="0" algn="just">
                        <a:buNone/>
                      </a:pPr>
                      <a:r>
                        <a:rPr lang="en-IN" sz="1800" kern="100">
                          <a:effectLst/>
                        </a:rPr>
                        <a:t>Deliverable</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a:effectLst/>
                        </a:rPr>
                        <a:t>Description</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a:effectLst/>
                        </a:rPr>
                        <a:t>Expected deliverables</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8217315"/>
                  </a:ext>
                </a:extLst>
              </a:tr>
              <a:tr h="1396714">
                <a:tc>
                  <a:txBody>
                    <a:bodyPr/>
                    <a:lstStyle/>
                    <a:p>
                      <a:pPr marL="0" marR="0" algn="just">
                        <a:buNone/>
                      </a:pPr>
                      <a:r>
                        <a:rPr lang="en-IN" sz="1800" kern="100" dirty="0">
                          <a:effectLst/>
                        </a:rPr>
                        <a:t>Submission-ready Research Paper Draft</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dirty="0">
                          <a:effectLst/>
                        </a:rPr>
                        <a:t>Prepare a complete research paper in IEEE, Elsevier, Springer, ACM, or any other appropriate conference/journal format based on the project work.</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dirty="0">
                          <a:effectLst/>
                        </a:rPr>
                        <a:t>Complete manuscript; Figures and tables; References; Similarity report</a:t>
                      </a:r>
                    </a:p>
                  </a:txBody>
                  <a:tcPr marL="68580" marR="68580" marT="0" marB="0"/>
                </a:tc>
                <a:extLst>
                  <a:ext uri="{0D108BD9-81ED-4DB2-BD59-A6C34878D82A}">
                    <a16:rowId xmlns:a16="http://schemas.microsoft.com/office/drawing/2014/main" val="1633348991"/>
                  </a:ext>
                </a:extLst>
              </a:tr>
              <a:tr h="1396714">
                <a:tc>
                  <a:txBody>
                    <a:bodyPr/>
                    <a:lstStyle/>
                    <a:p>
                      <a:pPr marL="0" marR="0" algn="jus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Open-source Technical Repository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Maintain a professional GitHub repository containing reusable project resources.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Source code; Well-structured project organization; README; Installation guide; Documentation; Regular commits with version history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1671711"/>
                  </a:ext>
                </a:extLst>
              </a:tr>
              <a:tr h="1396714">
                <a:tc>
                  <a:txBody>
                    <a:bodyPr/>
                    <a:lstStyle/>
                    <a:p>
                      <a:pPr marL="0" marR="0" algn="jus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Working demonstration</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a:solidFill>
                            <a:srgbClr val="000000"/>
                          </a:solidFill>
                          <a:effectLst/>
                          <a:latin typeface="Times New Roman" panose="02020603050405020304" pitchFamily="18" charset="0"/>
                          <a:ea typeface="Aptos" panose="020B0004020202020204" pitchFamily="34" charset="0"/>
                        </a:rPr>
                        <a:t>Develop a working end-to-end prototype that demonstrates the core functionality of the project and validates key performance outcomes. </a:t>
                      </a:r>
                      <a:endParaRPr lang="en-US" sz="2000" kern="100">
                        <a:solidFill>
                          <a:srgbClr val="000000"/>
                        </a:solidFill>
                        <a:effectLst/>
                        <a:latin typeface="Times New Roman" panose="02020603050405020304" pitchFamily="18" charset="0"/>
                        <a:ea typeface="Aptos" panose="020B0004020202020204" pitchFamily="34" charset="0"/>
                      </a:endParaRPr>
                    </a:p>
                    <a:p>
                      <a:pPr marL="0" marR="0" algn="just">
                        <a:buNone/>
                      </a:pPr>
                      <a:r>
                        <a:rPr lang="en-IN" sz="1800" kern="100">
                          <a:effectLst/>
                          <a:latin typeface="Times New Roman" panose="02020603050405020304" pitchFamily="18" charset="0"/>
                          <a:ea typeface="Aptos" panose="020B0004020202020204" pitchFamily="34" charset="0"/>
                          <a:cs typeface="Times New Roman" panose="02020603050405020304" pitchFamily="18" charset="0"/>
                        </a:rPr>
                        <a:t> </a:t>
                      </a:r>
                      <a:endParaRPr lang="en-US"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marL="0" marR="0" algn="just">
                        <a:buNone/>
                      </a:pPr>
                      <a:r>
                        <a:rPr lang="en-IN" sz="1800" kern="100" dirty="0">
                          <a:solidFill>
                            <a:srgbClr val="000000"/>
                          </a:solidFill>
                          <a:effectLst/>
                          <a:latin typeface="Times New Roman" panose="02020603050405020304" pitchFamily="18" charset="0"/>
                          <a:ea typeface="Aptos" panose="020B0004020202020204" pitchFamily="34" charset="0"/>
                        </a:rPr>
                        <a:t>Demonstrate a working model of the project - hardware or deployed software. Also, submit a run-based demo: short video + instructions + the commands/script that regenerates the metrics and sample outputs (with model/config versions). </a:t>
                      </a:r>
                      <a:endParaRPr lang="en-US" sz="2000" kern="100" dirty="0">
                        <a:solidFill>
                          <a:srgbClr val="000000"/>
                        </a:solidFill>
                        <a:effectLst/>
                        <a:latin typeface="Times New Roman" panose="02020603050405020304" pitchFamily="18" charset="0"/>
                        <a:ea typeface="Aptos" panose="020B0004020202020204" pitchFamily="34" charset="0"/>
                      </a:endParaRPr>
                    </a:p>
                    <a:p>
                      <a:pPr marL="0" marR="0" algn="just">
                        <a:buNone/>
                      </a:pPr>
                      <a:r>
                        <a:rPr lang="en-IN" sz="1800" kern="100" dirty="0">
                          <a:effectLst/>
                          <a:latin typeface="Times New Roman" panose="02020603050405020304" pitchFamily="18" charset="0"/>
                          <a:ea typeface="Aptos" panose="020B0004020202020204" pitchFamily="34" charset="0"/>
                          <a:cs typeface="Times New Roman" panose="02020603050405020304" pitchFamily="18" charset="0"/>
                        </a:rPr>
                        <a:t> </a:t>
                      </a:r>
                      <a:endParaRPr lang="en-US"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5839767"/>
                  </a:ext>
                </a:extLst>
              </a:tr>
            </a:tbl>
          </a:graphicData>
        </a:graphic>
      </p:graphicFrame>
    </p:spTree>
    <p:extLst>
      <p:ext uri="{BB962C8B-B14F-4D97-AF65-F5344CB8AC3E}">
        <p14:creationId xmlns:p14="http://schemas.microsoft.com/office/powerpoint/2010/main" val="1797202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ACAF3-4DFD-DAF9-CF65-FEB3573E16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3A4A5F-D2DB-8C65-0550-88C384BE0E39}"/>
              </a:ext>
            </a:extLst>
          </p:cNvPr>
          <p:cNvSpPr>
            <a:spLocks noGrp="1"/>
          </p:cNvSpPr>
          <p:nvPr>
            <p:ph type="title"/>
          </p:nvPr>
        </p:nvSpPr>
        <p:spPr>
          <a:xfrm>
            <a:off x="645459" y="501650"/>
            <a:ext cx="11259670" cy="770151"/>
          </a:xfrm>
        </p:spPr>
        <p:txBody>
          <a:bodyPr>
            <a:normAutofit/>
          </a:bodyPr>
          <a:lstStyle/>
          <a:p>
            <a:r>
              <a:rPr lang="en-US" b="1">
                <a:latin typeface="Arial" panose="020B0604020202020204" pitchFamily="34" charset="0"/>
              </a:rPr>
              <a:t>15. Conclusion</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0299D0BA-AE72-D349-A6B7-D294AAA5EE53}"/>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0085BAB3-0BBB-75BB-629F-D7B08E15454B}"/>
              </a:ext>
            </a:extLst>
          </p:cNvPr>
          <p:cNvSpPr>
            <a:spLocks noGrp="1"/>
          </p:cNvSpPr>
          <p:nvPr>
            <p:ph type="ftr" sz="quarter" idx="11"/>
          </p:nvPr>
        </p:nvSpPr>
        <p:spPr/>
        <p:txBody>
          <a:bodyPr/>
          <a:lstStyle/>
          <a:p>
            <a:r>
              <a:rPr lang="en-IN"/>
              <a:t>Amrita School of Computing</a:t>
            </a:r>
            <a:endParaRPr lang="en-IN" dirty="0"/>
          </a:p>
        </p:txBody>
      </p:sp>
      <p:sp>
        <p:nvSpPr>
          <p:cNvPr id="6" name="Content Placeholder 5">
            <a:extLst>
              <a:ext uri="{FF2B5EF4-FFF2-40B4-BE49-F238E27FC236}">
                <a16:creationId xmlns:a16="http://schemas.microsoft.com/office/drawing/2014/main" id="{42B55E66-D37E-2414-03A2-3465677C5C94}"/>
              </a:ext>
            </a:extLst>
          </p:cNvPr>
          <p:cNvSpPr>
            <a:spLocks noGrp="1"/>
          </p:cNvSpPr>
          <p:nvPr>
            <p:ph idx="1"/>
          </p:nvPr>
        </p:nvSpPr>
        <p:spPr>
          <a:xfrm>
            <a:off x="645459" y="1328665"/>
            <a:ext cx="10619509" cy="4929257"/>
          </a:xfrm>
        </p:spPr>
        <p:txBody>
          <a:bodyPr>
            <a:normAutofit/>
          </a:bodyPr>
          <a:lstStyle/>
          <a:p>
            <a:pPr lvl="0"/>
            <a:r>
              <a:rPr lang="en-US" b="1" dirty="0"/>
              <a:t>Advanced method:</a:t>
            </a:r>
            <a:r>
              <a:rPr lang="en-US" dirty="0"/>
              <a:t> One-image, reference-free selective log-amplitude correction with phase-preserving reconstruction.</a:t>
            </a:r>
          </a:p>
          <a:p>
            <a:pPr lvl="0"/>
            <a:r>
              <a:rPr lang="en-US" b="1" dirty="0"/>
              <a:t>Main result:</a:t>
            </a:r>
            <a:r>
              <a:rPr lang="en-US" dirty="0"/>
              <a:t> Four-position mean ASR reduced from </a:t>
            </a:r>
            <a:r>
              <a:rPr lang="en-US" b="1" dirty="0"/>
              <a:t>99.48% to 7.64%</a:t>
            </a:r>
            <a:r>
              <a:rPr lang="en-US" dirty="0"/>
              <a:t>, with </a:t>
            </a:r>
            <a:r>
              <a:rPr lang="en-US" b="1" dirty="0"/>
              <a:t>60.29%</a:t>
            </a:r>
            <a:r>
              <a:rPr lang="en-US" dirty="0"/>
              <a:t> corrected accuracy versus approximately </a:t>
            </a:r>
            <a:r>
              <a:rPr lang="en-US" b="1" dirty="0"/>
              <a:t>61.44%</a:t>
            </a:r>
            <a:r>
              <a:rPr lang="en-US" dirty="0"/>
              <a:t> clean accuracy.</a:t>
            </a:r>
          </a:p>
          <a:p>
            <a:pPr lvl="0"/>
            <a:r>
              <a:rPr lang="en-US" b="1" dirty="0"/>
              <a:t>Evidence quality:</a:t>
            </a:r>
            <a:r>
              <a:rPr lang="en-US" dirty="0"/>
              <a:t> Causal support tests, static/broad baselines, held-out active positions, benign corruptions, and TNR stress testing.</a:t>
            </a:r>
          </a:p>
          <a:p>
            <a:pPr lvl="0"/>
            <a:r>
              <a:rPr lang="en-US" b="1" dirty="0"/>
              <a:t>Boundary:</a:t>
            </a:r>
            <a:r>
              <a:rPr lang="en-US" dirty="0"/>
              <a:t> Demonstrated on DTD and within one calibrated attack family; cross-family, adaptive, locked-test, and multi-seed evidence remain Phase 3.</a:t>
            </a:r>
          </a:p>
        </p:txBody>
      </p:sp>
    </p:spTree>
    <p:extLst>
      <p:ext uri="{BB962C8B-B14F-4D97-AF65-F5344CB8AC3E}">
        <p14:creationId xmlns:p14="http://schemas.microsoft.com/office/powerpoint/2010/main" val="16097942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1F1DB-41BA-D1C1-6597-36580D48A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D236A-7FAE-5CA3-6CF5-E804CEEE154A}"/>
              </a:ext>
            </a:extLst>
          </p:cNvPr>
          <p:cNvSpPr>
            <a:spLocks noGrp="1"/>
          </p:cNvSpPr>
          <p:nvPr>
            <p:ph type="title"/>
          </p:nvPr>
        </p:nvSpPr>
        <p:spPr>
          <a:xfrm>
            <a:off x="645459" y="582849"/>
            <a:ext cx="11259670" cy="770151"/>
          </a:xfrm>
        </p:spPr>
        <p:txBody>
          <a:bodyPr>
            <a:normAutofit/>
          </a:bodyPr>
          <a:lstStyle/>
          <a:p>
            <a:r>
              <a:rPr lang="en-US" b="1">
                <a:latin typeface="Arial" panose="020B0604020202020204" pitchFamily="34" charset="0"/>
              </a:rPr>
              <a:t>16. References</a:t>
            </a:r>
            <a:endParaRPr lang="en-US" b="1" dirty="0">
              <a:latin typeface="Arial" panose="020B0604020202020204" pitchFamily="34" charset="0"/>
            </a:endParaRPr>
          </a:p>
        </p:txBody>
      </p:sp>
      <p:sp>
        <p:nvSpPr>
          <p:cNvPr id="4" name="Date Placeholder 3">
            <a:extLst>
              <a:ext uri="{FF2B5EF4-FFF2-40B4-BE49-F238E27FC236}">
                <a16:creationId xmlns:a16="http://schemas.microsoft.com/office/drawing/2014/main" id="{17E1C93F-EB92-FD49-B37C-66472E991F2F}"/>
              </a:ext>
            </a:extLst>
          </p:cNvPr>
          <p:cNvSpPr>
            <a:spLocks noGrp="1"/>
          </p:cNvSpPr>
          <p:nvPr>
            <p:ph type="dt" sz="half" idx="10"/>
          </p:nvPr>
        </p:nvSpPr>
        <p:spPr/>
        <p:txBody>
          <a:bodyPr/>
          <a:lstStyle/>
          <a:p>
            <a:fld id="{DC9F7C42-E17F-49EA-B3CD-B4C3CDBA196D}" type="datetime1">
              <a:rPr lang="en-IN" smtClean="0"/>
              <a:pPr/>
              <a:t>10-10-2026</a:t>
            </a:fld>
            <a:endParaRPr lang="en-IN" dirty="0">
              <a:solidFill>
                <a:srgbClr val="C00000"/>
              </a:solidFill>
            </a:endParaRPr>
          </a:p>
        </p:txBody>
      </p:sp>
      <p:sp>
        <p:nvSpPr>
          <p:cNvPr id="5" name="Footer Placeholder 4">
            <a:extLst>
              <a:ext uri="{FF2B5EF4-FFF2-40B4-BE49-F238E27FC236}">
                <a16:creationId xmlns:a16="http://schemas.microsoft.com/office/drawing/2014/main" id="{036009D0-2646-B865-A2BE-D21CED11890F}"/>
              </a:ext>
            </a:extLst>
          </p:cNvPr>
          <p:cNvSpPr>
            <a:spLocks noGrp="1"/>
          </p:cNvSpPr>
          <p:nvPr>
            <p:ph type="ftr" sz="quarter" idx="11"/>
          </p:nvPr>
        </p:nvSpPr>
        <p:spPr/>
        <p:txBody>
          <a:bodyPr/>
          <a:lstStyle/>
          <a:p>
            <a:r>
              <a:rPr lang="en-IN"/>
              <a:t>Amrita School of Computing</a:t>
            </a:r>
            <a:endParaRPr lang="en-IN" dirty="0"/>
          </a:p>
        </p:txBody>
      </p:sp>
      <p:sp>
        <p:nvSpPr>
          <p:cNvPr id="8" name="TextBox 7">
            <a:extLst>
              <a:ext uri="{FF2B5EF4-FFF2-40B4-BE49-F238E27FC236}">
                <a16:creationId xmlns:a16="http://schemas.microsoft.com/office/drawing/2014/main" id="{F3F0FBB7-4D2F-1EA6-45F5-DB9C3B3067BF}"/>
              </a:ext>
            </a:extLst>
          </p:cNvPr>
          <p:cNvSpPr txBox="1"/>
          <p:nvPr/>
        </p:nvSpPr>
        <p:spPr>
          <a:xfrm>
            <a:off x="838200" y="1371600"/>
            <a:ext cx="10566400" cy="4139595"/>
          </a:xfrm>
          <a:prstGeom prst="rect">
            <a:avLst/>
          </a:prstGeom>
          <a:noFill/>
        </p:spPr>
        <p:txBody>
          <a:bodyPr vert="horz" lIns="63500" tIns="38100" rIns="63500" bIns="38100" rtlCol="0">
            <a:spAutoFit/>
          </a:bodyPr>
          <a:lstStyle/>
          <a:p>
            <a:pPr marL="228600" indent="-228600" algn="just">
              <a:buFont typeface="Arial" panose="020B0604020202020204" pitchFamily="34" charset="0"/>
              <a:buChar char="•"/>
            </a:pPr>
            <a:r>
              <a:rPr lang="en-US" sz="2000" dirty="0"/>
              <a:t>Gu, Tianyu, Brendan Dolan-Gavitt, and Siddharth Garg. "</a:t>
            </a:r>
            <a:r>
              <a:rPr lang="en-US" sz="2000" dirty="0" err="1"/>
              <a:t>Badnets</a:t>
            </a:r>
            <a:r>
              <a:rPr lang="en-US" sz="2000" dirty="0"/>
              <a:t>: Identifying vulnerabilities in the machine learning model supply chain." </a:t>
            </a:r>
            <a:r>
              <a:rPr lang="en-US" sz="2000" i="1" dirty="0" err="1"/>
              <a:t>arXiv</a:t>
            </a:r>
            <a:r>
              <a:rPr lang="en-US" sz="2000" i="1" dirty="0"/>
              <a:t> preprint arXiv:1708.06733</a:t>
            </a:r>
            <a:r>
              <a:rPr lang="en-US" sz="2000" dirty="0"/>
              <a:t> (2017).</a:t>
            </a:r>
          </a:p>
          <a:p>
            <a:pPr marL="228600" indent="-228600" algn="just">
              <a:buFont typeface="Arial" panose="020B0604020202020204" pitchFamily="34" charset="0"/>
              <a:buChar char="•"/>
            </a:pPr>
            <a:r>
              <a:rPr lang="en-US" sz="2000" dirty="0"/>
              <a:t>Zhang, Ping, </a:t>
            </a:r>
            <a:r>
              <a:rPr lang="en-US" sz="2000" dirty="0" err="1"/>
              <a:t>Hongyuan</a:t>
            </a:r>
            <a:r>
              <a:rPr lang="en-US" sz="2000" dirty="0"/>
              <a:t> Yue, and Chau Yuen. "Backdoor Defense Strategy for Image Classification Tasks based on Frequency Domain Perturbation." </a:t>
            </a:r>
            <a:r>
              <a:rPr lang="en-US" sz="2000" i="1" dirty="0"/>
              <a:t>IEEE Internet of Things Journal</a:t>
            </a:r>
            <a:r>
              <a:rPr lang="en-US" sz="2000" dirty="0"/>
              <a:t> (2026).</a:t>
            </a:r>
            <a:endParaRPr lang="en-US" sz="1400" dirty="0"/>
          </a:p>
          <a:p>
            <a:pPr marL="228600" indent="-228600" algn="just">
              <a:buFont typeface="Arial" panose="020B0604020202020204" pitchFamily="34" charset="0"/>
              <a:buChar char="•"/>
            </a:pPr>
            <a:r>
              <a:rPr lang="en-US" sz="2000" dirty="0"/>
              <a:t>Feng, Yu, </a:t>
            </a:r>
            <a:r>
              <a:rPr lang="en-US" sz="2000" dirty="0" err="1"/>
              <a:t>Benteng</a:t>
            </a:r>
            <a:r>
              <a:rPr lang="en-US" sz="2000" dirty="0"/>
              <a:t> Ma, Jing Zhang, Shanshan Zhao, Yong Xia, and </a:t>
            </a:r>
            <a:r>
              <a:rPr lang="en-US" sz="2000" dirty="0" err="1"/>
              <a:t>Dacheng</a:t>
            </a:r>
            <a:r>
              <a:rPr lang="en-US" sz="2000" dirty="0"/>
              <a:t> Tao. "Fiba: Frequency-injection based backdoor attack in medical image analysis." In </a:t>
            </a:r>
            <a:r>
              <a:rPr lang="en-US" sz="2000" i="1" dirty="0"/>
              <a:t>2022 IEEE/CVF Conference on Computer Vision and Pattern Recognition (CVPR)</a:t>
            </a:r>
            <a:r>
              <a:rPr lang="en-US" sz="2000" dirty="0"/>
              <a:t>, pp. 20844-20853. IEEE, 2022.</a:t>
            </a:r>
            <a:endParaRPr lang="en-US" sz="1400" dirty="0"/>
          </a:p>
          <a:p>
            <a:pPr marL="228600" indent="-228600" algn="just">
              <a:buFont typeface="Arial" panose="020B0604020202020204" pitchFamily="34" charset="0"/>
              <a:buChar char="•"/>
            </a:pPr>
            <a:r>
              <a:rPr lang="en-US" sz="2000" dirty="0"/>
              <a:t>Lu, Run, </a:t>
            </a:r>
            <a:r>
              <a:rPr lang="en-US" sz="2000" dirty="0" err="1"/>
              <a:t>Peipeng</a:t>
            </a:r>
            <a:r>
              <a:rPr lang="en-US" sz="2000" dirty="0"/>
              <a:t> Yu, </a:t>
            </a:r>
            <a:r>
              <a:rPr lang="en-US" sz="2000" dirty="0" err="1"/>
              <a:t>Zhitao</a:t>
            </a:r>
            <a:r>
              <a:rPr lang="en-US" sz="2000" dirty="0"/>
              <a:t> Huang, Zhihua Xia, and Xiaoyan Jiang. "BAM: Backdoor defense based on adversarial mitigation." </a:t>
            </a:r>
            <a:r>
              <a:rPr lang="en-US" sz="2000" i="1" dirty="0"/>
              <a:t>Pattern Recognition</a:t>
            </a:r>
            <a:r>
              <a:rPr lang="en-US" sz="2000" dirty="0"/>
              <a:t> (2025): 112662. </a:t>
            </a:r>
          </a:p>
          <a:p>
            <a:pPr marL="228600" indent="-228600" algn="just">
              <a:buFont typeface="Arial" panose="020B0604020202020204" pitchFamily="34" charset="0"/>
              <a:buChar char="•"/>
            </a:pPr>
            <a:r>
              <a:rPr lang="en-US" sz="2000" dirty="0"/>
              <a:t>Fu, Kang, and Jianhua Dai. "Semantic-aware framework for backdoor detection in ai models." </a:t>
            </a:r>
            <a:r>
              <a:rPr lang="en-US" sz="2000" i="1" dirty="0"/>
              <a:t>International Journal on Semantic Web and Information Systems (IJSWIS)</a:t>
            </a:r>
            <a:r>
              <a:rPr lang="en-US" sz="2000" dirty="0"/>
              <a:t> 21, no. 1 (2025): 1-21.</a:t>
            </a:r>
            <a:endParaRPr lang="en-US" sz="1400" dirty="0"/>
          </a:p>
          <a:p>
            <a:pPr algn="just"/>
            <a:endParaRPr lang="en-US" sz="2000" dirty="0"/>
          </a:p>
        </p:txBody>
      </p:sp>
    </p:spTree>
    <p:extLst>
      <p:ext uri="{BB962C8B-B14F-4D97-AF65-F5344CB8AC3E}">
        <p14:creationId xmlns:p14="http://schemas.microsoft.com/office/powerpoint/2010/main" val="205186053"/>
      </p:ext>
    </p:extLst>
  </p:cSld>
  <p:clrMapOvr>
    <a:masterClrMapping/>
  </p:clrMapOvr>
</p:sld>
</file>

<file path=ppt/theme/theme1.xml><?xml version="1.0" encoding="utf-8"?>
<a:theme xmlns:a="http://schemas.openxmlformats.org/drawingml/2006/main" name="Office Theme">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1148</TotalTime>
  <Words>2262</Words>
  <Application>Microsoft Office PowerPoint</Application>
  <PresentationFormat>Widescreen</PresentationFormat>
  <Paragraphs>357</Paragraphs>
  <Slides>30</Slides>
  <Notes>12</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-apple-system</vt:lpstr>
      <vt:lpstr>Aptos</vt:lpstr>
      <vt:lpstr>Arial</vt:lpstr>
      <vt:lpstr>Calibri</vt:lpstr>
      <vt:lpstr>Times New Roman</vt:lpstr>
      <vt:lpstr>Office Theme</vt:lpstr>
      <vt:lpstr>Selective Mitigation of Frequency-Domain Backdoor Triggers in Image Classification</vt:lpstr>
      <vt:lpstr>Guide Approval Mail</vt:lpstr>
      <vt:lpstr>1. Introduction and Motivation</vt:lpstr>
      <vt:lpstr>2. Problem Statement</vt:lpstr>
      <vt:lpstr>3. Literature Survey and Research Gap</vt:lpstr>
      <vt:lpstr>3.1 Where the First Panel Left the Project</vt:lpstr>
      <vt:lpstr>3.2 Questions Raised After the First Panel</vt:lpstr>
      <vt:lpstr>4. Proposed Methodology </vt:lpstr>
      <vt:lpstr>4. Proposed Methodology </vt:lpstr>
      <vt:lpstr>4. Proposed Methodology </vt:lpstr>
      <vt:lpstr>4. Proposed Methodology </vt:lpstr>
      <vt:lpstr>PowerPoint Presentation</vt:lpstr>
      <vt:lpstr>4. Proposed Methodology </vt:lpstr>
      <vt:lpstr>5. Datasets</vt:lpstr>
      <vt:lpstr>6. Implementation Progress and Discussion</vt:lpstr>
      <vt:lpstr>6. Implementation Progress and Discussion</vt:lpstr>
      <vt:lpstr>7. Standard Algorithms and Evaluation Metrics</vt:lpstr>
      <vt:lpstr>8. Tools and Implementation Expertise</vt:lpstr>
      <vt:lpstr>9. Results</vt:lpstr>
      <vt:lpstr>9. Results</vt:lpstr>
      <vt:lpstr>9. Results - Trigger Versus Noise</vt:lpstr>
      <vt:lpstr>9. Results - Trigger Versus Noise</vt:lpstr>
      <vt:lpstr>10. Demonstration</vt:lpstr>
      <vt:lpstr>11. SDG Mapping</vt:lpstr>
      <vt:lpstr>12. Project Plan for Semester 3</vt:lpstr>
      <vt:lpstr>13. Domain Expertise Course</vt:lpstr>
      <vt:lpstr>13. Domain Expertise Course</vt:lpstr>
      <vt:lpstr>14. Technical Enrichment Activities</vt:lpstr>
      <vt:lpstr>15. Conclusion</vt:lpstr>
      <vt:lpstr>16. 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 Leaf Disease Detection using XAI and Evolutionary Algorithms</dc:title>
  <dc:creator>shanmukhi sudireddy</dc:creator>
  <cp:lastModifiedBy>Varun Menon</cp:lastModifiedBy>
  <cp:revision>108</cp:revision>
  <dcterms:created xsi:type="dcterms:W3CDTF">2023-09-19T13:33:25Z</dcterms:created>
  <dcterms:modified xsi:type="dcterms:W3CDTF">2026-10-10T09:06:00Z</dcterms:modified>
</cp:coreProperties>
</file>