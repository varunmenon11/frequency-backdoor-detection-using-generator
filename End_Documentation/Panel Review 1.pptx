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97" r:id="rId3"/>
    <p:sldId id="398" r:id="rId4"/>
    <p:sldId id="399" r:id="rId5"/>
    <p:sldId id="400" r:id="rId6"/>
    <p:sldId id="401" r:id="rId7"/>
    <p:sldId id="417" r:id="rId8"/>
    <p:sldId id="402" r:id="rId9"/>
    <p:sldId id="418" r:id="rId10"/>
    <p:sldId id="405" r:id="rId11"/>
    <p:sldId id="406" r:id="rId12"/>
    <p:sldId id="407" r:id="rId13"/>
    <p:sldId id="416" r:id="rId14"/>
    <p:sldId id="409" r:id="rId15"/>
    <p:sldId id="410" r:id="rId16"/>
    <p:sldId id="411" r:id="rId17"/>
    <p:sldId id="412" r:id="rId18"/>
    <p:sldId id="413" r:id="rId19"/>
    <p:sldId id="414" r:id="rId20"/>
    <p:sldId id="4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1D3EE-8C7C-412D-81A5-D4E3E6887916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Team G012</a:t>
            </a:r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4FDDE-647E-44DF-8749-3CBD56F44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C3795-8EA9-462F-8FFB-B3000D00495A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Team G012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306B3-53A4-4385-8833-0D66B505765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3A94423-0FC9-4893-BF8B-2BD64DF39E4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EC36-708C-17DE-E523-D2B63B25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26644-10D6-C9D7-F3FD-0CF03F671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62047-122A-4357-D5B9-F474E0FC2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46501-5FBC-E325-84FA-DDB1B8FE0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6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5AF7-6A1F-76EC-C932-5BC5C232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34FDE-DDE5-52A5-5184-FA42878D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1EA50-43BF-48E5-2C19-DF52AB474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74F37-D898-85BD-5041-4C219039F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69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F8DB-AACC-854C-5ACA-05E5621B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13507-295D-37A0-4EBD-56C0D75B5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E09D3-0244-DDAA-CF45-A49C68758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A319A-305E-47B7-C2BF-C0E8FD729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914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56BC-3100-CCCB-721B-109A3EB5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75D47-DB8F-1F72-80AA-1A1E297A2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6882D-2430-2922-A462-4E71D044A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E8242-DD11-7C60-11A3-7DDF8D538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42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DF1A2-6A30-3E5F-EB51-5A9C9622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F2436-ADEA-8F02-3282-BC655DA9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6E8FC-722B-6D11-E272-7565AE23F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216A-A6E2-81AD-720C-F90982AA9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55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C763-C72F-5F7B-719F-6E377C6A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C29A7-815E-02B3-4B58-8E3163ED8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B0A2B-D421-2BFD-6135-438E740ED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C681D-1E8B-B7BA-DE48-D980BBC85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22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673DB-4A92-A326-189E-7EC49189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44871-0CF9-9BA4-8E03-0549E810F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57665-C662-E834-C137-C0F2017EE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A6269-2646-5BE1-2858-21D4841BA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3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marL="152400" marR="56515" indent="-6350" algn="ctr">
              <a:lnSpc>
                <a:spcPct val="107000"/>
              </a:lnSpc>
              <a:spcAft>
                <a:spcPts val="1475"/>
              </a:spcAft>
            </a:pPr>
            <a:endParaRPr lang="en-IN" sz="1800" kern="10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E67CB6C-43E3-422B-BCAF-D739486A2DB1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D75320-E363-07F6-1B81-4820F6EBC6FF}"/>
              </a:ext>
            </a:extLst>
          </p:cNvPr>
          <p:cNvSpPr/>
          <p:nvPr userDrawn="1"/>
        </p:nvSpPr>
        <p:spPr>
          <a:xfrm>
            <a:off x="555812" y="726142"/>
            <a:ext cx="11214847" cy="571051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2" descr="Amrita Vishwa Vidyapeetham, Coimbatore: Courses, Fees ...">
            <a:extLst>
              <a:ext uri="{FF2B5EF4-FFF2-40B4-BE49-F238E27FC236}">
                <a16:creationId xmlns:a16="http://schemas.microsoft.com/office/drawing/2014/main" id="{B6D01B2C-0129-31C5-FC22-5FCE53DE2D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0875" y="90815"/>
            <a:ext cx="717325" cy="70102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900544" y="472211"/>
            <a:ext cx="10619509" cy="7701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900545" y="1349447"/>
            <a:ext cx="10619509" cy="492925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97915"/>
            <a:ext cx="4114800" cy="365125"/>
          </a:xfrm>
        </p:spPr>
        <p:txBody>
          <a:bodyPr/>
          <a:lstStyle>
            <a:lvl1pPr>
              <a:defRPr sz="1600">
                <a:solidFill>
                  <a:srgbClr val="C00000"/>
                </a:solidFill>
              </a:defRPr>
            </a:lvl1pPr>
          </a:lstStyle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135EB1-7067-2CB6-47D6-8AAF76F95DE0}"/>
              </a:ext>
            </a:extLst>
          </p:cNvPr>
          <p:cNvSpPr/>
          <p:nvPr userDrawn="1"/>
        </p:nvSpPr>
        <p:spPr>
          <a:xfrm>
            <a:off x="555812" y="365125"/>
            <a:ext cx="11214847" cy="607153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2" descr="Amrita Vishwa Vidyapeetham, Coimbatore: Courses, Fees ...">
            <a:extLst>
              <a:ext uri="{FF2B5EF4-FFF2-40B4-BE49-F238E27FC236}">
                <a16:creationId xmlns:a16="http://schemas.microsoft.com/office/drawing/2014/main" id="{7DEBD2AF-BDD0-624E-DB8F-5E33ABE42E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0875" y="2317"/>
            <a:ext cx="717325" cy="70102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8D6533-0A49-40D3-97C1-ED0AEBD15CE8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2D45F26-CD3D-4CB7-A08C-F64529BECC6D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F04CA1D-E45F-4ABA-93FD-F13C351FEA3B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053A1BFF-65AB-4F45-8E0C-54370E4A7052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35547D9-2B83-49F7-A627-9071E2479DD9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45C19302-C6C3-45A3-ACFC-1EEFD9FDC8BA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F1D70A46-EA38-482D-AA70-02093390002D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8C4E829C-9FBA-4B7D-8073-2DB5808857C5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3A9D5A66-3627-4B8C-86F4-A8204BEC60EE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5BA6-7B72-4FA1-8B79-6A535DA9EEB8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959999" y="1008632"/>
            <a:ext cx="10272000" cy="675046"/>
          </a:xfrm>
        </p:spPr>
        <p:txBody>
          <a:bodyPr>
            <a:noAutofit/>
          </a:bodyPr>
          <a:lstStyle/>
          <a:p>
            <a:r>
              <a:rPr lang="en-US" sz="2400" dirty="0"/>
              <a:t>Frequency-Domain Backdoor Mitigation Using Spectral Correction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3999" y="1885859"/>
            <a:ext cx="9144000" cy="3391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Project Phase 1 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Supervisor: Dr. Senthilkumar 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555812" y="726142"/>
            <a:ext cx="11214847" cy="571051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5"/>
          <p:cNvSpPr>
            <a:spLocks noGrp="1" noEditPoints="1"/>
          </p:cNvSpPr>
          <p:nvPr>
            <p:ph type="dt" sz="half" idx="10"/>
          </p:nvPr>
        </p:nvSpPr>
        <p:spPr>
          <a:xfrm>
            <a:off x="468406" y="6467756"/>
            <a:ext cx="2743200" cy="365125"/>
          </a:xfrm>
        </p:spPr>
        <p:txBody>
          <a:bodyPr/>
          <a:lstStyle/>
          <a:p>
            <a:fld id="{FE6C8D79-9227-457B-83BD-6D5D7B5F8D15}" type="datetime1">
              <a:rPr lang="en-IN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27-08-2026</a:t>
            </a:fld>
            <a:endParaRPr lang="en-IN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mrita Vishwa Vidyapeetham, Coimbatore: Courses, Fees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937" y="25119"/>
            <a:ext cx="965000" cy="943069"/>
          </a:xfrm>
          <a:prstGeom prst="rect">
            <a:avLst/>
          </a:prstGeom>
          <a:noFill/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15447"/>
              </p:ext>
            </p:extLst>
          </p:nvPr>
        </p:nvGraphicFramePr>
        <p:xfrm>
          <a:off x="1028151" y="4347144"/>
          <a:ext cx="1013569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762">
                  <a:extLst>
                    <a:ext uri="{9D8B030D-6E8A-4147-A177-3AD203B41FA5}">
                      <a16:colId xmlns:a16="http://schemas.microsoft.com/office/drawing/2014/main" val="108501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Roll Number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tx1"/>
                          </a:solidFill>
                        </a:rPr>
                        <a:t>Internship details 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Varun Mahesh Menon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CB.SC.P2AIE25031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Wabtec (11 Months) - Bangalore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29DCD-5078-96E0-9E26-E3AECDD1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8A5F-9912-D9DC-F306-7381EDCB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Guide Approval Mail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CF9B94-BA00-3BAE-98C6-D798251D0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187" y="1254133"/>
            <a:ext cx="9125626" cy="51437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813F0-6150-F56D-6EE9-70CE4E4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543BA-D8DD-7640-A0DA-0CBE78F7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</p:spTree>
    <p:extLst>
      <p:ext uri="{BB962C8B-B14F-4D97-AF65-F5344CB8AC3E}">
        <p14:creationId xmlns:p14="http://schemas.microsoft.com/office/powerpoint/2010/main" val="425001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AF90-0A41-BBD4-46F9-E13A14BA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Introduction and 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CEDF-88B0-DCF2-C70D-546EA217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3" y="1334727"/>
            <a:ext cx="10619509" cy="49292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Backdoor Security Matters in Image Classification</a:t>
            </a:r>
          </a:p>
          <a:p>
            <a:pPr lvl="0" algn="just"/>
            <a:r>
              <a:rPr lang="en-US" sz="2000" dirty="0"/>
              <a:t>Deep-learning classifiers are increasingly used in safety-sensitive applications.</a:t>
            </a:r>
          </a:p>
          <a:p>
            <a:pPr lvl="0" algn="just"/>
            <a:r>
              <a:rPr lang="en-US" sz="2000" dirty="0"/>
              <a:t>A backdoor can keep normal accuracy on clean images while causing targeted errors when a trigger is present.</a:t>
            </a:r>
          </a:p>
          <a:p>
            <a:pPr lvl="0" algn="just"/>
            <a:r>
              <a:rPr lang="en-US" sz="2000" dirty="0"/>
              <a:t>A defense should remove trigger dependence without destroying useful image information.</a:t>
            </a:r>
          </a:p>
          <a:p>
            <a:pPr lvl="0" algn="just"/>
            <a:endParaRPr lang="en-US" sz="2000" dirty="0"/>
          </a:p>
          <a:p>
            <a:pPr lvl="0" algn="just"/>
            <a:endParaRPr lang="en-US" sz="2000" dirty="0"/>
          </a:p>
          <a:p>
            <a:pPr lvl="0" algn="just"/>
            <a:endParaRPr lang="en-US" sz="2000" dirty="0"/>
          </a:p>
          <a:p>
            <a:pPr algn="just"/>
            <a:r>
              <a:rPr lang="en-US" sz="2000" dirty="0"/>
              <a:t>Frequency-domain triggers can be visually subtle and difficult to identify directly in pixel space.</a:t>
            </a:r>
          </a:p>
          <a:p>
            <a:pPr algn="just"/>
            <a:r>
              <a:rPr lang="en-US" sz="2000" dirty="0"/>
              <a:t>Current frequency-domain defenses suppress all frequency regions — including both trigger frequencies and useful signal frequencies. This is a blunt instrument that degrades legitimate model performance.</a:t>
            </a:r>
          </a:p>
          <a:p>
            <a:pPr lvl="0" algn="just"/>
            <a:r>
              <a:rPr lang="en-US" sz="2000" b="1" dirty="0"/>
              <a:t>“how can we weaken a learned trigger dependency without removing the natural frequency information that the classifier needs?”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F4BB4-B2A4-CD27-3928-3343D971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9B933-4758-16A1-8BA1-BE214E18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5914A-39AB-AE28-D0E9-6415E53D96C2}"/>
              </a:ext>
            </a:extLst>
          </p:cNvPr>
          <p:cNvSpPr/>
          <p:nvPr/>
        </p:nvSpPr>
        <p:spPr>
          <a:xfrm>
            <a:off x="2855258" y="3231045"/>
            <a:ext cx="6481483" cy="93681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clean image -&gt; classifier -&gt; correct class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triggered image -&gt; classifier -&gt; attacker target class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D5107-0765-ACFD-EE51-4BF710D3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87AD-626D-991C-6A92-4208FEFA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2BCD-4B35-9C7E-4B46-AAC83EDD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3" y="1334727"/>
            <a:ext cx="10619509" cy="49292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/>
              <a:t>Problem statement:</a:t>
            </a:r>
          </a:p>
          <a:p>
            <a:pPr algn="just"/>
            <a:r>
              <a:rPr lang="en-US" sz="2000" dirty="0"/>
              <a:t>To develop a selective and adaptive frequency-domain defense that suppresses trigger-related spectral information while maintaining clean-image classification performance.</a:t>
            </a:r>
          </a:p>
          <a:p>
            <a:pPr marL="0" indent="0" algn="just">
              <a:buNone/>
            </a:pPr>
            <a:endParaRPr lang="en-IN" sz="3600" dirty="0"/>
          </a:p>
          <a:p>
            <a:pPr marL="0" indent="0" algn="just">
              <a:buNone/>
            </a:pPr>
            <a:r>
              <a:rPr lang="en-US" sz="3200" b="1" dirty="0"/>
              <a:t>Objectives</a:t>
            </a:r>
          </a:p>
          <a:p>
            <a:pPr lvl="0" algn="just"/>
            <a:r>
              <a:rPr lang="en-US" sz="2000" dirty="0"/>
              <a:t>Identify suspicious amplitude changes caused by a trigger.</a:t>
            </a:r>
          </a:p>
          <a:p>
            <a:pPr lvl="0" algn="just"/>
            <a:r>
              <a:rPr lang="en-US" sz="2000" dirty="0"/>
              <a:t>Learn an adaptive correction map rather than applying one global filter.</a:t>
            </a:r>
          </a:p>
          <a:p>
            <a:pPr lvl="0" algn="just"/>
            <a:r>
              <a:rPr lang="en-US" sz="2000" dirty="0"/>
              <a:t>Repair the suspicious classifier so it no longer depends on the trigger.</a:t>
            </a:r>
          </a:p>
          <a:p>
            <a:pPr lvl="0" algn="just"/>
            <a:r>
              <a:rPr lang="en-US" sz="2000" dirty="0"/>
              <a:t>Evaluate the approach across resolutions, trigger strengths, trigger functions and unknown images.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2F320-0A2D-FAB3-2BE6-9F787A4D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9782-0FD0-7736-16FA-2D7A0925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32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A5C4-0363-0290-D374-1997D2E4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FAD3-6DAA-F50C-F632-9098F309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Literature Survey and Research Gap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3E678D7-1692-3943-76FF-0411461DB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950162"/>
              </p:ext>
            </p:extLst>
          </p:nvPr>
        </p:nvGraphicFramePr>
        <p:xfrm>
          <a:off x="662473" y="1349375"/>
          <a:ext cx="10858015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657">
                  <a:extLst>
                    <a:ext uri="{9D8B030D-6E8A-4147-A177-3AD203B41FA5}">
                      <a16:colId xmlns:a16="http://schemas.microsoft.com/office/drawing/2014/main" val="1403744216"/>
                    </a:ext>
                  </a:extLst>
                </a:gridCol>
                <a:gridCol w="3672679">
                  <a:extLst>
                    <a:ext uri="{9D8B030D-6E8A-4147-A177-3AD203B41FA5}">
                      <a16:colId xmlns:a16="http://schemas.microsoft.com/office/drawing/2014/main" val="768250572"/>
                    </a:ext>
                  </a:extLst>
                </a:gridCol>
                <a:gridCol w="3672679">
                  <a:extLst>
                    <a:ext uri="{9D8B030D-6E8A-4147-A177-3AD203B41FA5}">
                      <a16:colId xmlns:a16="http://schemas.microsoft.com/office/drawing/2014/main" val="939063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Research direction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What existed work demonstrates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Limitation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3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Backdoor Defense Strategy for Image Classification Tasks Based on Frequency Domain Perturbation.</a:t>
                      </a:r>
                    </a:p>
                    <a:p>
                      <a:pPr algn="just"/>
                      <a:r>
                        <a:rPr lang="en-US" dirty="0"/>
                        <a:t>(</a:t>
                      </a:r>
                      <a:r>
                        <a:rPr lang="en-US" b="1" dirty="0"/>
                        <a:t>IEEE Internet of Things Journal, June 2026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The defense strategy broadly suppressed </a:t>
                      </a:r>
                      <a:r>
                        <a:rPr lang="en-US" i="1"/>
                        <a:t>all</a:t>
                      </a:r>
                      <a:r>
                        <a:rPr lang="en-US"/>
                        <a:t> high-frequency components in the image — whether they carried malicious trigger signals or genuinely important details.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The approach lacked the ability to selectively filter only the malicious high-frequency signals. As a result, valuable frequency information was also discarded.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25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BAM: Backdoor defense based on adversarial mitigation.</a:t>
                      </a:r>
                    </a:p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 Recognition, </a:t>
                      </a:r>
                      <a:r>
                        <a:rPr lang="en-US" b="1" dirty="0"/>
                        <a:t>October 2025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 generator network is trained to produce subtle perturbations that weaken trigger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BAM is still less effective against strong visible triggers compared to invisible ones.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2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Semantic-Aware Framework for Backdoor Detection in AI Models.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</a:t>
                      </a:r>
                      <a:r>
                        <a:rPr lang="en-US" b="1" dirty="0"/>
                        <a:t>International Journal on Semantic Web and Information Systems, December 2025</a:t>
                      </a:r>
                      <a:r>
                        <a:rPr lang="en-US" dirty="0"/>
                        <a:t>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 clean model vs target model using small semantic changes (noise, texture, etc.)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less effective on frequency-based trigger.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0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92903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9BD6F-B137-AAF9-D43A-2436BC279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3CD74-6188-01D5-544D-D2B652D2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97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EF1D1-301F-557D-6127-2DB19E17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048F-81D7-E6D4-B85D-8C257CEC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86022-1783-8271-F0D6-8C7793F5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824CF-3D4D-B24C-12FD-829B62C5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065DC-2ACC-3918-69ED-EB1655555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7AA2B-CA75-E29A-9B0A-44601A2DD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1349447"/>
            <a:ext cx="11691257" cy="468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47D9-DD3D-D8F8-085E-185ABAC2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F759-92EE-2C29-AF8C-529EA6BE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837E1-2EB9-7B5E-96F3-1CCAB1EE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DBE70-4084-9AC0-8AD3-C2DFC3FC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83CF1-D764-5CE9-A124-A0C7A1F23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One Example Scenario,</a:t>
            </a:r>
          </a:p>
          <a:p>
            <a:pPr marL="0" indent="0">
              <a:buNone/>
            </a:pPr>
            <a:r>
              <a:rPr lang="en-US" dirty="0"/>
              <a:t>Consider a radiology system that classifies medical images.</a:t>
            </a:r>
            <a:br>
              <a:rPr lang="en-US" dirty="0"/>
            </a:br>
            <a:r>
              <a:rPr lang="en-US" dirty="0"/>
              <a:t>A possible attack scenario is:</a:t>
            </a:r>
          </a:p>
          <a:p>
            <a:pPr lvl="1"/>
            <a:r>
              <a:rPr lang="en-US" dirty="0"/>
              <a:t>A hospital obtains training data from an external provider.</a:t>
            </a:r>
          </a:p>
          <a:p>
            <a:pPr lvl="1"/>
            <a:r>
              <a:rPr lang="en-US" dirty="0"/>
              <a:t>Some training images have been poisoned.</a:t>
            </a:r>
          </a:p>
          <a:p>
            <a:pPr lvl="1"/>
            <a:r>
              <a:rPr lang="en-US" dirty="0"/>
              <a:t>The attacker inserts a hidden frequency-domain trigger.</a:t>
            </a:r>
          </a:p>
          <a:p>
            <a:pPr lvl="1"/>
            <a:r>
              <a:rPr lang="en-US" dirty="0"/>
              <a:t>The classifier performs normally on ordinary images.</a:t>
            </a:r>
          </a:p>
          <a:p>
            <a:pPr lvl="1"/>
            <a:r>
              <a:rPr lang="en-US" dirty="0"/>
              <a:t>When the trigger appears, the classifier produces an incorrect target prediction.</a:t>
            </a:r>
          </a:p>
          <a:p>
            <a:pPr marL="0" indent="0">
              <a:buNone/>
            </a:pPr>
            <a:r>
              <a:rPr lang="en-US" dirty="0"/>
              <a:t>The proposed defense would:</a:t>
            </a:r>
          </a:p>
          <a:p>
            <a:pPr lvl="1"/>
            <a:r>
              <a:rPr lang="en-US" dirty="0"/>
              <a:t>Receive the image.</a:t>
            </a:r>
          </a:p>
          <a:p>
            <a:pPr lvl="1"/>
            <a:r>
              <a:rPr lang="en-US" dirty="0"/>
              <a:t>Transform it into the frequency domain.</a:t>
            </a:r>
          </a:p>
          <a:p>
            <a:pPr lvl="1"/>
            <a:r>
              <a:rPr lang="en-US" dirty="0"/>
              <a:t>Analyze amplitude information.</a:t>
            </a:r>
          </a:p>
          <a:p>
            <a:pPr lvl="1"/>
            <a:r>
              <a:rPr lang="en-US" dirty="0"/>
              <a:t>Estimate suspicious spectral components.</a:t>
            </a:r>
          </a:p>
          <a:p>
            <a:pPr lvl="1"/>
            <a:r>
              <a:rPr lang="en-US" dirty="0"/>
              <a:t>Apply a selective correction map.</a:t>
            </a:r>
          </a:p>
          <a:p>
            <a:pPr lvl="1"/>
            <a:r>
              <a:rPr lang="en-US" dirty="0"/>
              <a:t>Reconstruct the image.</a:t>
            </a:r>
          </a:p>
          <a:p>
            <a:pPr lvl="1"/>
            <a:r>
              <a:rPr lang="en-US" dirty="0"/>
              <a:t>Send the corrected image to the classifier.</a:t>
            </a:r>
          </a:p>
          <a:p>
            <a:pPr lvl="1"/>
            <a:r>
              <a:rPr lang="en-US" dirty="0"/>
              <a:t>Compare the prediction with the original prediction.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65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786A-66B1-15C3-E007-6C86EB1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0D8C-0F1A-55DC-B75F-FF277D0A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F2653-E6FE-6AA4-6335-BD4CAD49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15CF-81F9-FDEC-557D-1BA07729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1809D-94F9-3F9D-2DE7-145759B7A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7FB74-D928-F938-BEEC-4381AEB4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690" y="1172477"/>
            <a:ext cx="6674619" cy="521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4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AC27-9E8E-5B7C-78D5-48AECFB1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8F78-C7CC-F6E4-3F1A-3F7984BF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D0155-D749-E1F4-64A9-C1AF59EB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3DD91-89B3-0455-6507-E0E474CC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8647C8-4DE7-8DC1-DAEB-E962C6CC0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648" y="1398897"/>
            <a:ext cx="8298609" cy="49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3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A586-28DE-BB6E-C228-AAFB2C45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BC7F-D189-7A6B-9054-2BDD776E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Datasets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C456B-F3E1-41A5-C42B-92FFB87A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8AB7-D657-B365-7DBD-A245282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8040AF-13A4-07CF-95BA-AC41304A49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208346"/>
              </p:ext>
            </p:extLst>
          </p:nvPr>
        </p:nvGraphicFramePr>
        <p:xfrm>
          <a:off x="838200" y="1295172"/>
          <a:ext cx="10515600" cy="172212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176603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83147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847288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7044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Dataset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>
                          <a:effectLst/>
                        </a:rPr>
                        <a:t>Native resolution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>
                          <a:effectLst/>
                        </a:rPr>
                        <a:t>Classes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Purpose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9341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CIFAR-100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32x32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effectLst/>
                        </a:rPr>
                        <a:t>100</a:t>
                      </a:r>
                      <a:endParaRPr lang="en-US" sz="14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Initial proof of concept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74536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Tiny ImageNet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64x64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200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Larger class count and intermediate resolution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1670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STL-10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96x96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Higher-resolution validation and ablations</a:t>
                      </a:r>
                      <a:endParaRPr lang="en-US" sz="14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34218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302CC7-3E1F-2575-67F5-04481C579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685572"/>
              </p:ext>
            </p:extLst>
          </p:nvPr>
        </p:nvGraphicFramePr>
        <p:xfrm>
          <a:off x="838200" y="3070102"/>
          <a:ext cx="10515600" cy="314706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266830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3030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Parameter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Main setting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8248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Poison ratio</a:t>
                      </a:r>
                      <a:endParaRPr lang="en-US" sz="14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0.12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30953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Main sinusoidal strength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alpha = 0.08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1440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CIFAR-100 frequency</a:t>
                      </a:r>
                      <a:endParaRPr lang="en-US" sz="14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(6,6)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215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Tiny ImageNet frequency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(12,12)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31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STL-10 frequency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(18,18)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98772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Random seed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42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60114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Main classifier epochs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30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6793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Main generator epochs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30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69989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Main repair epochs</a:t>
                      </a:r>
                      <a:endParaRPr lang="en-US" sz="14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8439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13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8ECB-189E-C8CD-5948-2B8D868D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C085-D93F-04CD-151E-67CE0761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C329-80B3-FC8A-E660-41EA2043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79BEB-A3C5-02F4-925F-2174502E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05F3E64-D62A-6A18-A492-9F2FD5422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468478"/>
              </p:ext>
            </p:extLst>
          </p:nvPr>
        </p:nvGraphicFramePr>
        <p:xfrm>
          <a:off x="900113" y="1349375"/>
          <a:ext cx="10601605" cy="47040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01605">
                  <a:extLst>
                    <a:ext uri="{9D8B030D-6E8A-4147-A177-3AD203B41FA5}">
                      <a16:colId xmlns:a16="http://schemas.microsoft.com/office/drawing/2014/main" val="3471131495"/>
                    </a:ext>
                  </a:extLst>
                </a:gridCol>
              </a:tblGrid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Dataset loading and preprocessing.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71592"/>
                  </a:ext>
                </a:extLst>
              </a:tr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Poisoned-data generation.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90952"/>
                  </a:ext>
                </a:extLst>
              </a:tr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Suspicious classifier training.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310423"/>
                  </a:ext>
                </a:extLst>
              </a:tr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FFT amplitude/phase decomposition.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936331"/>
                  </a:ext>
                </a:extLst>
              </a:tr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Spectral correction generator.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87169"/>
                  </a:ext>
                </a:extLst>
              </a:tr>
              <a:tr h="60504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Classifier repair.</a:t>
                      </a:r>
                    </a:p>
                    <a:p>
                      <a:pPr lvl="0" algn="ctr"/>
                      <a:r>
                        <a:rPr lang="en-US" sz="2000" dirty="0">
                          <a:effectLst/>
                        </a:rPr>
                        <a:t>⬇️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225876"/>
                  </a:ext>
                </a:extLst>
              </a:tr>
              <a:tr h="497786"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</a:rPr>
                        <a:t>ASR and clean-accuracy evaluation.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816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40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4B00-186B-BAFC-9655-EB67AB57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F782-EBAB-F2BC-5CF6-1CC491B5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3BD7-E56D-A40E-FEE6-410CF7E2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B4D58-8346-52B5-9AA4-C8C7B052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013195A-F94B-F445-92D0-6A4E66139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66657"/>
              </p:ext>
            </p:extLst>
          </p:nvPr>
        </p:nvGraphicFramePr>
        <p:xfrm>
          <a:off x="838198" y="1641133"/>
          <a:ext cx="10515603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2117054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19829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4704309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0247509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2717876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7033933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72724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Dataset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Resolution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Suspicious clean accuracy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Suspicious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Generator-corrected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Repaired clean accuracy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Repaired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95690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CIFAR-100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32x32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55.68%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98.54%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0.37%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63.35%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0.06%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8446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Tiny ImageNet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64x64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40.96%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99.99%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0.37%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46.11%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0.09%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7554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STL-10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96x96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65.75%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100.00%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3.15%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76.19%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0.71%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43842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6ABA71-625D-5F22-9AE2-36049C895E14}"/>
              </a:ext>
            </a:extLst>
          </p:cNvPr>
          <p:cNvSpPr txBox="1"/>
          <p:nvPr/>
        </p:nvSpPr>
        <p:spPr>
          <a:xfrm>
            <a:off x="838198" y="1271801"/>
            <a:ext cx="227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6A. Different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12E1D-C9CA-1480-FC4D-CF616F1B41F6}"/>
              </a:ext>
            </a:extLst>
          </p:cNvPr>
          <p:cNvSpPr txBox="1"/>
          <p:nvPr/>
        </p:nvSpPr>
        <p:spPr>
          <a:xfrm>
            <a:off x="838198" y="3429000"/>
            <a:ext cx="307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6B: Trigger-strength ablation</a:t>
            </a:r>
          </a:p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D63CF4-6732-0DF6-6365-37103DB90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53801"/>
              </p:ext>
            </p:extLst>
          </p:nvPr>
        </p:nvGraphicFramePr>
        <p:xfrm>
          <a:off x="838201" y="3922152"/>
          <a:ext cx="10515600" cy="2087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1193116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274269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921032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9239896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92885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4042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Alpha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Interpretation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Suspicious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Generator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Repaired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>
                          <a:effectLst/>
                        </a:rPr>
                        <a:t>Repaired clean accuracy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64770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0.03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weak trigger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99.96%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1.25%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0.44%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76.01%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03738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0.15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balanced presentation setting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99.92%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1.26%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0.38%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75.55%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9418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0.25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very strong trigger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100.00%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1.39%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0.35%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75.24%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381899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45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AD9D-5D80-1E2C-7915-5358E833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5546-9ABD-B55B-AE89-EFBCD610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9863-8947-D3E0-8910-B4D046A8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663E-6613-A978-16C8-01A21381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CE4DC-09E7-524D-63E3-2093DE1D9D05}"/>
              </a:ext>
            </a:extLst>
          </p:cNvPr>
          <p:cNvSpPr txBox="1"/>
          <p:nvPr/>
        </p:nvSpPr>
        <p:spPr>
          <a:xfrm>
            <a:off x="838198" y="1770635"/>
            <a:ext cx="3091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6C: Trigger-function ablation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2ED12FD-F18A-DC87-5935-EEDA2B346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910633"/>
              </p:ext>
            </p:extLst>
          </p:nvPr>
        </p:nvGraphicFramePr>
        <p:xfrm>
          <a:off x="838198" y="2139967"/>
          <a:ext cx="10515600" cy="1695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975584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197173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7556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1242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Trigger function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Suspicious ASR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Generator ASR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Repaired ASR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14870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Cosine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100.00%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2.43%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0.32%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73958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Sine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99.97%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0.46%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0.40%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5881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Checkerboard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100.00%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2.88%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0.60%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23899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Dual-frequency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99.99%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0.68%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>
                          <a:effectLst/>
                        </a:rPr>
                        <a:t>0.07%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99615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02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57BD-74C0-E541-1679-3E11BCF0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C861-CE39-1098-5F75-63342716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30853-B0EF-B1C6-9507-08D1691F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47ED-4CFF-3A8E-9D81-5F54BBC0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2BDF33-4A5E-FCD3-D7D5-DA1908F09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29421" y="1336931"/>
            <a:ext cx="5362358" cy="50609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987D0-1133-3574-126F-CBA876378E91}"/>
              </a:ext>
            </a:extLst>
          </p:cNvPr>
          <p:cNvSpPr txBox="1"/>
          <p:nvPr/>
        </p:nvSpPr>
        <p:spPr>
          <a:xfrm>
            <a:off x="567063" y="1161507"/>
            <a:ext cx="536235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clean true</a:t>
            </a:r>
            <a:r>
              <a:rPr lang="en-US" sz="2000" dirty="0"/>
              <a:t>: original image and true class.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susp clean: </a:t>
            </a:r>
            <a:r>
              <a:rPr lang="en-US" sz="2000" dirty="0"/>
              <a:t>suspicious model prediction on the clean image.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susp trig: </a:t>
            </a:r>
            <a:r>
              <a:rPr lang="en-US" sz="2000" dirty="0"/>
              <a:t>suspicious model prediction after adding the trigger.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susp </a:t>
            </a:r>
            <a:r>
              <a:rPr lang="en-US" sz="2000" b="1" dirty="0" err="1"/>
              <a:t>corr</a:t>
            </a:r>
            <a:r>
              <a:rPr lang="en-US" sz="2000" b="1" dirty="0"/>
              <a:t>: </a:t>
            </a:r>
            <a:r>
              <a:rPr lang="en-US" sz="2000" dirty="0"/>
              <a:t>suspicious model after generator correction.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repair clean: </a:t>
            </a:r>
            <a:r>
              <a:rPr lang="en-US" sz="2000" dirty="0"/>
              <a:t>repaired model on the clean image.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repair trig: </a:t>
            </a:r>
            <a:r>
              <a:rPr lang="en-US" sz="2000" dirty="0"/>
              <a:t>repaired model on the raw triggered image.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repair </a:t>
            </a:r>
            <a:r>
              <a:rPr lang="en-US" sz="2000" b="1" dirty="0" err="1"/>
              <a:t>corr</a:t>
            </a:r>
            <a:r>
              <a:rPr lang="en-US" sz="2000" b="1" dirty="0"/>
              <a:t>: </a:t>
            </a:r>
            <a:r>
              <a:rPr lang="en-US" sz="2000" dirty="0"/>
              <a:t>repaired model on the corrected image.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amplitude diff: </a:t>
            </a:r>
            <a:r>
              <a:rPr lang="en-US" sz="2000" dirty="0"/>
              <a:t>clean/triggered amplitude difference.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correction map: </a:t>
            </a:r>
            <a:r>
              <a:rPr lang="en-US" sz="2000" dirty="0"/>
              <a:t>generator’s learned correction decision.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696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5165-5842-BB00-54DC-B1F7BD5F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BDAD-6C36-AEEA-89B6-3254A65C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7. SDG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9DFF3-E92D-C527-7899-64CC7157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F746E-77B7-2E44-95CF-46545403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02B8B-10B0-EEBF-F751-FA1614778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271801"/>
            <a:ext cx="10619509" cy="49292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/>
              <a:t>Potential application relevance: SDG 3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/>
              <a:t>Good Health and Well-being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Medical imaging is a future application area where model backdoors could create serious risks. The current presentation does not claim completed medical validation; SDG 3 is presented as an application motivation and future direction.</a:t>
            </a:r>
          </a:p>
          <a:p>
            <a:pPr marL="0" indent="0" algn="just">
              <a:buNone/>
            </a:pPr>
            <a:r>
              <a:rPr lang="en-US" b="1" dirty="0"/>
              <a:t>Primary mapping: SDG 9</a:t>
            </a:r>
          </a:p>
          <a:p>
            <a:pPr marL="0" indent="0" algn="just">
              <a:buNone/>
            </a:pPr>
            <a:r>
              <a:rPr lang="en-US" sz="3200" b="1" dirty="0"/>
              <a:t>Industry, Innovation and Infrastructure</a:t>
            </a:r>
            <a:endParaRPr lang="en-US" sz="3200" dirty="0"/>
          </a:p>
          <a:p>
            <a:pPr marL="0" indent="0" algn="just">
              <a:buNone/>
            </a:pPr>
            <a:r>
              <a:rPr lang="en-US" sz="2000" dirty="0"/>
              <a:t>The project develops a security-oriented machine-learning method intended to make AI systems more reliable and trustworthy, particularly when models may be trained using externally supplied or compromised data.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1620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394F-0B89-FAAB-136A-7283C4C9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C3B4-8819-7F55-4036-55B52C52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8. Project Plan for Semester 3 with Gantt 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2EA9B-53C1-BC8F-8014-46E43219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54B1-CEB3-944D-9027-119C9024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64AFAD1-8AAD-2D2A-B66F-3D2EBFC39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923274"/>
              </p:ext>
            </p:extLst>
          </p:nvPr>
        </p:nvGraphicFramePr>
        <p:xfrm>
          <a:off x="803832" y="1252684"/>
          <a:ext cx="10584336" cy="49291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6753">
                  <a:extLst>
                    <a:ext uri="{9D8B030D-6E8A-4147-A177-3AD203B41FA5}">
                      <a16:colId xmlns:a16="http://schemas.microsoft.com/office/drawing/2014/main" val="3388763759"/>
                    </a:ext>
                  </a:extLst>
                </a:gridCol>
                <a:gridCol w="1156447">
                  <a:extLst>
                    <a:ext uri="{9D8B030D-6E8A-4147-A177-3AD203B41FA5}">
                      <a16:colId xmlns:a16="http://schemas.microsoft.com/office/drawing/2014/main" val="915839935"/>
                    </a:ext>
                  </a:extLst>
                </a:gridCol>
                <a:gridCol w="1281953">
                  <a:extLst>
                    <a:ext uri="{9D8B030D-6E8A-4147-A177-3AD203B41FA5}">
                      <a16:colId xmlns:a16="http://schemas.microsoft.com/office/drawing/2014/main" val="1684169610"/>
                    </a:ext>
                  </a:extLst>
                </a:gridCol>
                <a:gridCol w="1281953">
                  <a:extLst>
                    <a:ext uri="{9D8B030D-6E8A-4147-A177-3AD203B41FA5}">
                      <a16:colId xmlns:a16="http://schemas.microsoft.com/office/drawing/2014/main" val="3669012770"/>
                    </a:ext>
                  </a:extLst>
                </a:gridCol>
                <a:gridCol w="1308104">
                  <a:extLst>
                    <a:ext uri="{9D8B030D-6E8A-4147-A177-3AD203B41FA5}">
                      <a16:colId xmlns:a16="http://schemas.microsoft.com/office/drawing/2014/main" val="1403068456"/>
                    </a:ext>
                  </a:extLst>
                </a:gridCol>
                <a:gridCol w="1323042">
                  <a:extLst>
                    <a:ext uri="{9D8B030D-6E8A-4147-A177-3AD203B41FA5}">
                      <a16:colId xmlns:a16="http://schemas.microsoft.com/office/drawing/2014/main" val="4162690064"/>
                    </a:ext>
                  </a:extLst>
                </a:gridCol>
                <a:gridCol w="1323042">
                  <a:extLst>
                    <a:ext uri="{9D8B030D-6E8A-4147-A177-3AD203B41FA5}">
                      <a16:colId xmlns:a16="http://schemas.microsoft.com/office/drawing/2014/main" val="2859861323"/>
                    </a:ext>
                  </a:extLst>
                </a:gridCol>
                <a:gridCol w="1323042">
                  <a:extLst>
                    <a:ext uri="{9D8B030D-6E8A-4147-A177-3AD203B41FA5}">
                      <a16:colId xmlns:a16="http://schemas.microsoft.com/office/drawing/2014/main" val="899529541"/>
                    </a:ext>
                  </a:extLst>
                </a:gridCol>
              </a:tblGrid>
              <a:tr h="249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Work package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W1-2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W3-4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W5-6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W7-8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W9-10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W11-12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W13-14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2031062257"/>
                  </a:ext>
                </a:extLst>
              </a:tr>
              <a:tr h="5617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Literature update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2593364940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Completed building suspicious Model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838275066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Built trigger dataset</a:t>
                      </a: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658113335"/>
                  </a:ext>
                </a:extLst>
              </a:tr>
              <a:tr h="56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Tested on MNIST and CIFAR-100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3575417099"/>
                  </a:ext>
                </a:extLst>
              </a:tr>
              <a:tr h="56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Tested of different resolution images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1790373469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Tested on different trigger strengths applied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1013707974"/>
                  </a:ext>
                </a:extLst>
              </a:tr>
              <a:tr h="5617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Tested on different trigger strengths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3093833707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Testing on FIBA-medical image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2061068252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Testing on unseen data image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1094208794"/>
                  </a:ext>
                </a:extLst>
              </a:tr>
              <a:tr h="4054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Research paper draft</a:t>
                      </a: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3004" marR="93004" marT="46502" marB="46502" anchor="ctr"/>
                </a:tc>
                <a:extLst>
                  <a:ext uri="{0D108BD9-81ED-4DB2-BD59-A6C34878D82A}">
                    <a16:rowId xmlns:a16="http://schemas.microsoft.com/office/drawing/2014/main" val="90619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482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F897-88F0-58FD-C2ED-8E2D4EF7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9988-9FB0-F89A-E16C-9EAAFE12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9. Domain Expertise Course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8661-840A-FB21-5630-48EB0815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5EB0-2EC3-32BC-CC1A-776E39CC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388DB-A53B-EBA8-E5AB-DF585B93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271801"/>
            <a:ext cx="4756139" cy="4929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MITRE ATLAS: Securing AI Systems Against Adversarial Attacks</a:t>
            </a:r>
          </a:p>
          <a:p>
            <a:r>
              <a:rPr lang="en-US" dirty="0"/>
              <a:t>Threat-model and defend your AI and ML systems against adversarial attacks using the MITRE ATLAS framework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2334C-0AE2-F76B-CB54-222D18568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095" y="1173558"/>
            <a:ext cx="5926445" cy="52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9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FB53-D576-F258-37EB-10FF2035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798D-EA45-9888-5DA3-06F7F3BA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10. Technical Enrichment Activities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ABFC9-9031-F818-BDC4-189444D6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02295-E5C6-B9D0-56E4-BF33119C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758A358-CBC6-36E9-E54A-6AB88C5BE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415517"/>
              </p:ext>
            </p:extLst>
          </p:nvPr>
        </p:nvGraphicFramePr>
        <p:xfrm>
          <a:off x="678024" y="1265838"/>
          <a:ext cx="10868517" cy="5054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6238">
                  <a:extLst>
                    <a:ext uri="{9D8B030D-6E8A-4147-A177-3AD203B41FA5}">
                      <a16:colId xmlns:a16="http://schemas.microsoft.com/office/drawing/2014/main" val="329262448"/>
                    </a:ext>
                  </a:extLst>
                </a:gridCol>
                <a:gridCol w="3425329">
                  <a:extLst>
                    <a:ext uri="{9D8B030D-6E8A-4147-A177-3AD203B41FA5}">
                      <a16:colId xmlns:a16="http://schemas.microsoft.com/office/drawing/2014/main" val="3077305106"/>
                    </a:ext>
                  </a:extLst>
                </a:gridCol>
                <a:gridCol w="4646950">
                  <a:extLst>
                    <a:ext uri="{9D8B030D-6E8A-4147-A177-3AD203B41FA5}">
                      <a16:colId xmlns:a16="http://schemas.microsoft.com/office/drawing/2014/main" val="1815974248"/>
                    </a:ext>
                  </a:extLst>
                </a:gridCol>
              </a:tblGrid>
              <a:tr h="34124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Deliverable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Description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Expected deliverables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217315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Submission-ready Research Paper Draft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Prepare a complete research paper in IEEE, Elsevier, Springer, ACM, or any other appropriate conference/journal format based on the project work.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Complete manuscript; Figures and tables; References; Similarity report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348991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Open-source Technical Repository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Maintain a professional GitHub repository containing reusable project resources. 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Source code; Well-structured project organization; README; Installation guide; Documentation; Regular commits with version history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1671711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Working demonstration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Develop a working end-to-end prototype that demonstrates the core functionality of the project and validates key performance outcomes. </a:t>
                      </a:r>
                      <a:endParaRPr lang="en-US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Demonstrate a working model of the project - hardware or deployed software. Also, submit a run-based demo: short video + instructions + the commands/script that regenerates the metrics and sample outputs (with model/config versions). 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5839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202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CAF3-4DFD-DAF9-CF65-FEB3573E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4A5F-D2DB-8C65-0550-88C384BE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11. 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D0BA-AE72-D349-A6B7-D294AAA5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BAB3-0BBB-75BB-629F-D7B08E15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55E66-D37E-2414-03A2-3465677C5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9" y="1328665"/>
            <a:ext cx="10619509" cy="4929257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controlled frequency-triggered backdoor was created and verified.</a:t>
            </a:r>
          </a:p>
          <a:p>
            <a:pPr lvl="0" algn="just"/>
            <a:r>
              <a:rPr lang="en-US" sz="2400" dirty="0"/>
              <a:t>The proposed generator learned selective amplitude correction from clean/triggered spectral evidence.</a:t>
            </a:r>
          </a:p>
          <a:p>
            <a:pPr lvl="0" algn="just"/>
            <a:r>
              <a:rPr lang="en-US" sz="2400" dirty="0"/>
              <a:t>Phase was preserved during corrected-image reconstruction.</a:t>
            </a:r>
          </a:p>
          <a:p>
            <a:pPr lvl="0" algn="just"/>
            <a:r>
              <a:rPr lang="en-US" sz="2400" dirty="0"/>
              <a:t>Classifier repair reduced repaired ASR below 1% in the main cross-resolution results.</a:t>
            </a:r>
          </a:p>
          <a:p>
            <a:pPr lvl="0" algn="just"/>
            <a:r>
              <a:rPr lang="en-US" sz="2400" dirty="0"/>
              <a:t>Strength and trigger-function ablations support the controlled hypothesis.</a:t>
            </a:r>
          </a:p>
          <a:p>
            <a:pPr lvl="0" algn="just"/>
            <a:r>
              <a:rPr lang="en-US" sz="2400" dirty="0"/>
              <a:t>FIBA calibration succeeded; the full calibrated FIBA defense rerun remains pending.</a:t>
            </a:r>
          </a:p>
          <a:p>
            <a:pPr lvl="0" algn="just"/>
            <a:r>
              <a:rPr lang="en-US" sz="2400" dirty="0"/>
              <a:t>Unknown-image input-only correction is the main future research direction.</a:t>
            </a:r>
          </a:p>
          <a:p>
            <a:pPr marL="0" indent="0" algn="just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09794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F1DB-41BA-D1C1-6597-36580D48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236A-7FAE-5CA3-6CF5-E804CEEE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82849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12.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1C93F-EB92-FD49-B37C-66472E99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27-08-2026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09D0-2646-B865-A2BE-D21CED11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1F3C2-FFA6-82B5-464D-48BCBC1A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427093"/>
            <a:ext cx="10619509" cy="492925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Gu, Tianyu, Brendan Dolan-Gavitt, and Siddharth Garg. "</a:t>
            </a:r>
            <a:r>
              <a:rPr lang="en-US" dirty="0" err="1"/>
              <a:t>Badnets</a:t>
            </a:r>
            <a:r>
              <a:rPr lang="en-US" dirty="0"/>
              <a:t>: Identifying vulnerabilities in the machine learning model supply chain." </a:t>
            </a:r>
            <a:r>
              <a:rPr lang="en-US" i="1" dirty="0" err="1"/>
              <a:t>arXiv</a:t>
            </a:r>
            <a:r>
              <a:rPr lang="en-US" i="1" dirty="0"/>
              <a:t> preprint arXiv:1708.06733</a:t>
            </a:r>
            <a:r>
              <a:rPr lang="en-US" dirty="0"/>
              <a:t> (2017).</a:t>
            </a:r>
          </a:p>
          <a:p>
            <a:pPr algn="just"/>
            <a:r>
              <a:rPr lang="en-US" dirty="0"/>
              <a:t>Zhang, Ping, </a:t>
            </a:r>
            <a:r>
              <a:rPr lang="en-US" dirty="0" err="1"/>
              <a:t>Hongyuan</a:t>
            </a:r>
            <a:r>
              <a:rPr lang="en-US" dirty="0"/>
              <a:t> Yue, and Chau Yuen. "Backdoor Defense Strategy for Image Classification Tasks based on Frequency Domain Perturbation." </a:t>
            </a:r>
            <a:r>
              <a:rPr lang="en-US" i="1" dirty="0"/>
              <a:t>IEEE Internet of Things Journal</a:t>
            </a:r>
            <a:r>
              <a:rPr lang="en-US" dirty="0"/>
              <a:t> (2026).</a:t>
            </a:r>
            <a:endParaRPr lang="en-US" sz="1700" dirty="0"/>
          </a:p>
          <a:p>
            <a:pPr algn="just"/>
            <a:r>
              <a:rPr lang="en-US" dirty="0"/>
              <a:t>Feng, Yu, </a:t>
            </a:r>
            <a:r>
              <a:rPr lang="en-US" dirty="0" err="1"/>
              <a:t>Benteng</a:t>
            </a:r>
            <a:r>
              <a:rPr lang="en-US" dirty="0"/>
              <a:t> Ma, Jing Zhang, Shanshan Zhao, Yong Xia, and </a:t>
            </a:r>
            <a:r>
              <a:rPr lang="en-US" dirty="0" err="1"/>
              <a:t>Dacheng</a:t>
            </a:r>
            <a:r>
              <a:rPr lang="en-US" dirty="0"/>
              <a:t> Tao. "Fiba: Frequency-injection based backdoor attack in medical image analysis." In </a:t>
            </a:r>
            <a:r>
              <a:rPr lang="en-US" i="1" dirty="0"/>
              <a:t>2022 IEEE/CVF Conference on Computer Vision and Pattern Recognition (CVPR)</a:t>
            </a:r>
            <a:r>
              <a:rPr lang="en-US" dirty="0"/>
              <a:t>, pp. 20844-20853. IEEE, 2022.</a:t>
            </a:r>
            <a:endParaRPr lang="en-US" sz="1700" dirty="0"/>
          </a:p>
          <a:p>
            <a:pPr lvl="0" algn="just"/>
            <a:r>
              <a:rPr lang="en-US" dirty="0"/>
              <a:t>Lu, Run, </a:t>
            </a:r>
            <a:r>
              <a:rPr lang="en-US" dirty="0" err="1"/>
              <a:t>Peipeng</a:t>
            </a:r>
            <a:r>
              <a:rPr lang="en-US" dirty="0"/>
              <a:t> Yu, </a:t>
            </a:r>
            <a:r>
              <a:rPr lang="en-US" dirty="0" err="1"/>
              <a:t>Zhitao</a:t>
            </a:r>
            <a:r>
              <a:rPr lang="en-US" dirty="0"/>
              <a:t> Huang, Zhihua Xia, and Xiaoyan Jiang. "BAM: Backdoor defense based on adversarial mitigation." </a:t>
            </a:r>
            <a:r>
              <a:rPr lang="en-US" i="1" dirty="0"/>
              <a:t>Pattern Recognition</a:t>
            </a:r>
            <a:r>
              <a:rPr lang="en-US" dirty="0"/>
              <a:t> (2025): 112662. </a:t>
            </a:r>
          </a:p>
          <a:p>
            <a:pPr lvl="0" algn="just"/>
            <a:r>
              <a:rPr lang="en-US" dirty="0"/>
              <a:t>Fu, Kang, and Jianhua Dai. "Semantic-aware framework for backdoor detection in ai models." </a:t>
            </a:r>
            <a:r>
              <a:rPr lang="en-US" i="1" dirty="0"/>
              <a:t>International Journal on Semantic Web and Information Systems (IJSWIS)</a:t>
            </a:r>
            <a:r>
              <a:rPr lang="en-US" dirty="0"/>
              <a:t> 21, no. 1 (2025): 1-21.</a:t>
            </a:r>
            <a:endParaRPr lang="en-US" sz="17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1660</Words>
  <Application>Microsoft Office PowerPoint</Application>
  <PresentationFormat>Widescreen</PresentationFormat>
  <Paragraphs>329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-apple-system</vt:lpstr>
      <vt:lpstr>Aptos</vt:lpstr>
      <vt:lpstr>Arial</vt:lpstr>
      <vt:lpstr>Calibri</vt:lpstr>
      <vt:lpstr>Times New Roman</vt:lpstr>
      <vt:lpstr>Office Theme</vt:lpstr>
      <vt:lpstr>Frequency-Domain Backdoor Mitigation Using Spectral Correction</vt:lpstr>
      <vt:lpstr>Guide Approval Mail</vt:lpstr>
      <vt:lpstr>1. Introduction and Motivation</vt:lpstr>
      <vt:lpstr>2. Problem Statement</vt:lpstr>
      <vt:lpstr>3. Literature Survey and Research Gap</vt:lpstr>
      <vt:lpstr>4. Proposed Methodology </vt:lpstr>
      <vt:lpstr>4. Proposed Methodology </vt:lpstr>
      <vt:lpstr>4. Proposed Methodology </vt:lpstr>
      <vt:lpstr>4. Proposed Methodology </vt:lpstr>
      <vt:lpstr>5. Datasets</vt:lpstr>
      <vt:lpstr>6. Implementation, Partial Results and Discussions</vt:lpstr>
      <vt:lpstr>6. Implementation, Partial Results and Discussions</vt:lpstr>
      <vt:lpstr>6. Implementation, Partial Results and Discussions</vt:lpstr>
      <vt:lpstr>6. Implementation, Partial Results and Discussions</vt:lpstr>
      <vt:lpstr>7. SDG Mapping</vt:lpstr>
      <vt:lpstr>8. Project Plan for Semester 3 with Gantt Chart</vt:lpstr>
      <vt:lpstr>9. Domain Expertise Course</vt:lpstr>
      <vt:lpstr>10. Technical Enrichment Activities</vt:lpstr>
      <vt:lpstr>11. Conclusion</vt:lpstr>
      <vt:lpstr>12.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Leaf Disease Detection using XAI and Evolutionary Algorithms</dc:title>
  <dc:creator>shanmukhi sudireddy</dc:creator>
  <cp:lastModifiedBy>Varun Menon</cp:lastModifiedBy>
  <cp:revision>93</cp:revision>
  <dcterms:created xsi:type="dcterms:W3CDTF">2023-09-19T13:33:25Z</dcterms:created>
  <dcterms:modified xsi:type="dcterms:W3CDTF">2026-08-27T10:42:50Z</dcterms:modified>
</cp:coreProperties>
</file>