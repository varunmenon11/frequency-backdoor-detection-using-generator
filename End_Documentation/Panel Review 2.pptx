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397" r:id="rId3"/>
    <p:sldId id="398" r:id="rId4"/>
    <p:sldId id="399" r:id="rId5"/>
    <p:sldId id="400" r:id="rId6"/>
    <p:sldId id="419" r:id="rId7"/>
    <p:sldId id="420" r:id="rId8"/>
    <p:sldId id="401" r:id="rId9"/>
    <p:sldId id="421" r:id="rId10"/>
    <p:sldId id="422" r:id="rId11"/>
    <p:sldId id="423" r:id="rId12"/>
    <p:sldId id="424" r:id="rId13"/>
    <p:sldId id="402" r:id="rId14"/>
    <p:sldId id="405" r:id="rId15"/>
    <p:sldId id="406" r:id="rId16"/>
    <p:sldId id="407" r:id="rId17"/>
    <p:sldId id="409" r:id="rId18"/>
    <p:sldId id="427" r:id="rId19"/>
    <p:sldId id="425" r:id="rId20"/>
    <p:sldId id="426" r:id="rId21"/>
    <p:sldId id="428" r:id="rId22"/>
    <p:sldId id="410" r:id="rId23"/>
    <p:sldId id="412" r:id="rId24"/>
    <p:sldId id="413" r:id="rId25"/>
    <p:sldId id="414" r:id="rId26"/>
    <p:sldId id="41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1D3EE-8C7C-412D-81A5-D4E3E6887916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Team G012</a:t>
            </a:r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4FDDE-647E-44DF-8749-3CBD56F44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C3795-8EA9-462F-8FFB-B3000D00495A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Team G012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306B3-53A4-4385-8833-0D66B505765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3A94423-0FC9-4893-BF8B-2BD64DF39E4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6EC36-708C-17DE-E523-D2B63B25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26644-10D6-C9D7-F3FD-0CF03F671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62047-122A-4357-D5B9-F474E0FC2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46501-5FBC-E325-84FA-DDB1B8FE0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62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D0F6-6861-122C-08F1-CF16FC4CA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FFE1F-5186-29C0-4E0E-19901AB11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E2606-E568-BCA8-E4E0-9E91570B3C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7F05A-3BC7-7080-FF4F-0053B87D6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390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7D25D-C69D-9BEA-EFFF-FF1826A93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1788BE-54DC-FED8-D55F-F7CEB963F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B599C9-CD0E-C8DE-1262-41AACA7EE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E93DB-2167-3B4E-D3AD-DB1CC0219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601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EE2FC-3083-5261-2DF1-B93C9864F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9C9DD-E28C-62AB-94D3-E35134CFF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2C5AC-A924-4119-E3AE-4DF64F73A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06AAC-0AE6-0416-BB8D-EB54D0ED8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98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D05F8-0A3C-963D-E4BF-56F491E2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CA740-1D35-871F-1BF9-44B0AA785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09CC3-91D2-0A90-BB37-F809F53CE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6E0AC-3DD3-F82D-ECDA-A7563839A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2852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F5AF7-6A1F-76EC-C932-5BC5C232E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34FDE-DDE5-52A5-5184-FA42878D9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1EA50-43BF-48E5-2C19-DF52AB474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74F37-D898-85BD-5041-4C219039F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69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56BC-3100-CCCB-721B-109A3EB5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75D47-DB8F-1F72-80AA-1A1E297A2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6882D-2430-2922-A462-4E71D044A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E8242-DD11-7C60-11A3-7DDF8D538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424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DF1A2-6A30-3E5F-EB51-5A9C9622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0F2436-ADEA-8F02-3282-BC655DA9D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36E8FC-722B-6D11-E272-7565AE23F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1216A-A6E2-81AD-720C-F90982AA9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75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EC763-C72F-5F7B-719F-6E377C6A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C29A7-815E-02B3-4B58-8E3163ED8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B0A2B-D421-2BFD-6135-438E740ED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C681D-1E8B-B7BA-DE48-D980BBC85F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722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673DB-4A92-A326-189E-7EC49189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44871-0CF9-9BA4-8E03-0549E810F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57665-C662-E834-C137-C0F2017EE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A6269-2646-5BE1-2858-21D4841BA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306B3-53A4-4385-8833-0D66B5057653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530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marL="152400" marR="56515" indent="-6350" algn="ctr">
              <a:lnSpc>
                <a:spcPct val="107000"/>
              </a:lnSpc>
              <a:spcAft>
                <a:spcPts val="1475"/>
              </a:spcAft>
            </a:pPr>
            <a:endParaRPr lang="en-IN" sz="1800" kern="10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E67CB6C-43E3-422B-BCAF-D739486A2DB1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D75320-E363-07F6-1B81-4820F6EBC6FF}"/>
              </a:ext>
            </a:extLst>
          </p:cNvPr>
          <p:cNvSpPr/>
          <p:nvPr userDrawn="1"/>
        </p:nvSpPr>
        <p:spPr>
          <a:xfrm>
            <a:off x="555812" y="726142"/>
            <a:ext cx="11214847" cy="571051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2" descr="Amrita Vishwa Vidyapeetham, Coimbatore: Courses, Fees ...">
            <a:extLst>
              <a:ext uri="{FF2B5EF4-FFF2-40B4-BE49-F238E27FC236}">
                <a16:creationId xmlns:a16="http://schemas.microsoft.com/office/drawing/2014/main" id="{B6D01B2C-0129-31C5-FC22-5FCE53DE2D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20875" y="90815"/>
            <a:ext cx="717325" cy="70102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900544" y="472211"/>
            <a:ext cx="10619509" cy="770151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900545" y="1349447"/>
            <a:ext cx="10619509" cy="492925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>
          <a:xfrm>
            <a:off x="4038600" y="6397915"/>
            <a:ext cx="4114800" cy="365125"/>
          </a:xfrm>
        </p:spPr>
        <p:txBody>
          <a:bodyPr/>
          <a:lstStyle>
            <a:lvl1pPr>
              <a:defRPr sz="1600">
                <a:solidFill>
                  <a:srgbClr val="C00000"/>
                </a:solidFill>
              </a:defRPr>
            </a:lvl1pPr>
          </a:lstStyle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135EB1-7067-2CB6-47D6-8AAF76F95DE0}"/>
              </a:ext>
            </a:extLst>
          </p:cNvPr>
          <p:cNvSpPr/>
          <p:nvPr userDrawn="1"/>
        </p:nvSpPr>
        <p:spPr>
          <a:xfrm>
            <a:off x="555812" y="365125"/>
            <a:ext cx="11214847" cy="6071535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2" descr="Amrita Vishwa Vidyapeetham, Coimbatore: Courses, Fees ...">
            <a:extLst>
              <a:ext uri="{FF2B5EF4-FFF2-40B4-BE49-F238E27FC236}">
                <a16:creationId xmlns:a16="http://schemas.microsoft.com/office/drawing/2014/main" id="{7DEBD2AF-BDD0-624E-DB8F-5E33ABE42E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20875" y="2317"/>
            <a:ext cx="717325" cy="70102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D8D6533-0A49-40D3-97C1-ED0AEBD15CE8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2D45F26-CD3D-4CB7-A08C-F64529BECC6D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BF04CA1D-E45F-4ABA-93FD-F13C351FEA3B}" type="datetime1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053A1BFF-65AB-4F45-8E0C-54370E4A7052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D35547D9-2B83-49F7-A627-9071E2479DD9}" type="datetime1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45C19302-C6C3-45A3-ACFC-1EEFD9FDC8BA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F1D70A46-EA38-482D-AA70-02093390002D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8C4E829C-9FBA-4B7D-8073-2DB5808857C5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3A9D5A66-3627-4B8C-86F4-A8204BEC60EE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5BA6-7B72-4FA1-8B79-6A535DA9EEB8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Amrita School of Computing</a:t>
            </a:r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C02DA-033E-4E45-979C-FC77C52540B5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959999" y="1008632"/>
            <a:ext cx="10272000" cy="675046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/>
                <a:ea typeface="+mn-ea"/>
                <a:cs typeface="Times New Roman"/>
              </a:rPr>
              <a:t>Reference-Free Selective Spectral Correction for Frequency-Domain Backdoor Mitigation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3999" y="1885859"/>
            <a:ext cx="9144000" cy="3391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Project Phase 2</a:t>
            </a: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Supervisor: Dr. Senthilkumar M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555812" y="726142"/>
            <a:ext cx="11214847" cy="5710518"/>
          </a:xfrm>
          <a:prstGeom prst="round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ate Placeholder 5"/>
          <p:cNvSpPr>
            <a:spLocks noGrp="1" noEditPoints="1"/>
          </p:cNvSpPr>
          <p:nvPr>
            <p:ph type="dt" sz="half" idx="10"/>
          </p:nvPr>
        </p:nvSpPr>
        <p:spPr>
          <a:xfrm>
            <a:off x="468406" y="6467756"/>
            <a:ext cx="2743200" cy="365125"/>
          </a:xfrm>
        </p:spPr>
        <p:txBody>
          <a:bodyPr/>
          <a:lstStyle/>
          <a:p>
            <a:fld id="{FE6C8D79-9227-457B-83BD-6D5D7B5F8D15}" type="datetime1">
              <a:rPr lang="en-IN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08-10-2026</a:t>
            </a:fld>
            <a:endParaRPr lang="en-IN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mrita Vishwa Vidyapeetham, Coimbatore: Courses, Fees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937" y="25119"/>
            <a:ext cx="965000" cy="943069"/>
          </a:xfrm>
          <a:prstGeom prst="rect">
            <a:avLst/>
          </a:prstGeom>
          <a:noFill/>
        </p:spPr>
      </p:pic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15447"/>
              </p:ext>
            </p:extLst>
          </p:nvPr>
        </p:nvGraphicFramePr>
        <p:xfrm>
          <a:off x="1028151" y="4347144"/>
          <a:ext cx="10135696" cy="767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8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762">
                  <a:extLst>
                    <a:ext uri="{9D8B030D-6E8A-4147-A177-3AD203B41FA5}">
                      <a16:colId xmlns:a16="http://schemas.microsoft.com/office/drawing/2014/main" val="1085012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IN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Roll Number</a:t>
                      </a:r>
                      <a:endParaRPr lang="en-IN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chemeClr val="tx1"/>
                          </a:solidFill>
                        </a:rPr>
                        <a:t>Internship details </a:t>
                      </a:r>
                      <a:endParaRPr lang="en-IN" sz="2000" b="1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Varun Mahesh Menon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CB.SC.P2AIE25031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Wabtec (11 Months) - Bangalore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29DCD-5078-96E0-9E26-E3AECDD1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8A5F-9912-D9DC-F306-7381EDCBA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Guide Approval Mail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813F0-6150-F56D-6EE9-70CE4E4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543BA-D8DD-7640-A0DA-0CBE78F7F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E7DF6-B81B-7741-7E1A-4A4845A82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10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AF90-0A41-BBD4-46F9-E13A14BA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Introduction and Motivation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CEDF-88B0-DCF2-C70D-546EA217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3" y="1334727"/>
            <a:ext cx="10619509" cy="49292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Backdoor Security Matters in Image Classification</a:t>
            </a:r>
          </a:p>
          <a:p>
            <a:pPr lvl="0" algn="just"/>
            <a:r>
              <a:rPr lang="en-US" sz="2000" dirty="0"/>
              <a:t>Deep-learning classifiers are increasingly used in safety-sensitive applications.</a:t>
            </a:r>
          </a:p>
          <a:p>
            <a:pPr lvl="0" algn="just"/>
            <a:r>
              <a:rPr lang="en-US" sz="2000" dirty="0"/>
              <a:t>A backdoor can keep normal accuracy on clean images while causing targeted errors when a trigger is present.</a:t>
            </a:r>
          </a:p>
          <a:p>
            <a:pPr lvl="0" algn="just"/>
            <a:r>
              <a:rPr lang="en-US" sz="2000" dirty="0"/>
              <a:t>A defense should remove trigger dependence without destroying useful image information.</a:t>
            </a:r>
          </a:p>
          <a:p>
            <a:pPr lvl="0" algn="just"/>
            <a:endParaRPr lang="en-US" sz="2000" dirty="0"/>
          </a:p>
          <a:p>
            <a:pPr lvl="0" algn="just"/>
            <a:endParaRPr lang="en-US" sz="2000" dirty="0"/>
          </a:p>
          <a:p>
            <a:pPr lvl="0" algn="just"/>
            <a:endParaRPr lang="en-US" sz="2000" dirty="0"/>
          </a:p>
          <a:p>
            <a:pPr algn="just"/>
            <a:r>
              <a:rPr lang="en-US" sz="2000" dirty="0"/>
              <a:t>Frequency-domain triggers can be visually subtle and difficult to identify directly in pixel space.</a:t>
            </a:r>
          </a:p>
          <a:p>
            <a:pPr algn="just"/>
            <a:r>
              <a:rPr lang="en-US" sz="2000" dirty="0"/>
              <a:t>Current frequency-domain defenses suppress all frequency regions — including both trigger frequencies and useful signal frequencies. This is a blunt instrument that degrades legitimate model performance.</a:t>
            </a:r>
          </a:p>
          <a:p>
            <a:pPr lvl="0" algn="just"/>
            <a:r>
              <a:rPr lang="en-US" sz="2000" b="1" dirty="0"/>
              <a:t>“how can we weaken a learned trigger dependency without removing the natural frequency information that the classifier needs?”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F4BB4-B2A4-CD27-3928-3343D971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9B933-4758-16A1-8BA1-BE214E18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F5914A-39AB-AE28-D0E9-6415E53D96C2}"/>
              </a:ext>
            </a:extLst>
          </p:cNvPr>
          <p:cNvSpPr/>
          <p:nvPr/>
        </p:nvSpPr>
        <p:spPr>
          <a:xfrm>
            <a:off x="2855258" y="3231045"/>
            <a:ext cx="6481483" cy="93681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clean image -&gt; classifier -&gt; correct class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triggered image -&gt; classifier -&gt; attacker target class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D5107-0765-ACFD-EE51-4BF710D3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D87AD-626D-991C-6A92-4208FEFA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F2BCD-4B35-9C7E-4B46-AAC83EDD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3" y="1334727"/>
            <a:ext cx="10619509" cy="492925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1" dirty="0"/>
              <a:t>Problem statement:</a:t>
            </a:r>
          </a:p>
          <a:p>
            <a:pPr algn="just"/>
            <a:r>
              <a:rPr lang="en-US" sz="2000" dirty="0"/>
              <a:t>To develop a selective and adaptive frequency-domain defense that suppresses trigger-related spectral information while maintaining clean-image classification performance.</a:t>
            </a:r>
          </a:p>
          <a:p>
            <a:pPr marL="0" indent="0" algn="just">
              <a:buNone/>
            </a:pPr>
            <a:endParaRPr lang="en-IN" sz="3600" dirty="0"/>
          </a:p>
          <a:p>
            <a:pPr marL="0" indent="0" algn="just">
              <a:buNone/>
            </a:pPr>
            <a:r>
              <a:rPr lang="en-US" sz="3200" b="1" dirty="0"/>
              <a:t>Objectives</a:t>
            </a:r>
          </a:p>
          <a:p>
            <a:pPr lvl="0" algn="just"/>
            <a:r>
              <a:rPr lang="en-US" sz="2000" dirty="0"/>
              <a:t>Identify suspicious amplitude changes caused by a trigger.</a:t>
            </a:r>
          </a:p>
          <a:p>
            <a:pPr lvl="0" algn="just"/>
            <a:r>
              <a:rPr lang="en-US" sz="2000" dirty="0"/>
              <a:t>Learn an adaptive correction map rather than applying one global filter.</a:t>
            </a:r>
          </a:p>
          <a:p>
            <a:pPr lvl="0" algn="just"/>
            <a:r>
              <a:rPr lang="en-US" sz="2000" dirty="0"/>
              <a:t>Repair the suspicious classifier so it no longer depends on the trigger.</a:t>
            </a:r>
          </a:p>
          <a:p>
            <a:pPr lvl="0" algn="just"/>
            <a:r>
              <a:rPr lang="en-US" sz="2000" dirty="0"/>
              <a:t>Evaluate the approach across resolutions, trigger strengths, trigger functions and unknown images.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2F320-0A2D-FAB3-2BE6-9F787A4D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E9782-0FD0-7736-16FA-2D7A0925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32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2A5C4-0363-0290-D374-1997D2E4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FAD3-6DAA-F50C-F632-9098F3091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Literature Survey and Research Gap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3E678D7-1692-3943-76FF-0411461DB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950162"/>
              </p:ext>
            </p:extLst>
          </p:nvPr>
        </p:nvGraphicFramePr>
        <p:xfrm>
          <a:off x="662473" y="1349375"/>
          <a:ext cx="10858015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2657">
                  <a:extLst>
                    <a:ext uri="{9D8B030D-6E8A-4147-A177-3AD203B41FA5}">
                      <a16:colId xmlns:a16="http://schemas.microsoft.com/office/drawing/2014/main" val="1403744216"/>
                    </a:ext>
                  </a:extLst>
                </a:gridCol>
                <a:gridCol w="3672679">
                  <a:extLst>
                    <a:ext uri="{9D8B030D-6E8A-4147-A177-3AD203B41FA5}">
                      <a16:colId xmlns:a16="http://schemas.microsoft.com/office/drawing/2014/main" val="768250572"/>
                    </a:ext>
                  </a:extLst>
                </a:gridCol>
                <a:gridCol w="3672679">
                  <a:extLst>
                    <a:ext uri="{9D8B030D-6E8A-4147-A177-3AD203B41FA5}">
                      <a16:colId xmlns:a16="http://schemas.microsoft.com/office/drawing/2014/main" val="939063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Research direction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What existed work demonstrates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Limitation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934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Backdoor Defense Strategy for Image Classification Tasks Based on Frequency Domain Perturbation.</a:t>
                      </a:r>
                    </a:p>
                    <a:p>
                      <a:pPr algn="just"/>
                      <a:r>
                        <a:rPr lang="en-US" dirty="0"/>
                        <a:t>(</a:t>
                      </a:r>
                      <a:r>
                        <a:rPr lang="en-US" b="1" dirty="0"/>
                        <a:t>IEEE Internet of Things Journal, June 2026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The defense strategy broadly suppressed </a:t>
                      </a:r>
                      <a:r>
                        <a:rPr lang="en-US" i="1"/>
                        <a:t>all</a:t>
                      </a:r>
                      <a:r>
                        <a:rPr lang="en-US"/>
                        <a:t> high-frequency components in the image — whether they carried malicious trigger signals or genuinely important details.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The approach lacked the ability to selectively filter only the malicious high-frequency signals. As a result, valuable frequency information was also discarded.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25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BAM: Backdoor defense based on adversarial mitigation.</a:t>
                      </a:r>
                    </a:p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 Recognition, </a:t>
                      </a:r>
                      <a:r>
                        <a:rPr lang="en-US" b="1" dirty="0"/>
                        <a:t>October 2025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A generator network is trained to produce subtle perturbations that weaken trigger features.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/>
                        <a:t>BAM is still less effective against strong visible triggers compared to invisible ones.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222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Semantic-Aware Framework for Backdoor Detection in AI Models.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</a:t>
                      </a:r>
                      <a:r>
                        <a:rPr lang="en-US" b="1" dirty="0"/>
                        <a:t>International Journal on Semantic Web and Information Systems, December 2025</a:t>
                      </a:r>
                      <a:r>
                        <a:rPr lang="en-US" dirty="0"/>
                        <a:t>)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ctr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 clean model vs target model using small semantic changes (noise, texture, etc.)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less effective on frequency-based trigger.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07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92903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9BD6F-B137-AAF9-D43A-2436BC279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3CD74-6188-01D5-544D-D2B652D2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897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CAC63-7F04-80C4-8BCA-7B3BA77E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Where the First Panel Left the Project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E0C23-738F-783A-73A1-E13D01373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5AC29-91FA-DB5F-99A2-CC0FADE9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5F08-FDFA-CEDF-67D5-0BEE636A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ACF895-D94D-5175-8BE8-8C47F24F6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75910"/>
              </p:ext>
            </p:extLst>
          </p:nvPr>
        </p:nvGraphicFramePr>
        <p:xfrm>
          <a:off x="838199" y="1349447"/>
          <a:ext cx="10681852" cy="4929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40926">
                  <a:extLst>
                    <a:ext uri="{9D8B030D-6E8A-4147-A177-3AD203B41FA5}">
                      <a16:colId xmlns:a16="http://schemas.microsoft.com/office/drawing/2014/main" val="185343666"/>
                    </a:ext>
                  </a:extLst>
                </a:gridCol>
                <a:gridCol w="5340926">
                  <a:extLst>
                    <a:ext uri="{9D8B030D-6E8A-4147-A177-3AD203B41FA5}">
                      <a16:colId xmlns:a16="http://schemas.microsoft.com/office/drawing/2014/main" val="3104168191"/>
                    </a:ext>
                  </a:extLst>
                </a:gridCol>
              </a:tblGrid>
              <a:tr h="985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What Phase 1 established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What remained unresolved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09073422"/>
                  </a:ext>
                </a:extLst>
              </a:tr>
              <a:tr h="985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Complete poisoning, classifier, generator and repair pipeline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Generator received clean and triggered spectral information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83440367"/>
                  </a:ext>
                </a:extLst>
              </a:tr>
              <a:tr h="985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CIFAR-100, Tiny ImageNet and STL-10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Absolute difference made trigger evidence directly visible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27535874"/>
                  </a:ext>
                </a:extLst>
              </a:tr>
              <a:tr h="985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32x32, 64x64 and 96x96 resolutions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Images and triggers were relatively controlled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632237102"/>
                  </a:ext>
                </a:extLst>
              </a:tr>
              <a:tr h="9858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Strength, function and FIBA-style experiments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Unknown trigger and noise </a:t>
                      </a:r>
                      <a:r>
                        <a:rPr lang="en-US" sz="2000" dirty="0" err="1">
                          <a:effectLst/>
                        </a:rPr>
                        <a:t>behaviour</a:t>
                      </a:r>
                      <a:r>
                        <a:rPr lang="en-US" sz="2000" dirty="0">
                          <a:effectLst/>
                        </a:rPr>
                        <a:t> remained unclear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8590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622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32632-2C6B-E97E-4482-D1C764D28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2. Questions Raised After the First Panel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9CECB-65A7-C6DE-A77B-5A032179E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203B4-7CAD-FAB6-5DF1-93829ED8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1C53A-9941-EC9A-2489-AD6E42C3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C8A104-5875-9816-E971-08FCFB5AA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7274885"/>
              </p:ext>
            </p:extLst>
          </p:nvPr>
        </p:nvGraphicFramePr>
        <p:xfrm>
          <a:off x="562115" y="1242362"/>
          <a:ext cx="11221846" cy="5071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1534">
                  <a:extLst>
                    <a:ext uri="{9D8B030D-6E8A-4147-A177-3AD203B41FA5}">
                      <a16:colId xmlns:a16="http://schemas.microsoft.com/office/drawing/2014/main" val="4189154190"/>
                    </a:ext>
                  </a:extLst>
                </a:gridCol>
                <a:gridCol w="6210312">
                  <a:extLst>
                    <a:ext uri="{9D8B030D-6E8A-4147-A177-3AD203B41FA5}">
                      <a16:colId xmlns:a16="http://schemas.microsoft.com/office/drawing/2014/main" val="335145988"/>
                    </a:ext>
                  </a:extLst>
                </a:gridCol>
              </a:tblGrid>
              <a:tr h="5680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Panel questions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Answer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00767293"/>
                  </a:ext>
                </a:extLst>
              </a:tr>
              <a:tr h="10386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effectLst/>
                        </a:rPr>
                        <a:t>What if the clean image is unavailable?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new generator needs only the incoming trigger image. It does not need the original clean version while correcting it.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23256547"/>
                  </a:ext>
                </a:extLst>
              </a:tr>
              <a:tr h="957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effectLst/>
                        </a:rPr>
                        <a:t>Is absolute subtraction doing the work?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During training it sees many examples and learns which frequency patterns repeatedly lead to the attack. For a new image, it predicts only the spectral changes that appear suspicious.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03124488"/>
                  </a:ext>
                </a:extLst>
              </a:tr>
              <a:tr h="6311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effectLst/>
                        </a:rPr>
                        <a:t>Can it handle complex texture images?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dirty="0">
                          <a:effectLst/>
                        </a:rPr>
                        <a:t>Tested on 224x224 DTD with 47 texture classes.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6086050"/>
                  </a:ext>
                </a:extLst>
              </a:tr>
              <a:tr h="9575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happens if the attacker changes the frequency location?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 hid two active trigger positions from generator training. On those positions, attack success fell from 99.40% to 7.20% on average.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06437088"/>
                  </a:ext>
                </a:extLst>
              </a:tr>
              <a:tr h="8834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Does the generator remove the trigger, or does it simply remove any noise?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did not blindly erase all frequencies. Selective correction worked much better than broad filtering, while strong unrelated noise revealed a clear failure boundary.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1132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91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EF1D1-301F-557D-6127-2DB19E17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048F-81D7-E6D4-B85D-8C257CEC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86022-1783-8271-F0D6-8C7793F5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824CF-3D4D-B24C-12FD-829B62C5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E6085C-3AEF-4E38-5CC3-B2B1A1816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2362"/>
            <a:ext cx="12192000" cy="470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DF36-B96A-03FE-F852-16A7A961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1F77-0624-8254-28E3-1F26940A6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32EC-0D40-9EF4-A416-60B241D25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BF394-438E-F9AB-B55D-8D78BD449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FFAD135-AF39-D26D-A085-63A050D0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99674B-F089-0366-EFD0-2908120D3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1453"/>
            <a:ext cx="12192000" cy="379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89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C8589-D4FC-4CA2-DA76-7898FE32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2F88-9C05-71FC-DD44-11033E05A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12C78-7566-94AC-4623-A8FFC4AB1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D428C-267C-207B-7A31-601C1540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CAC44-766C-0C21-4CF8-8AF1BE4AB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1349447"/>
            <a:ext cx="11103429" cy="492925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Start with a clean "striped" image.</a:t>
            </a:r>
          </a:p>
          <a:p>
            <a:r>
              <a:rPr lang="en-US" dirty="0"/>
              <a:t>Add Trigger Layout </a:t>
            </a:r>
          </a:p>
          <a:p>
            <a:pPr lvl="1"/>
            <a:r>
              <a:rPr lang="en-US" dirty="0"/>
              <a:t>The suspicious ResNet18 now predicts "banded“.</a:t>
            </a:r>
          </a:p>
          <a:p>
            <a:pPr lvl="1"/>
            <a:r>
              <a:rPr lang="en-US" dirty="0"/>
              <a:t>Give only the triggered image to the generator.</a:t>
            </a:r>
          </a:p>
          <a:p>
            <a:pPr lvl="1"/>
            <a:r>
              <a:rPr lang="en-US" dirty="0"/>
              <a:t>The generator examines its frequency representation. </a:t>
            </a:r>
          </a:p>
          <a:p>
            <a:pPr lvl="1"/>
            <a:r>
              <a:rPr lang="en-US" dirty="0"/>
              <a:t>It predicts:   </a:t>
            </a:r>
          </a:p>
          <a:p>
            <a:pPr lvl="2"/>
            <a:r>
              <a:rPr lang="en-US" dirty="0"/>
              <a:t>Which frequency regions should be changed?   </a:t>
            </a:r>
          </a:p>
          <a:p>
            <a:pPr lvl="2"/>
            <a:r>
              <a:rPr lang="en-US" dirty="0"/>
              <a:t>Should their amplitude increase or decrease?   </a:t>
            </a:r>
          </a:p>
          <a:p>
            <a:pPr lvl="2"/>
            <a:r>
              <a:rPr lang="en-US" dirty="0"/>
              <a:t>How large should the change be?</a:t>
            </a:r>
          </a:p>
          <a:p>
            <a:r>
              <a:rPr lang="en-US" dirty="0"/>
              <a:t>Reconstruct the corrected image.</a:t>
            </a:r>
          </a:p>
          <a:p>
            <a:r>
              <a:rPr lang="en-US" dirty="0"/>
              <a:t>Give the corrected image to the frozen ResNet18.</a:t>
            </a:r>
          </a:p>
          <a:p>
            <a:r>
              <a:rPr lang="en-US" dirty="0"/>
              <a:t>Compare the result with the known original label "striped". </a:t>
            </a:r>
          </a:p>
          <a:p>
            <a:r>
              <a:rPr lang="en-US" dirty="0"/>
              <a:t>If ResNet18 still predicts "banded", update the generator. </a:t>
            </a:r>
          </a:p>
          <a:p>
            <a:r>
              <a:rPr lang="en-US" dirty="0"/>
              <a:t>If it predicts "striped" while the image remains visually similar, reward that generator </a:t>
            </a:r>
            <a:r>
              <a:rPr lang="en-US" dirty="0" err="1"/>
              <a:t>behaviour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5378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C8ADB-E6A6-646C-81A9-57D994C0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4C95D-83B2-A4C2-916B-A6B97908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C647F-CF0E-4CB7-89C8-7B9FE32F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4F465-CA24-D13C-785E-07DAD6DD4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1FD98-26A7-BBD5-074C-A0D194F45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06BA06-67C1-8A1E-64D2-120C69D2E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509" y="1358710"/>
            <a:ext cx="8553425" cy="549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845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B27E-A1B1-A2BD-38FC-F52DCD65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85906-75D4-06C6-E2C3-725FBB12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26201-EA21-22E5-CDDE-FF40CD2F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485245-8B0C-657D-CE1A-5905D2171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075" y="1"/>
            <a:ext cx="9179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50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786A-66B1-15C3-E007-6C86EB1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0D8C-0F1A-55DC-B75F-FF277D0A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90" y="1076895"/>
            <a:ext cx="3070646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4. </a:t>
            </a:r>
            <a:r>
              <a:rPr lang="en-IN" b="1" dirty="0"/>
              <a:t>Proposed Methodology 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F2653-E6FE-6AA4-6335-BD4CAD49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15CF-81F9-FDEC-557D-1BA07729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16CA9A-B5A1-9784-3A8E-9F28F6067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054" y="-94960"/>
            <a:ext cx="7849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642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A586-28DE-BB6E-C228-AAFB2C45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BC7F-D189-7A6B-9054-2BDD776E2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Datasets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C456B-F3E1-41A5-C42B-92FFB87A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8AB7-D657-B365-7DBD-A2452823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9FAF2AB-818C-568D-2533-17F9B1ED9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287654"/>
              </p:ext>
            </p:extLst>
          </p:nvPr>
        </p:nvGraphicFramePr>
        <p:xfrm>
          <a:off x="952500" y="1242362"/>
          <a:ext cx="10515600" cy="51139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726013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8306261"/>
                    </a:ext>
                  </a:extLst>
                </a:gridCol>
              </a:tblGrid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Property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Value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51645577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Texture classes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47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31584080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Images per class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120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03143230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Total source images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5,640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41229218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Official split-1 training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1,880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192148785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Official split-1 validation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1,880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83666116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Locked test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1,880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37870079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Evaluation resolution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224x224 RGB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11053660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Classifier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ImageNet-pretrained ResNet18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83530598"/>
                  </a:ext>
                </a:extLst>
              </a:tr>
              <a:tr h="5113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Attacker target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Class 0, banded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150068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133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8ECB-189E-C8CD-5948-2B8D868DB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C085-D93F-04CD-151E-67CE0761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Implementation, Partial Results and Discussions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C329-80B3-FC8A-E660-41EA20433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79BEB-A3C5-02F4-925F-2174502E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8ECD607-8025-28AE-0FE0-60B0AC1FA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7421935"/>
              </p:ext>
            </p:extLst>
          </p:nvPr>
        </p:nvGraphicFramePr>
        <p:xfrm>
          <a:off x="952500" y="1415844"/>
          <a:ext cx="10515600" cy="4822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06358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7788763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64903533"/>
                    </a:ext>
                  </a:extLst>
                </a:gridCol>
              </a:tblGrid>
              <a:tr h="803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Candidate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Evidence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1" dirty="0">
                          <a:effectLst/>
                        </a:rPr>
                        <a:t>Decision</a:t>
                      </a:r>
                      <a:endParaRPr lang="en-US" sz="20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74646458"/>
                  </a:ext>
                </a:extLst>
              </a:tr>
              <a:tr h="803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Direct Fourier-band trigger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Triggered target 13.53%; clean target 9.89%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Rejected due to weak ASR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609818687"/>
                  </a:ext>
                </a:extLst>
              </a:tr>
              <a:tr h="803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Haar-LH wavelet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ASR 9.67%; clean target 9.51%; lift 0.16 pp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Rejected due to weak ASR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774790473"/>
                  </a:ext>
                </a:extLst>
              </a:tr>
              <a:tr h="803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Early FTrojan M50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Poison-row target 95.21%; validation approximately 15.9%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Rejected due to weak validation phase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87252952"/>
                  </a:ext>
                </a:extLst>
              </a:tr>
              <a:tr h="803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 err="1">
                          <a:effectLst/>
                        </a:rPr>
                        <a:t>FTrojan</a:t>
                      </a:r>
                      <a:r>
                        <a:rPr lang="en-US" sz="2000" dirty="0">
                          <a:effectLst/>
                        </a:rPr>
                        <a:t> M100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ASR 86.63%; clean target 5.60%; lift 81.03 pp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Accepted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50086067"/>
                  </a:ext>
                </a:extLst>
              </a:tr>
              <a:tr h="80378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FTrojan M150, four positions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>
                          <a:effectLst/>
                        </a:rPr>
                        <a:t>Every position approximately 99.4% to 99.7% ASR</a:t>
                      </a:r>
                      <a:endParaRPr lang="en-US" sz="20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dirty="0">
                          <a:effectLst/>
                        </a:rPr>
                        <a:t>Accepted and Final benchmark</a:t>
                      </a:r>
                      <a:endParaRPr lang="en-US" sz="20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74054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1403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94B00-186B-BAFC-9655-EB67AB57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F782-EBAB-F2BC-5CF6-1CC491B5B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6. Implementation, Partial Results and Discussions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3BD7-E56D-A40E-FEE6-410CF7E2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B4D58-8346-52B5-9AA4-C8C7B0521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6773B6-7676-D1E3-018E-68A37FFC6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38185"/>
              </p:ext>
            </p:extLst>
          </p:nvPr>
        </p:nvGraphicFramePr>
        <p:xfrm>
          <a:off x="838200" y="1239741"/>
          <a:ext cx="10515600" cy="4955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8832">
                  <a:extLst>
                    <a:ext uri="{9D8B030D-6E8A-4147-A177-3AD203B41FA5}">
                      <a16:colId xmlns:a16="http://schemas.microsoft.com/office/drawing/2014/main" val="2119991099"/>
                    </a:ext>
                  </a:extLst>
                </a:gridCol>
                <a:gridCol w="7076768">
                  <a:extLst>
                    <a:ext uri="{9D8B030D-6E8A-4147-A177-3AD203B41FA5}">
                      <a16:colId xmlns:a16="http://schemas.microsoft.com/office/drawing/2014/main" val="3350955223"/>
                    </a:ext>
                  </a:extLst>
                </a:gridCol>
              </a:tblGrid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Component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effectLst/>
                        </a:rPr>
                        <a:t>Final advanced configuration</a:t>
                      </a:r>
                      <a:endParaRPr lang="en-US" sz="18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91498743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Dataset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DTD, official split 1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17927717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Input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224x224 RGB crop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66223338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Classifier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ImageNet-pretrained ResNet18, 47 classes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60533959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Attack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FTrojan-style block-DCT, four positions, magnitude 150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40384462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Target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banded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45191323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Generator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771,238-parameter encoder-decoder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205836097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Generator input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Single-image 15-channel FFT evidence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81692500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Generator output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Gate plus bounded signed log-amplitude proposal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033684217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Phase policy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Preserve incoming phase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20258007"/>
                  </a:ext>
                </a:extLst>
              </a:tr>
              <a:tr h="4504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>
                          <a:effectLst/>
                        </a:rPr>
                        <a:t>Evaluation</a:t>
                      </a:r>
                      <a:endParaRPr lang="en-US" sz="18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effectLst/>
                        </a:rPr>
                        <a:t>1,840 non-target validation sources per position</a:t>
                      </a:r>
                      <a:endParaRPr lang="en-US" sz="18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10618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6454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A57BD-74C0-E541-1679-3E11BCF0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C861-CE39-1098-5F75-633427167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7.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30853-B0EF-B1C6-9507-08D1691F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47ED-4CFF-3A8E-9D81-5F54BBC0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364650-52AA-5CC2-33F6-68BC5FA3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413" y="449567"/>
            <a:ext cx="8697159" cy="64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964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93D2-FC02-1C0E-9A61-59A00817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041C6-C949-0956-74E8-C3448D75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7.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21B6F-ABF7-7CF2-274F-C691DC2D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6F9F3-34C8-535C-90CE-69567933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4B864-1793-0743-5C90-3FF4811EC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048" y="1156515"/>
            <a:ext cx="8421275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565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2A6F6-BF27-FD77-38CB-9B29D1EF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93FFB-3A24-3FF0-6239-E2D67CCD7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7. Results – Trigger vs Noise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795A7-09F5-08FB-5333-B27A4131F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44712-1A54-6A46-BA13-89FA1F62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C92DD-1481-5496-2328-6B9885C0A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20" y="1271801"/>
            <a:ext cx="10150360" cy="539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132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66EF0-CED3-8F3F-8284-07564FD0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8798-E8B1-AB18-101F-E4528E73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17" y="472154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7. Results – Trigger Vs Noise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439A-D322-E4E8-7E67-0FA55055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0658" y="6326854"/>
            <a:ext cx="2743200" cy="365125"/>
          </a:xfrm>
        </p:spPr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2B4B2-CF08-97F5-1430-1090EF6E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058" y="6368419"/>
            <a:ext cx="4114800" cy="365125"/>
          </a:xfrm>
        </p:spPr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CD4561-A837-7DBD-13CC-3732D4E80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17" y="1126034"/>
            <a:ext cx="4564670" cy="35314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707202-5823-9C53-74F4-3E4D0C784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054" y="1126031"/>
            <a:ext cx="4564672" cy="3531407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A603A04-5452-CAD8-8663-B24CD0EC7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046828"/>
              </p:ext>
            </p:extLst>
          </p:nvPr>
        </p:nvGraphicFramePr>
        <p:xfrm>
          <a:off x="835742" y="4714696"/>
          <a:ext cx="10515600" cy="2034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54677">
                  <a:extLst>
                    <a:ext uri="{9D8B030D-6E8A-4147-A177-3AD203B41FA5}">
                      <a16:colId xmlns:a16="http://schemas.microsoft.com/office/drawing/2014/main" val="2578389695"/>
                    </a:ext>
                  </a:extLst>
                </a:gridCol>
                <a:gridCol w="3008671">
                  <a:extLst>
                    <a:ext uri="{9D8B030D-6E8A-4147-A177-3AD203B41FA5}">
                      <a16:colId xmlns:a16="http://schemas.microsoft.com/office/drawing/2014/main" val="918749250"/>
                    </a:ext>
                  </a:extLst>
                </a:gridCol>
                <a:gridCol w="2652252">
                  <a:extLst>
                    <a:ext uri="{9D8B030D-6E8A-4147-A177-3AD203B41FA5}">
                      <a16:colId xmlns:a16="http://schemas.microsoft.com/office/drawing/2014/main" val="3119291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Condition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Corrected ASR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effectLst/>
                        </a:rPr>
                        <a:t>Corrected accuracy</a:t>
                      </a:r>
                      <a:endParaRPr lang="en-US" sz="1600" b="1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16601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Trigger only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7.64%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60.29%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39566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+20 dB, trigger much stronger than noise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7.85%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60.19%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365163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+10 dB, trigger stronger than noise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10.04%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58.93%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087508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0 dB, equal RMS power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45.11%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35.52%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24620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-10 dB, noise stronger than trigger</a:t>
                      </a:r>
                      <a:endParaRPr lang="en-US" sz="1600" b="0" i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95.05%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3.48%</a:t>
                      </a:r>
                      <a:endParaRPr lang="en-US" sz="1600" b="0" i="0" dirty="0">
                        <a:solidFill>
                          <a:srgbClr val="D4D4D4"/>
                        </a:solidFill>
                        <a:effectLst/>
                        <a:latin typeface="-apple-system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6502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6219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CABB-2F5E-CB50-31FB-97D5E9F9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5438-B34E-5F48-67D1-980DA0243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17" y="472154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8. Demo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D36D5-4458-7F69-2DB2-B7568779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0658" y="6326854"/>
            <a:ext cx="2743200" cy="365125"/>
          </a:xfrm>
        </p:spPr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0888A-8810-9F58-D8E5-E0A4FC1E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058" y="6368419"/>
            <a:ext cx="4114800" cy="365125"/>
          </a:xfrm>
        </p:spPr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pic>
        <p:nvPicPr>
          <p:cNvPr id="3" name="Recording 2026-10-08 110646">
            <a:hlinkClick r:id="" action="ppaction://media"/>
            <a:extLst>
              <a:ext uri="{FF2B5EF4-FFF2-40B4-BE49-F238E27FC236}">
                <a16:creationId xmlns:a16="http://schemas.microsoft.com/office/drawing/2014/main" id="{7B3036E2-10E3-3A77-05F6-97234E7D57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8619" y="1157865"/>
            <a:ext cx="11580925" cy="553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10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63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5165-5842-BB00-54DC-B1F7BD5F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ABDAD-6C36-AEEA-89B6-3254A65C1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9. SDG Mapping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9DFF3-E92D-C527-7899-64CC7157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F746E-77B7-2E44-95CF-465454033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02B8B-10B0-EEBF-F751-FA1614778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45" y="1271801"/>
            <a:ext cx="10619509" cy="492925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b="1" dirty="0"/>
              <a:t>Potential application relevance: SDG 3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3600" b="1" dirty="0"/>
              <a:t>Good Health and Well-being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Medical imaging is a future application area where model backdoors could create serious risks. The current presentation does not claim completed medical validation; SDG 3 is presented as an application motivation and future direction.</a:t>
            </a:r>
          </a:p>
          <a:p>
            <a:pPr marL="0" indent="0" algn="just">
              <a:buNone/>
            </a:pPr>
            <a:r>
              <a:rPr lang="en-US" b="1" dirty="0"/>
              <a:t>Primary mapping: SDG 9</a:t>
            </a:r>
          </a:p>
          <a:p>
            <a:pPr marL="0" indent="0" algn="just">
              <a:buNone/>
            </a:pPr>
            <a:r>
              <a:rPr lang="en-US" sz="3200" b="1" dirty="0"/>
              <a:t>Industry, Innovation and Infrastructure</a:t>
            </a:r>
            <a:endParaRPr lang="en-US" sz="3200" dirty="0"/>
          </a:p>
          <a:p>
            <a:pPr marL="0" indent="0" algn="just">
              <a:buNone/>
            </a:pPr>
            <a:r>
              <a:rPr lang="en-US" sz="2000" dirty="0"/>
              <a:t>The project develops a security-oriented machine-learning method intended to make AI systems more reliable and trustworthy, particularly when models may be trained using externally supplied or compromised data.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16202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F897-88F0-58FD-C2ED-8E2D4EF7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9988-9FB0-F89A-E16C-9EAAFE12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10. Domain Expertise Course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A8661-840A-FB21-5630-48EB08156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85EB0-2EC3-32BC-CC1A-776E39CC7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388DB-A53B-EBA8-E5AB-DF585B93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45" y="1271801"/>
            <a:ext cx="4756139" cy="4929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Safety and Responsibility AI</a:t>
            </a:r>
          </a:p>
          <a:p>
            <a:r>
              <a:rPr lang="en-US" dirty="0"/>
              <a:t>Explains about Trigger and Backdoor attacks in ML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79FCFF-FE6B-CC7B-FA03-1FE0CE24D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68658"/>
            <a:ext cx="4648849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489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FB53-D576-F258-37EB-10FF2035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798D-EA45-9888-5DA3-06F7F3BA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11. Technical Enrichment Activities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ABFC9-9031-F818-BDC4-189444D6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02295-E5C6-B9D0-56E4-BF33119C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758A358-CBC6-36E9-E54A-6AB88C5BEE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415517"/>
              </p:ext>
            </p:extLst>
          </p:nvPr>
        </p:nvGraphicFramePr>
        <p:xfrm>
          <a:off x="678024" y="1265838"/>
          <a:ext cx="10868517" cy="5054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96238">
                  <a:extLst>
                    <a:ext uri="{9D8B030D-6E8A-4147-A177-3AD203B41FA5}">
                      <a16:colId xmlns:a16="http://schemas.microsoft.com/office/drawing/2014/main" val="329262448"/>
                    </a:ext>
                  </a:extLst>
                </a:gridCol>
                <a:gridCol w="3425329">
                  <a:extLst>
                    <a:ext uri="{9D8B030D-6E8A-4147-A177-3AD203B41FA5}">
                      <a16:colId xmlns:a16="http://schemas.microsoft.com/office/drawing/2014/main" val="3077305106"/>
                    </a:ext>
                  </a:extLst>
                </a:gridCol>
                <a:gridCol w="4646950">
                  <a:extLst>
                    <a:ext uri="{9D8B030D-6E8A-4147-A177-3AD203B41FA5}">
                      <a16:colId xmlns:a16="http://schemas.microsoft.com/office/drawing/2014/main" val="1815974248"/>
                    </a:ext>
                  </a:extLst>
                </a:gridCol>
              </a:tblGrid>
              <a:tr h="341242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</a:rPr>
                        <a:t>Deliverable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</a:rPr>
                        <a:t>Description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</a:rPr>
                        <a:t>Expected deliverables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217315"/>
                  </a:ext>
                </a:extLst>
              </a:tr>
              <a:tr h="139671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</a:rPr>
                        <a:t>Submission-ready Research Paper Draft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</a:rPr>
                        <a:t>Prepare a complete research paper in IEEE, Elsevier, Springer, ACM, or any other appropriate conference/journal format based on the project work.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</a:rPr>
                        <a:t>Complete manuscript; Figures and tables; References; Similarity report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3348991"/>
                  </a:ext>
                </a:extLst>
              </a:tr>
              <a:tr h="139671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Open-source Technical Repository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Maintain a professional GitHub repository containing reusable project resources. 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Source code; Well-structured project organization; README; Installation guide; Documentation; Regular commits with version history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1671711"/>
                  </a:ext>
                </a:extLst>
              </a:tr>
              <a:tr h="1396714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Working demonstration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Develop a working end-to-end prototype that demonstrates the core functionality of the project and validates key performance outcomes. </a:t>
                      </a:r>
                      <a:endParaRPr lang="en-US" sz="20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Demonstrate a working model of the project - hardware or deployed software. Also, submit a run-based demo: short video + instructions + the commands/script that regenerates the metrics and sample outputs (with model/config versions). </a:t>
                      </a:r>
                      <a:endParaRPr lang="en-US" sz="20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  <a:p>
                      <a:pPr marL="0" marR="0" algn="just"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5839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202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ACAF3-4DFD-DAF9-CF65-FEB3573E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A4A5F-D2DB-8C65-0550-88C384BE0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01650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12. 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9D0BA-AE72-D349-A6B7-D294AAA5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5BAB3-0BBB-75BB-629F-D7B08E15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55E66-D37E-2414-03A2-3465677C5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59" y="1328665"/>
            <a:ext cx="10619509" cy="492925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Advanced method:</a:t>
            </a:r>
            <a:r>
              <a:rPr lang="en-US" dirty="0"/>
              <a:t> One-image, reference-free selective log-amplitude correction with phase-preserving reconstruction.</a:t>
            </a:r>
          </a:p>
          <a:p>
            <a:pPr lvl="0"/>
            <a:r>
              <a:rPr lang="en-US" b="1" dirty="0"/>
              <a:t>Main result:</a:t>
            </a:r>
            <a:r>
              <a:rPr lang="en-US" dirty="0"/>
              <a:t> Four-position mean ASR reduced from </a:t>
            </a:r>
            <a:r>
              <a:rPr lang="en-US" b="1" dirty="0"/>
              <a:t>99.48% to 7.64%</a:t>
            </a:r>
            <a:r>
              <a:rPr lang="en-US" dirty="0"/>
              <a:t>, with </a:t>
            </a:r>
            <a:r>
              <a:rPr lang="en-US" b="1" dirty="0"/>
              <a:t>60.29%</a:t>
            </a:r>
            <a:r>
              <a:rPr lang="en-US" dirty="0"/>
              <a:t> corrected accuracy versus approximately </a:t>
            </a:r>
            <a:r>
              <a:rPr lang="en-US" b="1" dirty="0"/>
              <a:t>61.44%</a:t>
            </a:r>
            <a:r>
              <a:rPr lang="en-US" dirty="0"/>
              <a:t> clean accuracy.</a:t>
            </a:r>
          </a:p>
          <a:p>
            <a:pPr lvl="0"/>
            <a:r>
              <a:rPr lang="en-US" b="1" dirty="0"/>
              <a:t>Evidence quality:</a:t>
            </a:r>
            <a:r>
              <a:rPr lang="en-US" dirty="0"/>
              <a:t> Causal support tests, static/broad baselines, held-out active positions, benign corruptions, and TNR stress testing.</a:t>
            </a:r>
          </a:p>
          <a:p>
            <a:pPr lvl="0"/>
            <a:r>
              <a:rPr lang="en-US" b="1" dirty="0"/>
              <a:t>Boundary:</a:t>
            </a:r>
            <a:r>
              <a:rPr lang="en-US" dirty="0"/>
              <a:t> Demonstrated on DTD and within one calibrated attack family; cross-family, adaptive, locked-test, and multi-seed evidence remain Phase 3.</a:t>
            </a:r>
          </a:p>
        </p:txBody>
      </p:sp>
    </p:spTree>
    <p:extLst>
      <p:ext uri="{BB962C8B-B14F-4D97-AF65-F5344CB8AC3E}">
        <p14:creationId xmlns:p14="http://schemas.microsoft.com/office/powerpoint/2010/main" val="1609794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F1DB-41BA-D1C1-6597-36580D48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236A-7FAE-5CA3-6CF5-E804CEEE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459" y="582849"/>
            <a:ext cx="11259670" cy="770151"/>
          </a:xfrm>
        </p:spPr>
        <p:txBody>
          <a:bodyPr>
            <a:normAutofit/>
          </a:bodyPr>
          <a:lstStyle/>
          <a:p>
            <a:r>
              <a:rPr lang="en-US" b="1" dirty="0"/>
              <a:t>13. 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1C93F-EB92-FD49-B37C-66472E99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F7C42-E17F-49EA-B3CD-B4C3CDBA196D}" type="datetime1">
              <a:rPr lang="en-IN" smtClean="0"/>
              <a:pPr/>
              <a:t>08-10-2026</a:t>
            </a:fld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09D0-2646-B865-A2BE-D21CED118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Amrita School of Computing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1F3C2-FFA6-82B5-464D-48BCBC1A2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245" y="1427093"/>
            <a:ext cx="10619509" cy="4929257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Gu, Tianyu, Brendan Dolan-Gavitt, and Siddharth Garg. "</a:t>
            </a:r>
            <a:r>
              <a:rPr lang="en-US" dirty="0" err="1"/>
              <a:t>Badnets</a:t>
            </a:r>
            <a:r>
              <a:rPr lang="en-US" dirty="0"/>
              <a:t>: Identifying vulnerabilities in the machine learning model supply chain." </a:t>
            </a:r>
            <a:r>
              <a:rPr lang="en-US" i="1" dirty="0" err="1"/>
              <a:t>arXiv</a:t>
            </a:r>
            <a:r>
              <a:rPr lang="en-US" i="1" dirty="0"/>
              <a:t> preprint arXiv:1708.06733</a:t>
            </a:r>
            <a:r>
              <a:rPr lang="en-US" dirty="0"/>
              <a:t> (2017).</a:t>
            </a:r>
          </a:p>
          <a:p>
            <a:pPr algn="just"/>
            <a:r>
              <a:rPr lang="en-US" dirty="0"/>
              <a:t>Zhang, Ping, </a:t>
            </a:r>
            <a:r>
              <a:rPr lang="en-US" dirty="0" err="1"/>
              <a:t>Hongyuan</a:t>
            </a:r>
            <a:r>
              <a:rPr lang="en-US" dirty="0"/>
              <a:t> Yue, and Chau Yuen. "Backdoor Defense Strategy for Image Classification Tasks based on Frequency Domain Perturbation." </a:t>
            </a:r>
            <a:r>
              <a:rPr lang="en-US" i="1" dirty="0"/>
              <a:t>IEEE Internet of Things Journal</a:t>
            </a:r>
            <a:r>
              <a:rPr lang="en-US" dirty="0"/>
              <a:t> (2026).</a:t>
            </a:r>
            <a:endParaRPr lang="en-US" sz="1700" dirty="0"/>
          </a:p>
          <a:p>
            <a:pPr algn="just"/>
            <a:r>
              <a:rPr lang="en-US" dirty="0"/>
              <a:t>Feng, Yu, </a:t>
            </a:r>
            <a:r>
              <a:rPr lang="en-US" dirty="0" err="1"/>
              <a:t>Benteng</a:t>
            </a:r>
            <a:r>
              <a:rPr lang="en-US" dirty="0"/>
              <a:t> Ma, Jing Zhang, Shanshan Zhao, Yong Xia, and </a:t>
            </a:r>
            <a:r>
              <a:rPr lang="en-US" dirty="0" err="1"/>
              <a:t>Dacheng</a:t>
            </a:r>
            <a:r>
              <a:rPr lang="en-US" dirty="0"/>
              <a:t> Tao. "Fiba: Frequency-injection based backdoor attack in medical image analysis." In </a:t>
            </a:r>
            <a:r>
              <a:rPr lang="en-US" i="1" dirty="0"/>
              <a:t>2022 IEEE/CVF Conference on Computer Vision and Pattern Recognition (CVPR)</a:t>
            </a:r>
            <a:r>
              <a:rPr lang="en-US" dirty="0"/>
              <a:t>, pp. 20844-20853. IEEE, 2022.</a:t>
            </a:r>
            <a:endParaRPr lang="en-US" sz="1700" dirty="0"/>
          </a:p>
          <a:p>
            <a:pPr lvl="0" algn="just"/>
            <a:r>
              <a:rPr lang="en-US" dirty="0"/>
              <a:t>Lu, Run, </a:t>
            </a:r>
            <a:r>
              <a:rPr lang="en-US" dirty="0" err="1"/>
              <a:t>Peipeng</a:t>
            </a:r>
            <a:r>
              <a:rPr lang="en-US" dirty="0"/>
              <a:t> Yu, </a:t>
            </a:r>
            <a:r>
              <a:rPr lang="en-US" dirty="0" err="1"/>
              <a:t>Zhitao</a:t>
            </a:r>
            <a:r>
              <a:rPr lang="en-US" dirty="0"/>
              <a:t> Huang, Zhihua Xia, and Xiaoyan Jiang. "BAM: Backdoor defense based on adversarial mitigation." </a:t>
            </a:r>
            <a:r>
              <a:rPr lang="en-US" i="1" dirty="0"/>
              <a:t>Pattern Recognition</a:t>
            </a:r>
            <a:r>
              <a:rPr lang="en-US" dirty="0"/>
              <a:t> (2025): 112662. </a:t>
            </a:r>
          </a:p>
          <a:p>
            <a:pPr lvl="0" algn="just"/>
            <a:r>
              <a:rPr lang="en-US" dirty="0"/>
              <a:t>Fu, Kang, and Jianhua Dai. "Semantic-aware framework for backdoor detection in ai models." </a:t>
            </a:r>
            <a:r>
              <a:rPr lang="en-US" i="1" dirty="0"/>
              <a:t>International Journal on Semantic Web and Information Systems (IJSWIS)</a:t>
            </a:r>
            <a:r>
              <a:rPr lang="en-US" dirty="0"/>
              <a:t> 21, no. 1 (2025): 1-21.</a:t>
            </a:r>
            <a:endParaRPr lang="en-US" sz="1700" dirty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1020</TotalTime>
  <Words>1767</Words>
  <Application>Microsoft Office PowerPoint</Application>
  <PresentationFormat>Widescreen</PresentationFormat>
  <Paragraphs>278</Paragraphs>
  <Slides>26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-apple-system</vt:lpstr>
      <vt:lpstr>Aptos</vt:lpstr>
      <vt:lpstr>Arial</vt:lpstr>
      <vt:lpstr>Calibri</vt:lpstr>
      <vt:lpstr>Times New Roman</vt:lpstr>
      <vt:lpstr>Office Theme</vt:lpstr>
      <vt:lpstr>Reference-Free Selective Spectral Correction for Frequency-Domain Backdoor Mitigation</vt:lpstr>
      <vt:lpstr>Guide Approval Mail</vt:lpstr>
      <vt:lpstr>1. Introduction and Motivation</vt:lpstr>
      <vt:lpstr>2. Problem Statement</vt:lpstr>
      <vt:lpstr>3. Literature Survey and Research Gap</vt:lpstr>
      <vt:lpstr>3. Where the First Panel Left the Project</vt:lpstr>
      <vt:lpstr>2. Questions Raised After the First Panel</vt:lpstr>
      <vt:lpstr>4. Proposed Methodology </vt:lpstr>
      <vt:lpstr>4. Proposed Methodology </vt:lpstr>
      <vt:lpstr>4. Proposed Methodology </vt:lpstr>
      <vt:lpstr>4. Proposed Methodology </vt:lpstr>
      <vt:lpstr>PowerPoint Presentation</vt:lpstr>
      <vt:lpstr>4. Proposed Methodology </vt:lpstr>
      <vt:lpstr>5. Datasets</vt:lpstr>
      <vt:lpstr>6. Implementation, Partial Results and Discussions</vt:lpstr>
      <vt:lpstr>6. Implementation, Partial Results and Discussions</vt:lpstr>
      <vt:lpstr>7. Results</vt:lpstr>
      <vt:lpstr>7. Results</vt:lpstr>
      <vt:lpstr>7. Results – Trigger vs Noise</vt:lpstr>
      <vt:lpstr>7. Results – Trigger Vs Noise</vt:lpstr>
      <vt:lpstr>8. Demo</vt:lpstr>
      <vt:lpstr>9. SDG Mapping</vt:lpstr>
      <vt:lpstr>10. Domain Expertise Course</vt:lpstr>
      <vt:lpstr>11. Technical Enrichment Activities</vt:lpstr>
      <vt:lpstr>12. Conclusion</vt:lpstr>
      <vt:lpstr>13.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Leaf Disease Detection using XAI and Evolutionary Algorithms</dc:title>
  <dc:creator>shanmukhi sudireddy</dc:creator>
  <cp:lastModifiedBy>Varun Menon</cp:lastModifiedBy>
  <cp:revision>98</cp:revision>
  <dcterms:created xsi:type="dcterms:W3CDTF">2023-09-19T13:33:25Z</dcterms:created>
  <dcterms:modified xsi:type="dcterms:W3CDTF">2026-10-08T05:46:57Z</dcterms:modified>
</cp:coreProperties>
</file>